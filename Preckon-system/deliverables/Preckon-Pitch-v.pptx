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66" r:id="rId14"/>
    <p:sldId id="267" r:id="rId15"/>
    <p:sldId id="268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benefit  ($k)</c:v>
                </c:pt>
              </c:strCache>
            </c:strRef>
          </c:tx>
          <c:spPr>
            <a:ln w="31750">
              <a:solidFill>
                <a:srgbClr val="3EDCC2"/>
              </a:solidFill>
            </a:ln>
          </c:spPr>
          <c:marker>
            <c:symbol val="circle"/>
            <c:size val="6"/>
            <c:spPr>
              <a:solidFill>
                <a:srgbClr val="3EDCC2"/>
              </a:solidFill>
              <a:ln w="12700">
                <a:solidFill>
                  <a:srgbClr val="3EDCC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44</c:v>
                </c:pt>
                <c:pt idx="2">
                  <c:v>66</c:v>
                </c:pt>
                <c:pt idx="3">
                  <c:v>88</c:v>
                </c:pt>
                <c:pt idx="4">
                  <c:v>110</c:v>
                </c:pt>
                <c:pt idx="5">
                  <c:v>132</c:v>
                </c:pt>
                <c:pt idx="6">
                  <c:v>154</c:v>
                </c:pt>
                <c:pt idx="7">
                  <c:v>176</c:v>
                </c:pt>
                <c:pt idx="8">
                  <c:v>198</c:v>
                </c:pt>
                <c:pt idx="9">
                  <c:v>220</c:v>
                </c:pt>
                <c:pt idx="10">
                  <c:v>242</c:v>
                </c:pt>
                <c:pt idx="11">
                  <c:v>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DB-462D-B514-FFF17CE0FC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platform cost  ($k)</c:v>
                </c:pt>
              </c:strCache>
            </c:strRef>
          </c:tx>
          <c:spPr>
            <a:ln w="31750">
              <a:solidFill>
                <a:srgbClr val="E0A85A"/>
              </a:solidFill>
            </a:ln>
          </c:spPr>
          <c:marker>
            <c:symbol val="circle"/>
            <c:size val="6"/>
            <c:spPr>
              <a:solidFill>
                <a:srgbClr val="E0A85A"/>
              </a:solidFill>
              <a:ln w="12700">
                <a:solidFill>
                  <a:srgbClr val="E0A85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DB-462D-B514-FFF17CE0F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2A4C58"/>
            </a:solidFill>
          </a:ln>
        </c:spPr>
        <c:txPr>
          <a:bodyPr/>
          <a:lstStyle/>
          <a:p>
            <a:pPr>
              <a:defRPr sz="900">
                <a:solidFill>
                  <a:srgbClr val="7A939E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1B333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56E79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A8C0C8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7A939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42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Stand still. Say the line on the slide, then nothing for two seconds.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SAY  —  "Preckon. Every number knows where it came from. That's the whole product — I'll spend the next fifteen minutes proving it."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0:00–0:20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"Two to six weeks. One person who holds the method. A few hundred pages read by hand. And zero numbers you can trace back to the drawing they came off."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Four clicks. Land hard on the zero, then click once more for the line.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0:20–1:00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 — one per column. Do NOT read fifteen items aloud. The filled card in each column is the one to say out loud; let them read the rest.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SAY  —  "These are not our list. They came out of talking to construction clients, and every one of them is somebody's actual week."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THE THREE HIGHLIGHTED CARDS are the ones Preckon answers most directly — manual take-offs, slow tendering, and planning measured in months. They line up with the three highlighted advantages later.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Document and drawing version management challenges</a:t>
            </a:r>
          </a:p>
          <a:p>
            <a:r>
              <a:rPr sz="1200">
                <a:latin typeface="Segoe UI"/>
              </a:rPr>
              <a:t>2 Manual quantity take-offs (QTO) and BOQ preparation</a:t>
            </a:r>
          </a:p>
          <a:p>
            <a:r>
              <a:rPr sz="1200">
                <a:latin typeface="Segoe UI"/>
              </a:rPr>
              <a:t>3 Time-consuming cost estimation and tendering</a:t>
            </a:r>
          </a:p>
          <a:p>
            <a:r>
              <a:rPr sz="1200">
                <a:latin typeface="Segoe UI"/>
              </a:rPr>
              <a:t>4 Frequent design changes and rework</a:t>
            </a:r>
          </a:p>
          <a:p>
            <a:r>
              <a:rPr sz="1200">
                <a:latin typeface="Segoe UI"/>
              </a:rPr>
              <a:t>5 Change order management difficulties</a:t>
            </a:r>
          </a:p>
          <a:p>
            <a:r>
              <a:rPr sz="1200">
                <a:latin typeface="Segoe UI"/>
              </a:rPr>
              <a:t>6 Delayed procurement and supply chain disruptions</a:t>
            </a:r>
          </a:p>
          <a:p>
            <a:r>
              <a:rPr sz="1200">
                <a:latin typeface="Segoe UI"/>
              </a:rPr>
              <a:t>7 Material wastage and inventory issues</a:t>
            </a:r>
          </a:p>
          <a:p>
            <a:r>
              <a:rPr sz="1200">
                <a:latin typeface="Segoe UI"/>
              </a:rPr>
              <a:t>8 Poor coordination between architects, engineers, contractors and clients</a:t>
            </a:r>
          </a:p>
          <a:p>
            <a:r>
              <a:rPr sz="1200">
                <a:latin typeface="Segoe UI"/>
              </a:rPr>
              <a:t>9 Manual progress reporting and project tracking</a:t>
            </a:r>
          </a:p>
          <a:p>
            <a:r>
              <a:rPr sz="1200">
                <a:latin typeface="Segoe UI"/>
              </a:rPr>
              <a:t>10 Delayed decision-making due to fragmented data</a:t>
            </a:r>
          </a:p>
          <a:p>
            <a:r>
              <a:rPr sz="1200">
                <a:latin typeface="Segoe UI"/>
              </a:rPr>
              <a:t>11 Difficulty managing multiple projects simultaneously</a:t>
            </a:r>
          </a:p>
          <a:p>
            <a:r>
              <a:rPr sz="1200">
                <a:latin typeface="Segoe UI"/>
              </a:rPr>
              <a:t>12 Lack of data-driven insights for forecasting and risk management</a:t>
            </a:r>
          </a:p>
          <a:p>
            <a:r>
              <a:rPr sz="1200">
                <a:latin typeface="Segoe UI"/>
              </a:rPr>
              <a:t>13 Budget overruns and poor cost control</a:t>
            </a:r>
          </a:p>
          <a:p>
            <a:r>
              <a:rPr sz="1200">
                <a:latin typeface="Segoe UI"/>
              </a:rPr>
              <a:t>14 Project delays and schedule overruns</a:t>
            </a:r>
          </a:p>
          <a:p>
            <a:r>
              <a:rPr sz="1200">
                <a:latin typeface="Segoe UI"/>
              </a:rPr>
              <a:t>15 Planning time measured in months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NOTE ON ITEM 15: in the source list this was written as 'Reduced project planning time (months to days)', which is a benefit rather than a pain. It is flipped here to state the problem; the benefit form is advantage 13.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"Almost every tool owns one of these five. The joins between them are a person retyping into a spreadsheet — and that's where the trail dies."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per row. Preckon lands last, as one unbroken span.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"Eight stages, one record. The word that matters is chain, not suite. A suite is products that share a login."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Eight quick clicks — let it build left to right like a conveyor.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1:45–2:20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requirements pulled straight out of the package. Two-envelope submission. Sixty days left — read from the documents, not typed in."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"Every measurement names its element, its sheet and its grid reference. And it tells you how confident it is. Eighty-two per cent means check this one first."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"Look at the right-hand columns. Trace, and Accepted — by a person. Those two columns together are the entire product."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 hundred and four thousand priced. Fifteen thousand overhead. Four seven six six contingency. A hundred and twenty-three nine sixteen total — and every one opens up."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"AI proposals waiting for a human decision. That subtitle is a structural property, not a marketing line."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"Fifteen estimator-days becomes four. And the four that remain are review and judgement, not measuring."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FOUR DAYS IS DELIBERATELY CONSERVATIVE. Our own website says hours. Quote the conservative number in the room and let the pilot beat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2:20–3:00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clicks. Same rule — the filled card per column is the one you say; let them read the rest. The kicker line is the one to say slowly.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SAY  —  "Same three groupings as the pain slide, in the same order. Produce the numbers. Keep them true as things change. Then run the work off them."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THE THREE HIGHLIGHTED CARDS answer the three highlighted pains directly. If someone asks 'which of these actually matter', point at those and say the rest follow from them.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AI-powered QTO and BOQ generation — take-offs and BOQ from weeks to hours</a:t>
            </a:r>
          </a:p>
          <a:p>
            <a:r>
              <a:rPr sz="1200">
                <a:latin typeface="Segoe UI"/>
              </a:rPr>
              <a:t>2 Faster cost estimation and tendering — estimates and tender documents in days instead of weeks</a:t>
            </a:r>
          </a:p>
          <a:p>
            <a:r>
              <a:rPr sz="1200">
                <a:latin typeface="Segoe UI"/>
              </a:rPr>
              <a:t>3 Automated document and drawing management — single source of truth with version control</a:t>
            </a:r>
          </a:p>
          <a:p>
            <a:r>
              <a:rPr sz="1200">
                <a:latin typeface="Segoe UI"/>
              </a:rPr>
              <a:t>4 Smart design change management — instantly update quantities, costs and documentation when designs change</a:t>
            </a:r>
          </a:p>
          <a:p>
            <a:r>
              <a:rPr sz="1200">
                <a:latin typeface="Segoe UI"/>
              </a:rPr>
              <a:t>5 Integrated procurement and material management</a:t>
            </a:r>
          </a:p>
          <a:p>
            <a:r>
              <a:rPr sz="1200">
                <a:latin typeface="Segoe UI"/>
              </a:rPr>
              <a:t>6 Real-time project monitoring through live dashboards</a:t>
            </a:r>
          </a:p>
          <a:p>
            <a:r>
              <a:rPr sz="1200">
                <a:latin typeface="Segoe UI"/>
              </a:rPr>
              <a:t>7 Better cost and budget control — monitor budgets, detect variances</a:t>
            </a:r>
          </a:p>
          <a:p>
            <a:r>
              <a:rPr sz="1200">
                <a:latin typeface="Segoe UI"/>
              </a:rPr>
              <a:t>8 AI-driven forecasting and risk analysis — identify risks and cost impacts early</a:t>
            </a:r>
          </a:p>
          <a:p>
            <a:r>
              <a:rPr sz="1200">
                <a:latin typeface="Segoe UI"/>
              </a:rPr>
              <a:t>9 Centralized collaboration — architects, engineers, contractors, consultants and clients on one platform</a:t>
            </a:r>
          </a:p>
          <a:p>
            <a:r>
              <a:rPr sz="1200">
                <a:latin typeface="Segoe UI"/>
              </a:rPr>
              <a:t>10 Multi-project management from a unified workspace</a:t>
            </a:r>
          </a:p>
          <a:p>
            <a:r>
              <a:rPr sz="1200">
                <a:latin typeface="Segoe UI"/>
              </a:rPr>
              <a:t>11 Higher accuracy and reduced manual errors</a:t>
            </a:r>
          </a:p>
          <a:p>
            <a:r>
              <a:rPr sz="1200">
                <a:latin typeface="Segoe UI"/>
              </a:rPr>
              <a:t>12 End-to-end digital construction lifecycle, tender through delivery</a:t>
            </a:r>
          </a:p>
          <a:p>
            <a:r>
              <a:rPr sz="1200">
                <a:latin typeface="Segoe UI"/>
              </a:rPr>
              <a:t>13 Significant time savings — pre-construction and planning from months to days</a:t>
            </a:r>
          </a:p>
          <a:p>
            <a:r>
              <a:rPr sz="1200">
                <a:latin typeface="Segoe UI"/>
              </a:rPr>
              <a:t>14 Improved productivity and scalability at any project size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HONESTY CHECK before you present this slide. Items 5, 6 and 10 lean on parts of the platform that are not fully built: procurement stops at package grouping (RFQ, quotes and commitments are not started), and post-award cost control is not started. If someone asks whether all fourteen are live today, say which are roadmap. The build-state slide covers you — but only if you do not oversell here.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4:20–5:05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"I'm not going to show you a case study, because we don't have one yet and you'd see through it. Here's the arithmetic instead — put your own numbers in the left-hand box and the three levers on the right recalculate."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THE INPUTS ARE ILLUSTRATIVE. Edit them in PowerPoint before the meeting if you know the client's real figures — a deck showing THEIR numbers is worth ten showing ours.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Lever 3 is the one that lands with a commercial director. One avoided pricing error on one job pays for the platform several times over. Say it plainly.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3:00–4:00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"Effort saving alone covers a year of platform cost in under three months. And that line does not include a single extra bid won, or a single pricing error caught."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The chart is a real PowerPoint chart — right-click, Edit Data, and put the client's figures in during the meeting if they give them to you. That moment does more than the rest of the deck.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$60k platform cost is a placeholder. Set it to the real proposed number.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4:00–4:50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"Documents in. The assistant proposes. A person confirms. Only then is anything committed — and it lands on a hash-chained trail. The AI cannot get past step three. Not configured not to. Structurally cannot."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STRONGEST SLIDE FOR A RISK-AVERSE ROOM. Never cut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4:50–5:40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"Nothing gets switched off. We read what you already produce, and we emit events your systems can react to rather than poll for."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VOLUNTEER THE GAP: P6 import, calendars and baselines are specified but not built yet. The critical-path engine underneath them is real.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6:20–7:00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shapes, one codebase. And I'll be straight about maturity — the first two are proven in what's running today. The second two are supported by the architecture and have not been delivered to a customer yet."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Never imply a reference customer you do not have.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7:00–7:40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"Three things. Six weeks. One live tender. And the third one tells you how serious we are — we're not asking you to wait while we build single sign-on. We're asking you to close that list with us."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THE GOLDEN SET IS THE HIGHEST-LEVERAGE ASK. A design set paired with its final priced bill is the most valuable thing anyone can give us. Ask directly.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8:40–9:30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No animation here on purpose. Say the two lines slowly, then stop talking. Do not offer next steps. Let them ask the first question.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If the silence runs past ten seconds: 'What would you want to test first?' Nothing else.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9:30–10:00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eckon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03120"/>
            <a:ext cx="6035040" cy="1530536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658368" y="393192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C0C8"/>
                </a:solidFill>
                <a:latin typeface="Segoe UI"/>
              </a:rPr>
              <a:t>Every number knows where it came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080760"/>
            <a:ext cx="5029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 dirty="0">
                <a:solidFill>
                  <a:srgbClr val="7A939E"/>
                </a:solidFill>
                <a:latin typeface="Consolas"/>
              </a:rPr>
              <a:t>TECHSME </a:t>
            </a:r>
            <a:r>
              <a:rPr lang="en-US" sz="900" spc="130" dirty="0">
                <a:solidFill>
                  <a:srgbClr val="7A939E"/>
                </a:solidFill>
                <a:latin typeface="Consolas"/>
              </a:rPr>
              <a:t>· DUBAI </a:t>
            </a:r>
            <a:r>
              <a:rPr sz="900" b="0" i="0" spc="130" dirty="0">
                <a:solidFill>
                  <a:srgbClr val="7A939E"/>
                </a:solidFill>
                <a:latin typeface="Consolas"/>
              </a:rPr>
              <a:t>·  CANADA · US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5727" y="608076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TENDER, PRICED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2–6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weeks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2827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person holds the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100s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pages read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1747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F0837B"/>
                </a:solidFill>
                <a:latin typeface="Consolas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numbers you can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451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And the bid window does not move.</a:t>
            </a:r>
          </a:p>
        </p:txBody>
      </p:sp>
      <p:pic>
        <p:nvPicPr>
          <p:cNvPr id="28" name="Picture 2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THE INDUSTRY ACTUALLY COMPLAINS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87782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100" b="1" dirty="0">
                <a:solidFill>
                  <a:srgbClr val="E9F2F4"/>
                </a:solidFill>
                <a:latin typeface="Segoe UI"/>
              </a:rPr>
              <a:t>P</a:t>
            </a:r>
            <a:r>
              <a:rPr sz="3100" b="1" i="0" dirty="0">
                <a:solidFill>
                  <a:srgbClr val="E9F2F4"/>
                </a:solidFill>
                <a:latin typeface="Segoe UI"/>
              </a:rPr>
              <a:t>ain </a:t>
            </a:r>
            <a:r>
              <a:rPr lang="en-US" sz="3100" b="1" dirty="0">
                <a:solidFill>
                  <a:srgbClr val="E9F2F4"/>
                </a:solidFill>
                <a:latin typeface="Segoe UI"/>
              </a:rPr>
              <a:t>P</a:t>
            </a:r>
            <a:r>
              <a:rPr sz="3100" b="1" i="0" dirty="0">
                <a:solidFill>
                  <a:srgbClr val="E9F2F4"/>
                </a:solidFill>
                <a:latin typeface="Segoe UI"/>
              </a:rPr>
              <a:t>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0704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1" dirty="0">
                <a:solidFill>
                  <a:srgbClr val="A8C0C8"/>
                </a:solidFill>
                <a:latin typeface="Georgia"/>
              </a:rPr>
              <a:t>One cause — the chain breaks at every handover.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33689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INFORMATION &amp;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68954" cy="9525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8660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" y="235458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35458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Drawing and document 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2A2110"/>
          </a:solidFill>
          <a:ln w="12700">
            <a:solidFill>
              <a:srgbClr val="E0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3" y="30083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" y="3008376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Manual take-offs and BOQ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8660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" y="36621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" y="3662172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Design changes and rework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8660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3" y="431596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" y="4315968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Poor coordination between parties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64608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08660" y="4956048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3" y="496976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" y="4969764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Fragmented data, slow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1370" y="1847088"/>
            <a:ext cx="33689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COMMERCIAL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1370" y="2103120"/>
            <a:ext cx="3368954" cy="9525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11370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2A2110"/>
          </a:solidFill>
          <a:ln w="12700">
            <a:solidFill>
              <a:srgbClr val="E0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61662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5106" y="235458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5106" y="235458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Slow estimation and tendering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11370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61662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85106" y="30083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5106" y="3008376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Change orders hard to manage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1370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461662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85106" y="36621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5106" y="3662172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Budget overruns, weak cost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11370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61662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85106" y="431596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5106" y="4315968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No basis for forecast or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4372" y="1847088"/>
            <a:ext cx="33689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F0837B"/>
                </a:solidFill>
                <a:latin typeface="Consolas"/>
              </a:rPr>
              <a:t>DELIVERY &amp; OPERATIONS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64372" y="2103120"/>
            <a:ext cx="3368954" cy="9525"/>
          </a:xfrm>
          <a:prstGeom prst="rect">
            <a:avLst/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164372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214664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38108" y="235458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8108" y="235458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Procurement and supply delays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72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14664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38108" y="30083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8108" y="3008376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Material wastage and stock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64372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214664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38108" y="36621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8108" y="3662172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Manual progress reporting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4372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214664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38108" y="431596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8108" y="4315968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Many projects at once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64372" y="4864608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214664" y="4956048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38108" y="496976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8108" y="4969764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Schedule overruns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64372" y="551840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2C1715"/>
          </a:solidFill>
          <a:ln w="12700">
            <a:solidFill>
              <a:srgbClr val="F08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214664" y="560984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8108" y="562356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38108" y="562356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Planning measured in months</a:t>
            </a:r>
          </a:p>
        </p:txBody>
      </p:sp>
      <p:pic>
        <p:nvPicPr>
          <p:cNvPr id="207" name="Picture 206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FIVE STAGES · WHO OWNS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24328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61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TAKEOFF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9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BOQ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97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15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Takeoff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61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879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697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515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72491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Estimating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4328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061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9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697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515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PM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4328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061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879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697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515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078223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9F2F4"/>
                </a:solidFill>
                <a:latin typeface="Segoe UI"/>
              </a:rPr>
              <a:t>Preckon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4328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061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879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697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7515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52486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The cost is in the joins.</a:t>
            </a:r>
          </a:p>
        </p:txBody>
      </p:sp>
      <p:pic>
        <p:nvPicPr>
          <p:cNvPr id="88" name="Picture 8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RECORD, EIGHT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Tender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142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520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202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Drawings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79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456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568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Specs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0160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3934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934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BOQ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526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3300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300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8892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2666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2666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25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203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2032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Procurement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762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139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398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96511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Nothing is retyped between them.
Each stage reads what the last one confirmed.</a:t>
            </a:r>
          </a:p>
        </p:txBody>
      </p:sp>
      <p:pic>
        <p:nvPicPr>
          <p:cNvPr id="93" name="Picture 92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TENDERLOGIX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reads the tender.</a:t>
            </a:r>
          </a:p>
        </p:txBody>
      </p:sp>
      <p:pic>
        <p:nvPicPr>
          <p:cNvPr id="6" name="Picture 5" descr="t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27" y="1417320"/>
            <a:ext cx="6858000" cy="516736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DRAWLOGIX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3053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measures, and shows its working.</a:t>
            </a:r>
          </a:p>
        </p:txBody>
      </p:sp>
      <p:pic>
        <p:nvPicPr>
          <p:cNvPr id="6" name="Picture 5" descr="tak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27" y="2101693"/>
            <a:ext cx="6858000" cy="3715318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QUANTLOGIX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32867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Every line has a Trace button.</a:t>
            </a:r>
          </a:p>
        </p:txBody>
      </p:sp>
      <p:pic>
        <p:nvPicPr>
          <p:cNvPr id="6" name="Picture 5" descr="boq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87" y="1758438"/>
            <a:ext cx="6949440" cy="4282955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COSTLOGIX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The build-up, not just the total.</a:t>
            </a:r>
          </a:p>
        </p:txBody>
      </p:sp>
      <p:pic>
        <p:nvPicPr>
          <p:cNvPr id="6" name="Picture 5" descr="esti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087" y="1325880"/>
            <a:ext cx="6492240" cy="496921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PRECKON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Nothing here was committed by software.</a:t>
            </a:r>
          </a:p>
        </p:txBody>
      </p:sp>
      <p:pic>
        <p:nvPicPr>
          <p:cNvPr id="6" name="Picture 5" descr="review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87" y="1481328"/>
            <a:ext cx="6035040" cy="4769963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SAME BID, BOTH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ESTIMATOR DAYS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9F2F4"/>
                </a:solidFill>
                <a:latin typeface="Segoe UI"/>
              </a:rPr>
              <a:t>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97312" y="23042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0A85A"/>
                </a:solidFill>
                <a:latin typeface="Consolas"/>
              </a:rPr>
              <a:t>15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F2F4"/>
                </a:solidFill>
                <a:latin typeface="Segoe UI"/>
              </a:rPr>
              <a:t>With Preckon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322783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70048" y="3227832"/>
            <a:ext cx="2048256" cy="384048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8" y="3264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DCC2"/>
                </a:solidFill>
                <a:latin typeface="Consolas"/>
              </a:rPr>
              <a:t>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1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11 days back, on every bid.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The estimator stops measuring and starts judging — which is the part you were paying them for.</a:t>
            </a:r>
          </a:p>
        </p:txBody>
      </p:sp>
      <p:pic>
        <p:nvPicPr>
          <p:cNvPr id="36" name="Picture 3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CHANGES WHEN THE CHAIN IS JOINED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87782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100" b="1" dirty="0">
                <a:solidFill>
                  <a:srgbClr val="E9F2F4"/>
                </a:solidFill>
                <a:latin typeface="Segoe UI"/>
              </a:rPr>
              <a:t>A</a:t>
            </a:r>
            <a:r>
              <a:rPr sz="3100" b="1" i="0" dirty="0">
                <a:solidFill>
                  <a:srgbClr val="E9F2F4"/>
                </a:solidFill>
                <a:latin typeface="Segoe UI"/>
              </a:rPr>
              <a:t>dvantages.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3EDCC2"/>
                </a:solidFill>
                <a:latin typeface="Georgia"/>
              </a:rPr>
              <a:t>Weeks to hours. Months to days. And every number still names its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33689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PRODUCE THE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68954" cy="9525"/>
          </a:xfrm>
          <a:prstGeom prst="rect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C2F2D"/>
          </a:solidFill>
          <a:ln w="12700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8660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" y="235458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35458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AI take-off and BOQ — weeks to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3" y="30083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" y="3008376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Estimates and tenders in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8660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" y="36621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" y="3662172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Higher accuracy, fewer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8660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3" y="431596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" y="4315968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Planning: months to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370" y="1847088"/>
            <a:ext cx="33689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KEEP THEM 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1370" y="2103120"/>
            <a:ext cx="3368954" cy="9525"/>
          </a:xfrm>
          <a:prstGeom prst="rect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11370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61662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85106" y="235458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106" y="235458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One source of truth, versioned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1370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C2F2D"/>
          </a:solidFill>
          <a:ln w="12700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61662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5106" y="30083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5106" y="3008376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A design change updates everything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11370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61662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85106" y="36621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5106" y="3662172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Live budget and variance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1370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461662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85106" y="431596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5106" y="4315968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AI forecasting and risk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4372" y="1847088"/>
            <a:ext cx="33689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RUN THE 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64372" y="2103120"/>
            <a:ext cx="3368954" cy="9525"/>
          </a:xfrm>
          <a:prstGeom prst="rect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164372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214664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38108" y="235458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8108" y="235458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Integrated procurement and materials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64372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214664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38108" y="30083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8108" y="3008376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Real-time dashboards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72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14664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38108" y="36621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8108" y="3662172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One platform for every party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64372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214664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38108" y="431596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8108" y="4315968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Multi-project workspace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4372" y="4864608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C2F2D"/>
          </a:solidFill>
          <a:ln w="12700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214664" y="4956048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38108" y="496976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8108" y="4969764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End-to-end digital lifecycle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64372" y="551840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214664" y="560984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38108" y="562356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8108" y="5623560"/>
            <a:ext cx="305805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Productivity and scale</a:t>
            </a:r>
          </a:p>
        </p:txBody>
      </p:sp>
      <p:pic>
        <p:nvPicPr>
          <p:cNvPr id="195" name="Picture 194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THE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Put your own numbers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3931920" cy="2670048"/>
          </a:xfrm>
          <a:prstGeom prst="roundRect">
            <a:avLst>
              <a:gd name="adj" fmla="val 4500"/>
            </a:avLst>
          </a:prstGeom>
          <a:solidFill>
            <a:srgbClr val="0B1D25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89864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A85A"/>
                </a:solidFill>
                <a:latin typeface="Consolas"/>
              </a:rPr>
              <a:t>INPUTS — REPLACE WITH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3317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Bids per year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Estimator days per bid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Cost per estimator-day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Average contract value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3246120"/>
            <a:ext cx="124358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40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15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$600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$8M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697480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6048" y="28803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$264k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43784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saved a year in estimating effort
440 estimator-days returned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6791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730752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391363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+10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77056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more bids a year with the same team
≈ 2 extra wins at a 20%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71246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64024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56048" y="494690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10328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one 1% pricing error avoided on one $8M job
is worth more than the licence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74573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3</a:t>
            </a:r>
          </a:p>
        </p:txBody>
      </p:sp>
      <p:pic>
        <p:nvPicPr>
          <p:cNvPr id="56" name="Picture 5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PAYBACK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67612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9F2F4"/>
                </a:solidFill>
                <a:latin typeface="Segoe UI"/>
              </a:rPr>
              <a:t>Under three months.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17720" y="1696212"/>
          <a:ext cx="6903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2793492"/>
            <a:ext cx="39319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4800" b="0" i="0">
                <a:solidFill>
                  <a:srgbClr val="3EDCC2"/>
                </a:solidFill>
                <a:latin typeface="Consolas"/>
              </a:rPr>
              <a:t>2.7</a:t>
            </a:r>
            <a:r>
              <a:rPr sz="1500" b="0" i="0">
                <a:solidFill>
                  <a:srgbClr val="7A939E"/>
                </a:solidFill>
                <a:latin typeface="Segoe UI"/>
              </a:rPr>
              <a:t> months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A8C0C8"/>
                </a:solidFill>
                <a:latin typeface="Segoe UI"/>
              </a:rPr>
              <a:t>to cover a year of platform cost from estimating effort alone.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939E"/>
                </a:solidFill>
                <a:latin typeface="Segoe UI"/>
              </a:rPr>
              <a:t>Levers 2 and 3 are not in this chart. Neither is a single won bid.</a:t>
            </a:r>
          </a:p>
        </p:txBody>
      </p:sp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HOW A NUMBER BECOMES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Documents
&amp; drawings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9273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10169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9897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assistant
proposes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1074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61970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1698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A person
confirms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02876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13772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3500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record
is committed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677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65573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75301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Hash-chained
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1970" y="3401568"/>
            <a:ext cx="1867753" cy="475488"/>
          </a:xfrm>
          <a:prstGeom prst="roundRect">
            <a:avLst>
              <a:gd name="adj" fmla="val 14000"/>
            </a:avLst>
          </a:prstGeom>
          <a:solidFill>
            <a:srgbClr val="2C1715"/>
          </a:solidFill>
          <a:ln w="9525">
            <a:solidFill>
              <a:srgbClr val="F08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1970" y="3511296"/>
            <a:ext cx="18677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37B"/>
                </a:solidFill>
                <a:latin typeface="Consolas"/>
              </a:rPr>
              <a:t>AI CANNOT PASS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26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The assistant has four calls. None of them writes a business record.</a:t>
            </a:r>
          </a:p>
        </p:txBody>
      </p:sp>
      <p:pic>
        <p:nvPicPr>
          <p:cNvPr id="68" name="Picture 6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IT FITS WHAT YOU ALREADY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4096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74319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DWG · DXF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IFC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54096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8770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Excel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54096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4439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P6 XER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010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ERP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54096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794760" y="2313432"/>
            <a:ext cx="4572000" cy="3246120"/>
          </a:xfrm>
          <a:prstGeom prst="roundRect">
            <a:avLst>
              <a:gd name="adj" fmla="val 5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2724912"/>
            <a:ext cx="41148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000" b="1" i="0" dirty="0" err="1">
                <a:solidFill>
                  <a:srgbClr val="E9F2F4"/>
                </a:solidFill>
                <a:latin typeface="Segoe UI"/>
              </a:rPr>
              <a:t>Preckon</a:t>
            </a:r>
            <a:endParaRPr sz="3000" b="1" i="0" dirty="0">
              <a:solidFill>
                <a:srgbClr val="E9F2F4"/>
              </a:solidFill>
              <a:latin typeface="Segoe UI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A8C0C8"/>
                </a:solidFill>
                <a:latin typeface="Segoe UI"/>
              </a:rPr>
              <a:t>90 typed API routes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A8C0C8"/>
                </a:solidFill>
                <a:latin typeface="Segoe UI"/>
              </a:rPr>
              <a:t>Domain events, not polling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A8C0C8"/>
                </a:solidFill>
                <a:latin typeface="Segoe UI"/>
              </a:rPr>
              <a:t>Read once · content-hashed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A8C0C8"/>
                </a:solidFill>
                <a:latin typeface="Segoe UI"/>
              </a:rPr>
              <a:t>Connector SDK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2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62872" y="21762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BOQ export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58200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262872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62872" y="274319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58200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62872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33101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58200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62872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62872" y="38770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Packages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58200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262872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2872" y="44439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Audit trail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58200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262872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62872" y="5010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Webhooks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458200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181051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181051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OUT</a:t>
            </a:r>
          </a:p>
        </p:txBody>
      </p:sp>
      <p:pic>
        <p:nvPicPr>
          <p:cNvPr id="123" name="Picture 122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WHERE IT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SaaS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Multi-tenant, managed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1115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42283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Dedicated cloud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Your region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5031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Private AI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Inference in your boundary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611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07779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Sovereign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On-premise, models included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0799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One codebase. The deployment shape is configuration, not a fork.</a:t>
            </a:r>
          </a:p>
        </p:txBody>
      </p:sp>
      <p:pic>
        <p:nvPicPr>
          <p:cNvPr id="40" name="Picture 39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81912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9F2F4"/>
                </a:solidFill>
                <a:latin typeface="Segoe UI"/>
              </a:rPr>
              <a:t>One bid. Six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3364992"/>
            <a:ext cx="301538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01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live tender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project, one team, measured against a bid you have already priced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8154" y="3364992"/>
            <a:ext cx="301538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02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golden set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design set with its final priced bill — we test against it, in front of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902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8484" y="3364992"/>
            <a:ext cx="301538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03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security counterpart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Someone who closes the gap list with us in the same six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3095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Not asking for: a migration, anything switched off, or a decision today.</a:t>
            </a:r>
          </a:p>
        </p:txBody>
      </p:sp>
      <p:pic>
        <p:nvPicPr>
          <p:cNvPr id="32" name="Picture 31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1460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9F2F4"/>
                </a:solidFill>
                <a:latin typeface="Segoe UI"/>
              </a:rPr>
              <a:t>Every number can name
where it came from.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3EDCC2"/>
                </a:solidFill>
                <a:latin typeface="Georgia"/>
              </a:rPr>
              <a:t>That is the whole product. The rest is speed.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1264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  <p:pic>
        <p:nvPicPr>
          <p:cNvPr id="7" name="Picture 6" descr="preckon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487" y="6016752"/>
            <a:ext cx="2148840" cy="54496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2479</Words>
  <Application>Microsoft Office PowerPoint</Application>
  <PresentationFormat>Widescreen</PresentationFormat>
  <Paragraphs>346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IKIO</cp:lastModifiedBy>
  <cp:revision>3</cp:revision>
  <dcterms:created xsi:type="dcterms:W3CDTF">2013-01-27T09:14:16Z</dcterms:created>
  <dcterms:modified xsi:type="dcterms:W3CDTF">2026-08-24T18:56:43Z</dcterms:modified>
  <cp:category/>
</cp:coreProperties>
</file>