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benefit  ($k)</c:v>
                </c:pt>
              </c:strCache>
            </c:strRef>
          </c:tx>
          <c:spPr>
            <a:ln w="31750">
              <a:solidFill>
                <a:srgbClr val="3EDCC2"/>
              </a:solidFill>
            </a:ln>
          </c:spPr>
          <c:marker>
            <c:symbol val="circle"/>
            <c:size val="6"/>
            <c:spPr>
              <a:solidFill>
                <a:srgbClr val="3EDCC2"/>
              </a:solidFill>
              <a:ln w="12700">
                <a:solidFill>
                  <a:srgbClr val="3EDCC2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22</c:v>
                </c:pt>
                <c:pt idx="1">
                  <c:v>44</c:v>
                </c:pt>
                <c:pt idx="2">
                  <c:v>66</c:v>
                </c:pt>
                <c:pt idx="3">
                  <c:v>88</c:v>
                </c:pt>
                <c:pt idx="4">
                  <c:v>110</c:v>
                </c:pt>
                <c:pt idx="5">
                  <c:v>132</c:v>
                </c:pt>
                <c:pt idx="6">
                  <c:v>154</c:v>
                </c:pt>
                <c:pt idx="7">
                  <c:v>176</c:v>
                </c:pt>
                <c:pt idx="8">
                  <c:v>198</c:v>
                </c:pt>
                <c:pt idx="9">
                  <c:v>220</c:v>
                </c:pt>
                <c:pt idx="10">
                  <c:v>242</c:v>
                </c:pt>
                <c:pt idx="11">
                  <c:v>264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Annual platform cost  ($k)</c:v>
                </c:pt>
              </c:strCache>
            </c:strRef>
          </c:tx>
          <c:spPr>
            <a:ln w="31750">
              <a:solidFill>
                <a:srgbClr val="E0A85A"/>
              </a:solidFill>
            </a:ln>
          </c:spPr>
          <c:marker>
            <c:symbol val="circle"/>
            <c:size val="6"/>
            <c:spPr>
              <a:solidFill>
                <a:srgbClr val="E0A85A"/>
              </a:solidFill>
              <a:ln w="12700">
                <a:solidFill>
                  <a:srgbClr val="E0A85A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60</c:v>
                </c:pt>
                <c:pt idx="1">
                  <c:v>60</c:v>
                </c:pt>
                <c:pt idx="2">
                  <c:v>60</c:v>
                </c:pt>
                <c:pt idx="3">
                  <c:v>60</c:v>
                </c:pt>
                <c:pt idx="4">
                  <c:v>60</c:v>
                </c:pt>
                <c:pt idx="5">
                  <c:v>60</c:v>
                </c:pt>
                <c:pt idx="6">
                  <c:v>60</c:v>
                </c:pt>
                <c:pt idx="7">
                  <c:v>60</c:v>
                </c:pt>
                <c:pt idx="8">
                  <c:v>60</c:v>
                </c:pt>
                <c:pt idx="9">
                  <c:v>60</c:v>
                </c:pt>
                <c:pt idx="10">
                  <c:v>60</c:v>
                </c:pt>
                <c:pt idx="11">
                  <c:v>60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2A4C58"/>
            </a:solidFill>
          </a:ln>
        </c:spPr>
        <c:txPr>
          <a:bodyPr/>
          <a:lstStyle/>
          <a:p>
            <a:pPr>
              <a:defRPr sz="900">
                <a:solidFill>
                  <a:srgbClr val="7A939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1B333D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56E79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>
              <a:solidFill>
                <a:srgbClr val="A8C0C8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7A939E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DO  —  Stand still. Say the line on the slide, then nothing for two seconds.</a:t>
            </a:r>
          </a:p>
          <a:p/>
          <a:p>
            <a:r>
              <a:rPr sz="1200">
                <a:latin typeface="Segoe UI"/>
              </a:rPr>
              <a:t>SAY  —  "Preckon. Every number knows where it came from. That's the whole product — I'll spend the next fifteen minutes proving it."</a:t>
            </a:r>
          </a:p>
          <a:p/>
          <a:p>
            <a:r>
              <a:rPr sz="1200">
                <a:latin typeface="Segoe UI"/>
              </a:rPr>
              <a:t>TIME 0:00–0:20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"Two to six weeks. One person who holds the method. A few hundred pages read by hand. And zero numbers you can trace back to the drawing they came off."</a:t>
            </a:r>
          </a:p>
          <a:p/>
          <a:p>
            <a:r>
              <a:rPr sz="1200">
                <a:latin typeface="Segoe UI"/>
              </a:rPr>
              <a:t>DO  —  Four clicks. Land hard on the zero, then click once more for the line.</a:t>
            </a:r>
          </a:p>
          <a:p/>
          <a:p>
            <a:r>
              <a:rPr sz="1200">
                <a:latin typeface="Segoe UI"/>
              </a:rPr>
              <a:t>TIME 0:20–1:00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"Almost every tool owns one of these five. The joins between them are a person retyping into a spreadsheet — and that's where the trail dies."</a:t>
            </a:r>
          </a:p>
          <a:p/>
          <a:p>
            <a:r>
              <a:rPr sz="1200">
                <a:latin typeface="Segoe UI"/>
              </a:rPr>
              <a:t>DO  —  One click per row. Preckon lands last, as one unbroken span.</a:t>
            </a:r>
          </a:p>
          <a:p/>
          <a:p>
            <a:r>
              <a:rPr sz="1200">
                <a:latin typeface="Segoe UI"/>
              </a:rPr>
              <a:t>TIME 1:00–1:45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"Eight stages, one record. The word that matters is chain, not suite. A suite is products that share a login."</a:t>
            </a:r>
          </a:p>
          <a:p/>
          <a:p>
            <a:r>
              <a:rPr sz="1200">
                <a:latin typeface="Segoe UI"/>
              </a:rPr>
              <a:t>DO  —  Eight quick clicks — let it build left to right like a conveyor.</a:t>
            </a:r>
          </a:p>
          <a:p/>
          <a:p>
            <a:r>
              <a:rPr sz="1200">
                <a:latin typeface="Segoe UI"/>
              </a:rPr>
              <a:t>TIME 1:45–2:20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"Four requirements pulled straight out of the package. Two-envelope submission. Sixty days left — read from the documents, not typed in."</a:t>
            </a:r>
          </a:p>
          <a:p/>
          <a:p>
            <a:r>
              <a:rPr sz="1200">
                <a:latin typeface="Segoe UI"/>
              </a:rPr>
              <a:t>DO  —  One click brings the screen up, one brings the line. Then be quiet and let them read it.</a:t>
            </a:r>
          </a:p>
          <a:p/>
          <a:p>
            <a:r>
              <a:rPr sz="1200">
                <a:latin typeface="Segoe UI"/>
              </a:rPr>
              <a:t>Cut this slide if you are demoing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"Every measurement names its element, its sheet and its grid reference. And it tells you how confident it is. Eighty-two per cent means check this one first."</a:t>
            </a:r>
          </a:p>
          <a:p/>
          <a:p>
            <a:r>
              <a:rPr sz="1200">
                <a:latin typeface="Segoe UI"/>
              </a:rPr>
              <a:t>DO  —  One click brings the screen up, one brings the line. Then be quiet and let them read it.</a:t>
            </a:r>
          </a:p>
          <a:p/>
          <a:p>
            <a:r>
              <a:rPr sz="1200">
                <a:latin typeface="Segoe UI"/>
              </a:rPr>
              <a:t>Cut this slide if you are demoing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"Look at the right-hand columns. Trace, and Accepted — by a person. Those two columns together are the entire product."</a:t>
            </a:r>
          </a:p>
          <a:p/>
          <a:p>
            <a:r>
              <a:rPr sz="1200">
                <a:latin typeface="Segoe UI"/>
              </a:rPr>
              <a:t>DO  —  One click brings the screen up, one brings the line. Then be quiet and let them read it.</a:t>
            </a:r>
          </a:p>
          <a:p/>
          <a:p>
            <a:r>
              <a:rPr sz="1200">
                <a:latin typeface="Segoe UI"/>
              </a:rPr>
              <a:t>Cut this slide if you are demoing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"A hundred and four thousand priced. Fifteen thousand overhead. Four seven six six contingency. A hundred and twenty-three nine sixteen total — and every one opens up."</a:t>
            </a:r>
          </a:p>
          <a:p/>
          <a:p>
            <a:r>
              <a:rPr sz="1200">
                <a:latin typeface="Segoe UI"/>
              </a:rPr>
              <a:t>DO  —  One click brings the screen up, one brings the line. Then be quiet and let them read it.</a:t>
            </a:r>
          </a:p>
          <a:p/>
          <a:p>
            <a:r>
              <a:rPr sz="1200">
                <a:latin typeface="Segoe UI"/>
              </a:rPr>
              <a:t>Cut this slide if you are demoing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"AI proposals waiting for a human decision. That subtitle is a structural property, not a marketing line."</a:t>
            </a:r>
          </a:p>
          <a:p/>
          <a:p>
            <a:r>
              <a:rPr sz="1200">
                <a:latin typeface="Segoe UI"/>
              </a:rPr>
              <a:t>DO  —  One click brings the screen up, one brings the line. Then be quiet and let them read it.</a:t>
            </a:r>
          </a:p>
          <a:p/>
          <a:p>
            <a:r>
              <a:rPr sz="1200">
                <a:latin typeface="Segoe UI"/>
              </a:rPr>
              <a:t>Cut this slide if you are demoing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"Fifteen estimator-days becomes four. And the four that remain are review and judgement, not measuring."</a:t>
            </a:r>
          </a:p>
          <a:p/>
          <a:p>
            <a:r>
              <a:rPr sz="1200">
                <a:latin typeface="Segoe UI"/>
              </a:rPr>
              <a:t>DO  —  FOUR DAYS IS DELIBERATELY CONSERVATIVE. Our own website says hours. Quote the conservative number in the room and let the pilot beat it.</a:t>
            </a:r>
          </a:p>
          <a:p/>
          <a:p>
            <a:r>
              <a:rPr sz="1200">
                <a:latin typeface="Segoe UI"/>
              </a:rPr>
              <a:t>TIME 2:20–3:00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"I'm not going to show you a case study, because we don't have one yet and you'd see through it. Here's the arithmetic instead — put your own numbers in the left-hand box and the three levers on the right recalculate."</a:t>
            </a:r>
          </a:p>
          <a:p/>
          <a:p>
            <a:r>
              <a:rPr sz="1200">
                <a:latin typeface="Segoe UI"/>
              </a:rPr>
              <a:t>DO  —  THE INPUTS ARE ILLUSTRATIVE. Edit them in PowerPoint before the meeting if you know the client's real figures — a deck showing THEIR numbers is worth ten showing ours.</a:t>
            </a:r>
          </a:p>
          <a:p/>
          <a:p>
            <a:r>
              <a:rPr sz="1200">
                <a:latin typeface="Segoe UI"/>
              </a:rPr>
              <a:t>Lever 3 is the one that lands with a commercial director. One avoided pricing error on one job pays for the platform several times over. Say it plainly.</a:t>
            </a:r>
          </a:p>
          <a:p/>
          <a:p>
            <a:r>
              <a:rPr sz="1200">
                <a:latin typeface="Segoe UI"/>
              </a:rPr>
              <a:t>TIME 3:00–4:00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"Effort saving alone covers a year of platform cost in under three months. And that line does not include a single extra bid won, or a single pricing error caught."</a:t>
            </a:r>
          </a:p>
          <a:p/>
          <a:p>
            <a:r>
              <a:rPr sz="1200">
                <a:latin typeface="Segoe UI"/>
              </a:rPr>
              <a:t>DO  —  The chart is a real PowerPoint chart — right-click, Edit Data, and put the client's figures in during the meeting if they give them to you. That moment does more than the rest of the deck.</a:t>
            </a:r>
          </a:p>
          <a:p/>
          <a:p>
            <a:r>
              <a:rPr sz="1200">
                <a:latin typeface="Segoe UI"/>
              </a:rPr>
              <a:t>$60k platform cost is a placeholder. Set it to the real proposed number.</a:t>
            </a:r>
          </a:p>
          <a:p/>
          <a:p>
            <a:r>
              <a:rPr sz="1200">
                <a:latin typeface="Segoe UI"/>
              </a:rPr>
              <a:t>TIME 4:00–4:50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"Documents in. The assistant proposes. A person confirms. Only then is anything committed — and it lands on a hash-chained trail. The AI cannot get past step three. Not configured not to. Structurally cannot."</a:t>
            </a:r>
          </a:p>
          <a:p/>
          <a:p>
            <a:r>
              <a:rPr sz="1200">
                <a:latin typeface="Segoe UI"/>
              </a:rPr>
              <a:t>STRONGEST SLIDE FOR A RISK-AVERSE ROOM. Never cut it.</a:t>
            </a:r>
          </a:p>
          <a:p/>
          <a:p>
            <a:r>
              <a:rPr sz="1200">
                <a:latin typeface="Segoe UI"/>
              </a:rPr>
              <a:t>TIME 4:50–5:40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"Most of what looks like AI in this product is thirty-four deterministic engines doing arithmetic. Critical path. Measurement. Reconciling the bill. A frontier model is the sixth thing we try, not the first."</a:t>
            </a:r>
          </a:p>
          <a:p/>
          <a:p>
            <a:r>
              <a:rPr sz="1200">
                <a:latin typeface="Segoe UI"/>
              </a:rPr>
              <a:t>This retires three objections at once: accuracy, cost and data sovereignty. The bars are illustrative of share of work, not measured telemetry.</a:t>
            </a:r>
          </a:p>
          <a:p/>
          <a:p>
            <a:r>
              <a:rPr sz="1200">
                <a:latin typeface="Segoe UI"/>
              </a:rPr>
              <a:t>TIME 5:40–6:20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"Nothing gets switched off. We read what you already produce, and we emit events your systems can react to rather than poll for."</a:t>
            </a:r>
          </a:p>
          <a:p/>
          <a:p>
            <a:r>
              <a:rPr sz="1200">
                <a:latin typeface="Segoe UI"/>
              </a:rPr>
              <a:t>DO  —  VOLUNTEER THE GAP: P6 import, calendars and baselines are specified but not built yet. The critical-path engine underneath them is real.</a:t>
            </a:r>
          </a:p>
          <a:p/>
          <a:p>
            <a:r>
              <a:rPr sz="1200">
                <a:latin typeface="Segoe UI"/>
              </a:rPr>
              <a:t>TIME 6:20–7:00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"Four shapes, one codebase. And I'll be straight about maturity — the first two are proven in what's running today. The second two are supported by the architecture and have not been delivered to a customer yet."</a:t>
            </a:r>
          </a:p>
          <a:p/>
          <a:p>
            <a:r>
              <a:rPr sz="1200">
                <a:latin typeface="Segoe UI"/>
              </a:rPr>
              <a:t>Never imply a reference customer you do not have.</a:t>
            </a:r>
          </a:p>
          <a:p/>
          <a:p>
            <a:r>
              <a:rPr sz="1200">
                <a:latin typeface="Segoe UI"/>
              </a:rPr>
              <a:t>TIME 7:00–7:40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"Seventy-nine per cent, measured against the specification as written — not against a roadmap we could quietly move."</a:t>
            </a:r>
          </a:p>
          <a:p/>
          <a:p>
            <a:r>
              <a:rPr sz="1200">
                <a:latin typeface="Segoe UI"/>
              </a:rPr>
              <a:t>DO  —  READ THE AMBER BAR OUT LOUD. Sixteen open P0s and those are the six that matter to an enterprise buyer. You will be found out in diligence otherwise.</a:t>
            </a:r>
          </a:p>
          <a:p/>
          <a:p>
            <a:r>
              <a:rPr sz="1200">
                <a:latin typeface="Segoe UI"/>
              </a:rPr>
              <a:t>DO  —  Our own website still lists SSO and encryption at rest as live. They are not. Say so before anyone raises it.</a:t>
            </a:r>
          </a:p>
          <a:p/>
          <a:p>
            <a:r>
              <a:rPr sz="1200">
                <a:latin typeface="Segoe UI"/>
              </a:rPr>
              <a:t>NEVER CUT. This slide is what makes the rest believable.  TIME 7:40–8:40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"Three things. Six weeks. One live tender. And the third one tells you how serious we are — we're not asking you to wait while we build single sign-on. We're asking you to close that list with us."</a:t>
            </a:r>
          </a:p>
          <a:p/>
          <a:p>
            <a:r>
              <a:rPr sz="1200">
                <a:latin typeface="Segoe UI"/>
              </a:rPr>
              <a:t>THE GOLDEN SET IS THE HIGHEST-LEVERAGE ASK. A design set paired with its final priced bill is the most valuable thing anyone can give us. Ask directly.</a:t>
            </a:r>
          </a:p>
          <a:p/>
          <a:p>
            <a:r>
              <a:rPr sz="1200">
                <a:latin typeface="Segoe UI"/>
              </a:rPr>
              <a:t>TIME 8:40–9:30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DO  —  No animation here on purpose. Say the two lines slowly, then stop talking. Do not offer next steps. Let them ask the first question.</a:t>
            </a:r>
          </a:p>
          <a:p/>
          <a:p>
            <a:r>
              <a:rPr sz="1200">
                <a:latin typeface="Segoe UI"/>
              </a:rPr>
              <a:t>If the silence runs past ten seconds: 'What would you want to test first?' Nothing else.</a:t>
            </a:r>
          </a:p>
          <a:p/>
          <a:p>
            <a:r>
              <a:rPr sz="1200">
                <a:latin typeface="Segoe UI"/>
              </a:rPr>
              <a:t>TIME 9:30–10:00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108749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0" b="1" i="0">
                <a:solidFill>
                  <a:srgbClr val="E9F2F4"/>
                </a:solidFill>
                <a:latin typeface="Segoe UI"/>
              </a:rPr>
              <a:t>Preck</a:t>
            </a:r>
            <a:r>
              <a:rPr sz="7800" b="1" i="0">
                <a:solidFill>
                  <a:srgbClr val="3EDCC2"/>
                </a:solidFill>
                <a:latin typeface="Segoe UI"/>
              </a:rPr>
              <a:t>o</a:t>
            </a:r>
            <a:r>
              <a:rPr sz="7800" b="1" i="0">
                <a:solidFill>
                  <a:srgbClr val="E9F2F4"/>
                </a:solidFill>
                <a:latin typeface="Segoe UI"/>
              </a:rPr>
              <a:t>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79476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A8C0C8"/>
                </a:solidFill>
                <a:latin typeface="Segoe UI"/>
              </a:rPr>
              <a:t>Every number knows where it came from.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5897880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080760"/>
            <a:ext cx="5029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TECHSME  ·  CANADA · US · INDIA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75727" y="608076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APP.PRECKON.COM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ONE TENDER, PRICED BY HAND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267712"/>
            <a:ext cx="25815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200" b="0" i="0">
                <a:solidFill>
                  <a:srgbClr val="E0A85A"/>
                </a:solidFill>
                <a:latin typeface="Consolas"/>
              </a:rPr>
              <a:t>2–6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939E"/>
                </a:solidFill>
                <a:latin typeface="Segoe UI"/>
              </a:rPr>
              <a:t>weeks per bid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2827" y="2267712"/>
            <a:ext cx="25815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200" b="0" i="0">
                <a:solidFill>
                  <a:srgbClr val="E0A85A"/>
                </a:solidFill>
                <a:latin typeface="Consolas"/>
              </a:rPr>
              <a:t>1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939E"/>
                </a:solidFill>
                <a:latin typeface="Segoe UI"/>
              </a:rPr>
              <a:t>person holds the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2267712"/>
            <a:ext cx="25815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200" b="0" i="0">
                <a:solidFill>
                  <a:srgbClr val="E0A85A"/>
                </a:solidFill>
                <a:latin typeface="Consolas"/>
              </a:rPr>
              <a:t>100s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939E"/>
                </a:solidFill>
                <a:latin typeface="Segoe UI"/>
              </a:rPr>
              <a:t>pages read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1747" y="2267712"/>
            <a:ext cx="25815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200" b="0" i="0">
                <a:solidFill>
                  <a:srgbClr val="F0837B"/>
                </a:solidFill>
                <a:latin typeface="Consolas"/>
              </a:rPr>
              <a:t>0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939E"/>
                </a:solidFill>
                <a:latin typeface="Segoe UI"/>
              </a:rPr>
              <a:t>numbers you can trace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64515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 i="1">
                <a:solidFill>
                  <a:srgbClr val="E9F2F4"/>
                </a:solidFill>
                <a:latin typeface="Georgia"/>
              </a:rPr>
              <a:t>And the bid window does not move.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FIVE STAGES · WHO OWNS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24328" y="1664208"/>
            <a:ext cx="17269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6127" y="1664208"/>
            <a:ext cx="17269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TAKEOFF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927" y="1664208"/>
            <a:ext cx="17269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BOQ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9727" y="1664208"/>
            <a:ext cx="17269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ESTIMATE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1527" y="1664208"/>
            <a:ext cx="17269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PROCUREMENT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48256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A939E"/>
                </a:solidFill>
                <a:latin typeface="Segoe UI"/>
              </a:rPr>
              <a:t>Takeoff tools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1956816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06127" y="1956816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2A4C58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87927" y="1956816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69727" y="1956816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751527" y="1956816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72491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A939E"/>
                </a:solidFill>
                <a:latin typeface="Segoe UI"/>
              </a:rPr>
              <a:t>Estimating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24328" y="2633472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6127" y="2633472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F2831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927" y="2633472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F2831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69727" y="2633472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2A4C58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51527" y="2633472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01568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A939E"/>
                </a:solidFill>
                <a:latin typeface="Segoe UI"/>
              </a:rPr>
              <a:t>PM platforms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24328" y="3310128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06127" y="3310128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87927" y="3310128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69727" y="3310128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51527" y="3310128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F2831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078223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9F2F4"/>
                </a:solidFill>
                <a:latin typeface="Segoe UI"/>
              </a:rPr>
              <a:t>Preckon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24328" y="3986784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3EDCC2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06127" y="3986784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3EDCC2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87927" y="3986784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3EDCC2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69727" y="3986784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3EDCC2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751527" y="3986784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3EDCC2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524865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 i="1">
                <a:solidFill>
                  <a:srgbClr val="E9F2F4"/>
                </a:solidFill>
                <a:latin typeface="Georgia"/>
              </a:rPr>
              <a:t>The cost is in the joins.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ONE RECORD, EIGHT STAGES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Tender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1428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5202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2027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Drawings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794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4568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5687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Specs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60160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3934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C2F2D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39347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BOQ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526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300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C2F2D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7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Estimate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38892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2666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667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Programme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258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2032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20327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Procurement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7624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1398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13987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Submission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4096511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1">
                <a:solidFill>
                  <a:srgbClr val="E9F2F4"/>
                </a:solidFill>
                <a:latin typeface="Georgia"/>
              </a:rPr>
              <a:t>Nothing is retyped between them.
Each stage reads what the last one confirmed.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TENDERLOGIX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5156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It reads the tender.</a:t>
            </a:r>
          </a:p>
        </p:txBody>
      </p:sp>
      <p:pic>
        <p:nvPicPr>
          <p:cNvPr id="6" name="Picture 5" descr="t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327" y="1417320"/>
            <a:ext cx="6858000" cy="5167360"/>
          </a:xfrm>
          <a:prstGeom prst="rect">
            <a:avLst/>
          </a:prstGeom>
          <a:ln w="12700">
            <a:solidFill>
              <a:srgbClr val="2A4C58"/>
            </a:solidFill>
          </a:ln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DRAWLOGIX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553053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It measures, and shows its working.</a:t>
            </a:r>
          </a:p>
        </p:txBody>
      </p:sp>
      <p:pic>
        <p:nvPicPr>
          <p:cNvPr id="6" name="Picture 5" descr="tak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327" y="2101693"/>
            <a:ext cx="6858000" cy="3715318"/>
          </a:xfrm>
          <a:prstGeom prst="rect">
            <a:avLst/>
          </a:prstGeom>
          <a:ln w="12700">
            <a:solidFill>
              <a:srgbClr val="2A4C58"/>
            </a:solidFill>
          </a:ln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QUANTLOGIX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2867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Every line has a Trace button.</a:t>
            </a:r>
          </a:p>
        </p:txBody>
      </p:sp>
      <p:pic>
        <p:nvPicPr>
          <p:cNvPr id="6" name="Picture 5" descr="boq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3887" y="1758438"/>
            <a:ext cx="6949440" cy="4282955"/>
          </a:xfrm>
          <a:prstGeom prst="rect">
            <a:avLst/>
          </a:prstGeom>
          <a:ln w="12700">
            <a:solidFill>
              <a:srgbClr val="2A4C58"/>
            </a:solidFill>
          </a:ln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COSTLOGIX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5156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The build-up, not just the total.</a:t>
            </a:r>
          </a:p>
        </p:txBody>
      </p:sp>
      <p:pic>
        <p:nvPicPr>
          <p:cNvPr id="6" name="Picture 5" descr="estim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325880"/>
            <a:ext cx="6492240" cy="4969210"/>
          </a:xfrm>
          <a:prstGeom prst="rect">
            <a:avLst/>
          </a:prstGeom>
          <a:ln w="12700">
            <a:solidFill>
              <a:srgbClr val="2A4C58"/>
            </a:solidFill>
          </a:ln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PRECKON 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5156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Nothing here was committed by software.</a:t>
            </a:r>
          </a:p>
        </p:txBody>
      </p:sp>
      <p:pic>
        <p:nvPicPr>
          <p:cNvPr id="6" name="Picture 5" descr="review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287" y="1481328"/>
            <a:ext cx="6035040" cy="4769963"/>
          </a:xfrm>
          <a:prstGeom prst="rect">
            <a:avLst/>
          </a:prstGeom>
          <a:ln w="12700">
            <a:solidFill>
              <a:srgbClr val="2A4C58"/>
            </a:solidFill>
          </a:ln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SAME BID, BOTH 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10512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ESTIMATOR DAYS PER BID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860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9F2F4"/>
                </a:solidFill>
                <a:latin typeface="Segoe UI"/>
              </a:rPr>
              <a:t>Manual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0048" y="2267712"/>
            <a:ext cx="7680960" cy="384048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70048" y="2267712"/>
            <a:ext cx="7680960" cy="384048"/>
          </a:xfrm>
          <a:prstGeom prst="roundRect">
            <a:avLst>
              <a:gd name="adj" fmla="val 16000"/>
            </a:avLst>
          </a:prstGeom>
          <a:solidFill>
            <a:srgbClr val="E0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97312" y="23042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0A85A"/>
                </a:solidFill>
                <a:latin typeface="Consolas"/>
              </a:rPr>
              <a:t>15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4612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9F2F4"/>
                </a:solidFill>
                <a:latin typeface="Segoe UI"/>
              </a:rPr>
              <a:t>With Preckon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70048" y="3227832"/>
            <a:ext cx="7680960" cy="384048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70048" y="3227832"/>
            <a:ext cx="2048256" cy="384048"/>
          </a:xfrm>
          <a:prstGeom prst="roundRect">
            <a:avLst>
              <a:gd name="adj" fmla="val 16000"/>
            </a:avLst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4608" y="326440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EDCC2"/>
                </a:solidFill>
                <a:latin typeface="Consolas"/>
              </a:rPr>
              <a:t>4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462271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11 days back, on every bid.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A939E"/>
                </a:solidFill>
                <a:latin typeface="Segoe UI"/>
              </a:rPr>
              <a:t>The estimator stops measuring and starts judging — which is the part you were paying them for.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THE ARITHMETIC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916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Put your own numbers 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697480"/>
            <a:ext cx="3931920" cy="2670048"/>
          </a:xfrm>
          <a:prstGeom prst="roundRect">
            <a:avLst>
              <a:gd name="adj" fmla="val 4500"/>
            </a:avLst>
          </a:prstGeom>
          <a:solidFill>
            <a:srgbClr val="0B1D25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898648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0A85A"/>
                </a:solidFill>
                <a:latin typeface="Consolas"/>
              </a:rPr>
              <a:t>INPUTS — REPLACE WITH YOURS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246120"/>
            <a:ext cx="23317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Bids per year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Estimator days per bid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Cost per estimator-day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Average contract value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Win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5536" y="3246120"/>
            <a:ext cx="124358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E9F2F4"/>
                </a:solidFill>
                <a:latin typeface="Consolas"/>
              </a:rPr>
              <a:t>40</a:t>
            </a:r>
          </a:p>
          <a:p>
            <a:pPr algn="r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E9F2F4"/>
                </a:solidFill>
                <a:latin typeface="Consolas"/>
              </a:rPr>
              <a:t>15</a:t>
            </a:r>
          </a:p>
          <a:p>
            <a:pPr algn="r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E9F2F4"/>
                </a:solidFill>
                <a:latin typeface="Consolas"/>
              </a:rPr>
              <a:t>$600</a:t>
            </a:r>
          </a:p>
          <a:p>
            <a:pPr algn="r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E9F2F4"/>
                </a:solidFill>
                <a:latin typeface="Consolas"/>
              </a:rPr>
              <a:t>$8M</a:t>
            </a:r>
          </a:p>
          <a:p>
            <a:pPr algn="r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E9F2F4"/>
                </a:solidFill>
                <a:latin typeface="Consolas"/>
              </a:rPr>
              <a:t>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697480"/>
            <a:ext cx="6784848" cy="914400"/>
          </a:xfrm>
          <a:prstGeom prst="roundRect">
            <a:avLst>
              <a:gd name="adj" fmla="val 5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6048" y="2880360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3EDCC2"/>
                </a:solidFill>
                <a:latin typeface="Consolas"/>
              </a:rPr>
              <a:t>$264k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843784"/>
            <a:ext cx="4617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C0C8"/>
                </a:solidFill>
                <a:latin typeface="Segoe UI"/>
              </a:rPr>
              <a:t>saved a year in estimating effort
440 estimator-days returned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679192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556E79"/>
                </a:solidFill>
                <a:latin typeface="Consolas"/>
              </a:rPr>
              <a:t>LEVER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730752"/>
            <a:ext cx="6784848" cy="914400"/>
          </a:xfrm>
          <a:prstGeom prst="roundRect">
            <a:avLst>
              <a:gd name="adj" fmla="val 5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6048" y="3913632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3EDCC2"/>
                </a:solidFill>
                <a:latin typeface="Consolas"/>
              </a:rPr>
              <a:t>+10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877056"/>
            <a:ext cx="4617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C0C8"/>
                </a:solidFill>
                <a:latin typeface="Segoe UI"/>
              </a:rPr>
              <a:t>more bids a year with the same team
≈ 2 extra wins at a 20%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712464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556E79"/>
                </a:solidFill>
                <a:latin typeface="Consolas"/>
              </a:rPr>
              <a:t>LEVER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764024"/>
            <a:ext cx="6784848" cy="914400"/>
          </a:xfrm>
          <a:prstGeom prst="roundRect">
            <a:avLst>
              <a:gd name="adj" fmla="val 5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6048" y="4946904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3EDCC2"/>
                </a:solidFill>
                <a:latin typeface="Consolas"/>
              </a:rPr>
              <a:t>$80k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910328"/>
            <a:ext cx="4617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C0C8"/>
                </a:solidFill>
                <a:latin typeface="Segoe UI"/>
              </a:rPr>
              <a:t>one 1% pricing error avoided on one $8M job
is worth more than the licence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745736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556E79"/>
                </a:solidFill>
                <a:latin typeface="Consolas"/>
              </a:rPr>
              <a:t>LEVER 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PAYBACK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67612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9F2F4"/>
                </a:solidFill>
                <a:latin typeface="Segoe UI"/>
              </a:rPr>
              <a:t>Under three months.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617720" y="1696212"/>
          <a:ext cx="69037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2793492"/>
            <a:ext cx="3931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4800" b="0" i="0">
                <a:solidFill>
                  <a:srgbClr val="3EDCC2"/>
                </a:solidFill>
                <a:latin typeface="Consolas"/>
              </a:rPr>
              <a:t>2.7</a:t>
            </a:r>
            <a:r>
              <a:rPr sz="1500" b="0" i="0">
                <a:solidFill>
                  <a:srgbClr val="7A939E"/>
                </a:solidFill>
                <a:latin typeface="Segoe UI"/>
              </a:rPr>
              <a:t> months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0" i="0">
                <a:solidFill>
                  <a:srgbClr val="A8C0C8"/>
                </a:solidFill>
                <a:latin typeface="Segoe UI"/>
              </a:rPr>
              <a:t>to cover a year of platform cost from estimating effort alone.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A939E"/>
                </a:solidFill>
                <a:latin typeface="Segoe UI"/>
              </a:rPr>
              <a:t>Levers 2 and 3 are not in this chart. Neither is a single won bid.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HOW A NUMBER BECOMES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1867753" cy="1234440"/>
          </a:xfrm>
          <a:prstGeom prst="roundRect">
            <a:avLst>
              <a:gd name="adj" fmla="val 6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212848"/>
            <a:ext cx="1648297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9F2F4"/>
                </a:solidFill>
                <a:latin typeface="Segoe UI"/>
              </a:rPr>
              <a:t>Documents
&amp; drawings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99273" y="2487168"/>
            <a:ext cx="237744" cy="201168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10169" y="1965960"/>
            <a:ext cx="1867753" cy="1234440"/>
          </a:xfrm>
          <a:prstGeom prst="roundRect">
            <a:avLst>
              <a:gd name="adj" fmla="val 6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9897" y="2212848"/>
            <a:ext cx="1648297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9F2F4"/>
                </a:solidFill>
                <a:latin typeface="Segoe UI"/>
              </a:rPr>
              <a:t>The assistant
proposes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51074" y="2487168"/>
            <a:ext cx="237744" cy="201168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61970" y="1965960"/>
            <a:ext cx="1867753" cy="1234440"/>
          </a:xfrm>
          <a:prstGeom prst="roundRect">
            <a:avLst>
              <a:gd name="adj" fmla="val 6000"/>
            </a:avLst>
          </a:prstGeom>
          <a:solidFill>
            <a:srgbClr val="0C2F2D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71698" y="2212848"/>
            <a:ext cx="1648297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9F2F4"/>
                </a:solidFill>
                <a:latin typeface="Segoe UI"/>
              </a:rPr>
              <a:t>A person
confirms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02876" y="2487168"/>
            <a:ext cx="237744" cy="201168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13772" y="1965960"/>
            <a:ext cx="1867753" cy="1234440"/>
          </a:xfrm>
          <a:prstGeom prst="roundRect">
            <a:avLst>
              <a:gd name="adj" fmla="val 6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23500" y="2212848"/>
            <a:ext cx="1648297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9F2F4"/>
                </a:solidFill>
                <a:latin typeface="Segoe UI"/>
              </a:rPr>
              <a:t>The record
is committed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54677" y="2487168"/>
            <a:ext cx="237744" cy="201168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65573" y="1965960"/>
            <a:ext cx="1867753" cy="1234440"/>
          </a:xfrm>
          <a:prstGeom prst="roundRect">
            <a:avLst>
              <a:gd name="adj" fmla="val 6000"/>
            </a:avLst>
          </a:prstGeom>
          <a:solidFill>
            <a:srgbClr val="0C2F2D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5301" y="2212848"/>
            <a:ext cx="1648297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9F2F4"/>
                </a:solidFill>
                <a:latin typeface="Segoe UI"/>
              </a:rPr>
              <a:t>Hash-chained
audit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61970" y="3401568"/>
            <a:ext cx="1867753" cy="475488"/>
          </a:xfrm>
          <a:prstGeom prst="roundRect">
            <a:avLst>
              <a:gd name="adj" fmla="val 14000"/>
            </a:avLst>
          </a:prstGeom>
          <a:solidFill>
            <a:srgbClr val="2C1715"/>
          </a:solidFill>
          <a:ln w="9525">
            <a:solidFill>
              <a:srgbClr val="F08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61970" y="3511296"/>
            <a:ext cx="18677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0" spc="60">
                <a:solidFill>
                  <a:srgbClr val="F0837B"/>
                </a:solidFill>
                <a:latin typeface="Consolas"/>
              </a:rPr>
              <a:t>AI CANNOT PASS THIS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5262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1">
                <a:solidFill>
                  <a:srgbClr val="E9F2F4"/>
                </a:solidFill>
                <a:latin typeface="Georgia"/>
              </a:rPr>
              <a:t>The assistant has four calls. None of them writes a business record.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WHAT ACTUALLY RUNS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5852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A frontier model is the sixth thing we 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16351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9F2F4"/>
                </a:solidFill>
                <a:latin typeface="Segoe UI"/>
              </a:rPr>
              <a:t>Deterministic engines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8728" y="2788920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38728" y="2788920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38327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8728" y="3355848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38728" y="3355848"/>
            <a:ext cx="3899001" cy="329184"/>
          </a:xfrm>
          <a:prstGeom prst="roundRect">
            <a:avLst>
              <a:gd name="adj" fmla="val 16000"/>
            </a:avLst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95020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Structured retrieval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8728" y="3922776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38728" y="3922776"/>
            <a:ext cx="3233318" cy="329184"/>
          </a:xfrm>
          <a:prstGeom prst="roundRect">
            <a:avLst>
              <a:gd name="adj" fmla="val 16000"/>
            </a:avLst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51713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Small private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38728" y="4489704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38728" y="4489704"/>
            <a:ext cx="2472537" cy="329184"/>
          </a:xfrm>
          <a:prstGeom prst="roundRect">
            <a:avLst>
              <a:gd name="adj" fmla="val 16000"/>
            </a:avLst>
          </a:prstGeom>
          <a:solidFill>
            <a:srgbClr val="2A4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0840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Private reasoning 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8728" y="5056631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38728" y="5056631"/>
            <a:ext cx="1806854" cy="329184"/>
          </a:xfrm>
          <a:prstGeom prst="roundRect">
            <a:avLst>
              <a:gd name="adj" fmla="val 16000"/>
            </a:avLst>
          </a:prstGeom>
          <a:solidFill>
            <a:srgbClr val="2A4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65099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A85A"/>
                </a:solidFill>
                <a:latin typeface="Segoe UI"/>
              </a:rPr>
              <a:t>Frontier model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38728" y="5623560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538728" y="5623560"/>
            <a:ext cx="760780" cy="329184"/>
          </a:xfrm>
          <a:prstGeom prst="roundRect">
            <a:avLst>
              <a:gd name="adj" fmla="val 16000"/>
            </a:avLst>
          </a:prstGeom>
          <a:solidFill>
            <a:srgbClr val="E0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283464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200" b="0" i="0">
                <a:solidFill>
                  <a:srgbClr val="3EDCC2"/>
                </a:solidFill>
                <a:latin typeface="Consolas"/>
              </a:rPr>
              <a:t>34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deterministic engines do the
arithmetic before any model is asked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IT FITS WHAT YOU ALREADY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2084832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PDF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54096" y="2212848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651760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74319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DWG · DXF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54096" y="2779776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218687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3101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IFC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54096" y="3346704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785616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87705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Excel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054096" y="3913632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352544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44398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P6 XER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054096" y="4480559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8" y="4919472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0109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ERP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054096" y="5047488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794760" y="2313432"/>
            <a:ext cx="4572000" cy="3246120"/>
          </a:xfrm>
          <a:prstGeom prst="roundRect">
            <a:avLst>
              <a:gd name="adj" fmla="val 5000"/>
            </a:avLst>
          </a:prstGeom>
          <a:solidFill>
            <a:srgbClr val="0C2F2D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2724912"/>
            <a:ext cx="41148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40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Preckon</a:t>
            </a:r>
          </a:p>
          <a:p>
            <a:pPr algn="ctr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90 typed API routes</a:t>
            </a:r>
          </a:p>
          <a:p>
            <a:pPr algn="ctr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Domain events, not polling</a:t>
            </a:r>
          </a:p>
          <a:p>
            <a:pPr algn="ctr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Read once · content-hashed</a:t>
            </a:r>
          </a:p>
          <a:p>
            <a:pPr algn="ctr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Connector SDK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62872" y="2084832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2872" y="217627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BOQ export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458200" y="2212848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62872" y="2651760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62872" y="274319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Estimate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458200" y="2779776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262872" y="3218687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62872" y="33101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Programme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458200" y="3346704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262872" y="3785616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2872" y="387705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Packages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8458200" y="3913632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62872" y="4352544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62872" y="444398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Audit trail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8458200" y="4480559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262872" y="4919472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62872" y="50109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Webhooks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458200" y="5047488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1810512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62872" y="1810512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OUT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WHERE IT RUNS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2039111"/>
            <a:ext cx="2526715" cy="1965960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313432"/>
            <a:ext cx="21243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SaaS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Multi-tenant, managed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3EDCC2"/>
                </a:solidFill>
                <a:latin typeface="Consolas"/>
              </a:rPr>
              <a:t>PROVEN 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1115" y="2039111"/>
            <a:ext cx="2526715" cy="1965960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2283" y="2313432"/>
            <a:ext cx="21243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Dedicated cloud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Your region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3EDCC2"/>
                </a:solidFill>
                <a:latin typeface="Consolas"/>
              </a:rPr>
              <a:t>PROVEN TODAY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863" y="2039111"/>
            <a:ext cx="2526715" cy="1965960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5031" y="2313432"/>
            <a:ext cx="21243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Private AI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Inference in your boundary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E0A85A"/>
                </a:solidFill>
                <a:latin typeface="Consolas"/>
              </a:rPr>
              <a:t>ARCHITECTURE 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611" y="2039111"/>
            <a:ext cx="2526715" cy="1965960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07779" y="2313432"/>
            <a:ext cx="21243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Sovereign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On-premise, models included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E0A85A"/>
                </a:solidFill>
                <a:latin typeface="Consolas"/>
              </a:rPr>
              <a:t>ARCHITECTURE 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507992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1">
                <a:solidFill>
                  <a:srgbClr val="E9F2F4"/>
                </a:solidFill>
                <a:latin typeface="Georgia"/>
              </a:rPr>
              <a:t>One codebase. The deployment shape is configuration, not a fork.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BUILT, MEASURED AGAINST THE SPEC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33372"/>
            <a:ext cx="4023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600" b="0" i="0">
                <a:solidFill>
                  <a:srgbClr val="3EDCC2"/>
                </a:solidFill>
                <a:latin typeface="Consolas"/>
              </a:rPr>
              <a:t>79%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939E"/>
                </a:solidFill>
                <a:latin typeface="Segoe UI"/>
              </a:rPr>
              <a:t>of 132 specified features are built, tested and deployed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616452"/>
            <a:ext cx="4023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A8C0C8"/>
                </a:solidFill>
                <a:latin typeface="Consolas"/>
              </a:rPr>
              <a:t>97 done · 15 partial · 20 missing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A939E"/>
                </a:solidFill>
                <a:latin typeface="Segoe UI"/>
              </a:rPr>
              <a:t>Partial counts as a half. Missing counts as zero. Verified against the codebase and the deployed database.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28032" y="2061972"/>
            <a:ext cx="2142744" cy="1133856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10912" y="2244852"/>
            <a:ext cx="1776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E9F2F4"/>
                </a:solidFill>
                <a:latin typeface="Consolas"/>
              </a:rPr>
              <a:t>84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939E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17080" y="2061972"/>
            <a:ext cx="2142744" cy="1133856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9960" y="2244852"/>
            <a:ext cx="1776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E9F2F4"/>
                </a:solidFill>
                <a:latin typeface="Consolas"/>
              </a:rPr>
              <a:t>90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939E"/>
                </a:solidFill>
                <a:latin typeface="Segoe UI"/>
              </a:rPr>
              <a:t>API routes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06128" y="2061972"/>
            <a:ext cx="2142744" cy="1133856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89008" y="2244852"/>
            <a:ext cx="1776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E9F2F4"/>
                </a:solidFill>
                <a:latin typeface="Consolas"/>
              </a:rPr>
              <a:t>982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939E"/>
                </a:solidFill>
                <a:latin typeface="Segoe UI"/>
              </a:rPr>
              <a:t>tests passing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28032" y="3360420"/>
            <a:ext cx="2142744" cy="1133856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0912" y="3543300"/>
            <a:ext cx="1776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E9F2F4"/>
                </a:solidFill>
                <a:latin typeface="Consolas"/>
              </a:rPr>
              <a:t>34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939E"/>
                </a:solidFill>
                <a:latin typeface="Segoe UI"/>
              </a:rPr>
              <a:t>engines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17080" y="3360420"/>
            <a:ext cx="2142744" cy="1133856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99960" y="3543300"/>
            <a:ext cx="1776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E9F2F4"/>
                </a:solidFill>
                <a:latin typeface="Consolas"/>
              </a:rPr>
              <a:t>20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939E"/>
                </a:solidFill>
                <a:latin typeface="Segoe UI"/>
              </a:rPr>
              <a:t>assistants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06128" y="3360420"/>
            <a:ext cx="2142744" cy="1133856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89008" y="3543300"/>
            <a:ext cx="1776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E9F2F4"/>
                </a:solidFill>
                <a:latin typeface="Consolas"/>
              </a:rPr>
              <a:t>12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939E"/>
                </a:solidFill>
                <a:latin typeface="Segoe UI"/>
              </a:rPr>
              <a:t>ADRs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28032" y="4759452"/>
            <a:ext cx="6720840" cy="777240"/>
          </a:xfrm>
          <a:prstGeom prst="roundRect">
            <a:avLst>
              <a:gd name="adj" fmla="val 5000"/>
            </a:avLst>
          </a:prstGeom>
          <a:solidFill>
            <a:srgbClr val="2A2110"/>
          </a:solidFill>
          <a:ln w="9525">
            <a:solidFill>
              <a:srgbClr val="E0A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4969764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0A85A"/>
                </a:solidFill>
                <a:latin typeface="Segoe UI"/>
              </a:rPr>
              <a:t>Not built yet: SSO · MFA · encryption at rest · CI · staging · tested restore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WHAT WE'RE ASKING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581912"/>
            <a:ext cx="7315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9F2F4"/>
                </a:solidFill>
                <a:latin typeface="Segoe UI"/>
              </a:rPr>
              <a:t>One bid. Six weeks.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136392"/>
            <a:ext cx="3454298" cy="1874519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3364992"/>
            <a:ext cx="301538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900" b="1" i="0" spc="120">
                <a:solidFill>
                  <a:srgbClr val="3EDCC2"/>
                </a:solidFill>
                <a:latin typeface="Consolas"/>
              </a:rPr>
              <a:t>01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A live tender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One project, one team, measured against a bid you have already priced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3136392"/>
            <a:ext cx="3454298" cy="1874519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8154" y="3364992"/>
            <a:ext cx="301538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900" b="1" i="0" spc="120">
                <a:solidFill>
                  <a:srgbClr val="3EDCC2"/>
                </a:solidFill>
                <a:latin typeface="Consolas"/>
              </a:rPr>
              <a:t>02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A golden set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One design set with its final priced bill — we test against it, in front of you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9028" y="3136392"/>
            <a:ext cx="3454298" cy="1874519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3364992"/>
            <a:ext cx="301538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900" b="1" i="0" spc="120">
                <a:solidFill>
                  <a:srgbClr val="3EDCC2"/>
                </a:solidFill>
                <a:latin typeface="Consolas"/>
              </a:rPr>
              <a:t>03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A security counterpart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Someone who closes the gap list with us in the same six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3095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A939E"/>
                </a:solidFill>
                <a:latin typeface="Segoe UI"/>
              </a:rPr>
              <a:t>Not asking for: a migration, anything switched off, or a decision today.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51460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9F2F4"/>
                </a:solidFill>
                <a:latin typeface="Segoe UI"/>
              </a:rPr>
              <a:t>Every number can name
where it came from.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4348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3EDCC2"/>
                </a:solidFill>
                <a:latin typeface="Georgia"/>
              </a:rPr>
              <a:t>That is the whole product. The rest is speed.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5897880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080760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APP.PRECKON.COM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