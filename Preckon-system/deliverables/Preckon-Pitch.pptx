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6" r:id="rId13"/>
    <p:sldId id="266" r:id="rId14"/>
    <p:sldId id="267" r:id="rId15"/>
    <p:sldId id="268" r:id="rId16"/>
    <p:sldId id="270" r:id="rId17"/>
    <p:sldId id="271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benefit  ($k)</c:v>
                </c:pt>
              </c:strCache>
            </c:strRef>
          </c:tx>
          <c:spPr>
            <a:ln w="31750">
              <a:solidFill>
                <a:srgbClr val="3EDCC2"/>
              </a:solidFill>
            </a:ln>
          </c:spPr>
          <c:marker>
            <c:symbol val="circle"/>
            <c:size val="6"/>
            <c:spPr>
              <a:solidFill>
                <a:srgbClr val="3EDCC2"/>
              </a:solidFill>
              <a:ln w="12700">
                <a:solidFill>
                  <a:srgbClr val="3EDCC2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</c:v>
                </c:pt>
                <c:pt idx="1">
                  <c:v>44</c:v>
                </c:pt>
                <c:pt idx="2">
                  <c:v>66</c:v>
                </c:pt>
                <c:pt idx="3">
                  <c:v>88</c:v>
                </c:pt>
                <c:pt idx="4">
                  <c:v>110</c:v>
                </c:pt>
                <c:pt idx="5">
                  <c:v>132</c:v>
                </c:pt>
                <c:pt idx="6">
                  <c:v>154</c:v>
                </c:pt>
                <c:pt idx="7">
                  <c:v>176</c:v>
                </c:pt>
                <c:pt idx="8">
                  <c:v>198</c:v>
                </c:pt>
                <c:pt idx="9">
                  <c:v>220</c:v>
                </c:pt>
                <c:pt idx="10">
                  <c:v>242</c:v>
                </c:pt>
                <c:pt idx="11">
                  <c:v>264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C1-4D58-ABFA-822D146531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platform cost  ($k)</c:v>
                </c:pt>
              </c:strCache>
            </c:strRef>
          </c:tx>
          <c:spPr>
            <a:ln w="31750">
              <a:solidFill>
                <a:srgbClr val="E0A85A"/>
              </a:solidFill>
            </a:ln>
          </c:spPr>
          <c:marker>
            <c:symbol val="circle"/>
            <c:size val="6"/>
            <c:spPr>
              <a:solidFill>
                <a:srgbClr val="E0A85A"/>
              </a:solidFill>
              <a:ln w="12700">
                <a:solidFill>
                  <a:srgbClr val="E0A85A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60</c:v>
                </c:pt>
                <c:pt idx="1">
                  <c:v>60</c:v>
                </c:pt>
                <c:pt idx="2">
                  <c:v>60</c:v>
                </c:pt>
                <c:pt idx="3">
                  <c:v>60</c:v>
                </c:pt>
                <c:pt idx="4">
                  <c:v>60</c:v>
                </c:pt>
                <c:pt idx="5">
                  <c:v>60</c:v>
                </c:pt>
                <c:pt idx="6">
                  <c:v>60</c:v>
                </c:pt>
                <c:pt idx="7">
                  <c:v>60</c:v>
                </c:pt>
                <c:pt idx="8">
                  <c:v>60</c:v>
                </c:pt>
                <c:pt idx="9">
                  <c:v>60</c:v>
                </c:pt>
                <c:pt idx="10">
                  <c:v>60</c:v>
                </c:pt>
                <c:pt idx="11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7C1-4D58-ABFA-822D146531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2A4C58"/>
            </a:solidFill>
          </a:ln>
        </c:spPr>
        <c:txPr>
          <a:bodyPr/>
          <a:lstStyle/>
          <a:p>
            <a:pPr>
              <a:defRPr sz="900">
                <a:solidFill>
                  <a:srgbClr val="7A939E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6350">
              <a:solidFill>
                <a:srgbClr val="1B333D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56E79"/>
                </a:solidFill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A8C0C8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7A939E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023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DO  —  Stand still. Say the line on the slide, then nothing for two seconds.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SAY  —  "Preckon. Every number knows where it came from. That's the whole product — I'll spend the next fifteen minutes proving it."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0:00–0:20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"Two to six weeks. One person who holds the method. A few hundred pages read by hand. And zero numbers you can trace back to the drawing they came off."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Four clicks. Land hard on the zero, then click once more for the line.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0:20–1:00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DO  —  Three clicks — one per column. Do NOT read fifteen items aloud. Name two from each column and let them read the rest.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SAY  —  "These are not our list. They came out of talking to construction clients, and every one of them is somebody's actual week."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FULL WORDING, for reference:</a:t>
            </a:r>
          </a:p>
          <a:p>
            <a:r>
              <a:rPr sz="1200">
                <a:latin typeface="Segoe UI"/>
              </a:rPr>
              <a:t>1 Document and drawing version management challenges</a:t>
            </a:r>
          </a:p>
          <a:p>
            <a:r>
              <a:rPr sz="1200">
                <a:latin typeface="Segoe UI"/>
              </a:rPr>
              <a:t>2 Manual quantity take-offs (QTO) and BOQ preparation</a:t>
            </a:r>
          </a:p>
          <a:p>
            <a:r>
              <a:rPr sz="1200">
                <a:latin typeface="Segoe UI"/>
              </a:rPr>
              <a:t>3 Time-consuming cost estimation and tendering</a:t>
            </a:r>
          </a:p>
          <a:p>
            <a:r>
              <a:rPr sz="1200">
                <a:latin typeface="Segoe UI"/>
              </a:rPr>
              <a:t>4 Frequent design changes and rework</a:t>
            </a:r>
          </a:p>
          <a:p>
            <a:r>
              <a:rPr sz="1200">
                <a:latin typeface="Segoe UI"/>
              </a:rPr>
              <a:t>5 Change order management difficulties</a:t>
            </a:r>
          </a:p>
          <a:p>
            <a:r>
              <a:rPr sz="1200">
                <a:latin typeface="Segoe UI"/>
              </a:rPr>
              <a:t>6 Delayed procurement and supply chain disruptions</a:t>
            </a:r>
          </a:p>
          <a:p>
            <a:r>
              <a:rPr sz="1200">
                <a:latin typeface="Segoe UI"/>
              </a:rPr>
              <a:t>7 Material wastage and inventory issues</a:t>
            </a:r>
          </a:p>
          <a:p>
            <a:r>
              <a:rPr sz="1200">
                <a:latin typeface="Segoe UI"/>
              </a:rPr>
              <a:t>8 Poor coordination between architects, engineers, contractors and clients</a:t>
            </a:r>
          </a:p>
          <a:p>
            <a:r>
              <a:rPr sz="1200">
                <a:latin typeface="Segoe UI"/>
              </a:rPr>
              <a:t>9 Manual progress reporting and project tracking</a:t>
            </a:r>
          </a:p>
          <a:p>
            <a:r>
              <a:rPr sz="1200">
                <a:latin typeface="Segoe UI"/>
              </a:rPr>
              <a:t>10 Delayed decision-making due to fragmented data</a:t>
            </a:r>
          </a:p>
          <a:p>
            <a:r>
              <a:rPr sz="1200">
                <a:latin typeface="Segoe UI"/>
              </a:rPr>
              <a:t>11 Difficulty managing multiple projects simultaneously</a:t>
            </a:r>
          </a:p>
          <a:p>
            <a:r>
              <a:rPr sz="1200">
                <a:latin typeface="Segoe UI"/>
              </a:rPr>
              <a:t>12 Lack of data-driven insights for forecasting and risk management</a:t>
            </a:r>
          </a:p>
          <a:p>
            <a:r>
              <a:rPr sz="1200">
                <a:latin typeface="Segoe UI"/>
              </a:rPr>
              <a:t>13 Budget overruns and poor cost control</a:t>
            </a:r>
          </a:p>
          <a:p>
            <a:r>
              <a:rPr sz="1200">
                <a:latin typeface="Segoe UI"/>
              </a:rPr>
              <a:t>14 Project delays and schedule overruns</a:t>
            </a:r>
          </a:p>
          <a:p>
            <a:r>
              <a:rPr sz="1200">
                <a:latin typeface="Segoe UI"/>
              </a:rPr>
              <a:t>15 Planning time measured in months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NOTE ON ITEM 15: in the source list this was written as 'Reduced project planning time (months to days)', which is a benefit rather than a pain. It is flipped here to state the problem; the benefit form appears on the advantages slide as item 13.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The colour split is deliberate: amber is expensive, red is where a job is actually lost. Do not explain the colours — just let them work.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1:00–1:45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"Almost every tool owns one of these five. The joins between them are a person retyping into a spreadsheet — and that's where the trail dies."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One click per row. Preckon lands last, as one unbroken span.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1:00–1:45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"Eight stages, one record. The word that matters is chain, not suite. A suite is products that share a login."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Eight quick clicks — let it build left to right like a conveyor.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1:45–2:20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"Four requirements pulled straight out of the package. Two-envelope submission. Sixty days left — read from the documents, not typed in."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One click brings the screen up, one brings the line. Then be quiet and let them read it.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Cut this slide if you are demoing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"Every measurement names its element, its sheet and its grid reference. And it tells you how confident it is. Eighty-two per cent means check this one first."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One click brings the screen up, one brings the line. Then be quiet and let them read it.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Cut this slide if you are demoing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"Look at the right-hand columns. Trace, and Accepted — by a person. Those two columns together are the entire product."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One click brings the screen up, one brings the line. Then be quiet and let them read it.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Cut this slide if you are demoing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"A hundred and four thousand priced. Fifteen thousand overhead. Four seven six six contingency. A hundred and twenty-three nine sixteen total — and every one opens up."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One click brings the screen up, one brings the line. Then be quiet and let them read it.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Cut this slide if you are demoing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"AI proposals waiting for a human decision. That subtitle is a structural property, not a marketing line."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One click brings the screen up, one brings the line. Then be quiet and let them read it.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Cut this slide if you are demoing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"Fifteen estimator-days becomes four. And the four that remain are review and judgement, not measuring."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FOUR DAYS IS DELIBERATELY CONSERVATIVE. Our own website says hours. Quote the conservative number in the room and let the pilot beat it.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2:20–3:00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DO  —  Three clicks. Same rule — name two per column, let them read the rest. The kicker line is the one to say slowly.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SAY  —  "Same three groupings as the pain slide, in the same order. Produce the numbers. Keep them true as things change. Then run the work off them."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FULL WORDING, for reference:</a:t>
            </a:r>
          </a:p>
          <a:p>
            <a:r>
              <a:rPr sz="1200">
                <a:latin typeface="Segoe UI"/>
              </a:rPr>
              <a:t>1 AI-powered QTO and BOQ generation — take-offs and BOQ from weeks to hours</a:t>
            </a:r>
          </a:p>
          <a:p>
            <a:r>
              <a:rPr sz="1200">
                <a:latin typeface="Segoe UI"/>
              </a:rPr>
              <a:t>2 Faster cost estimation and tendering — estimates and tender documents in days instead of weeks</a:t>
            </a:r>
          </a:p>
          <a:p>
            <a:r>
              <a:rPr sz="1200">
                <a:latin typeface="Segoe UI"/>
              </a:rPr>
              <a:t>3 Automated document and drawing management — single source of truth with version control</a:t>
            </a:r>
          </a:p>
          <a:p>
            <a:r>
              <a:rPr sz="1200">
                <a:latin typeface="Segoe UI"/>
              </a:rPr>
              <a:t>4 Smart design change management — instantly update quantities, costs and documentation when designs change</a:t>
            </a:r>
          </a:p>
          <a:p>
            <a:r>
              <a:rPr sz="1200">
                <a:latin typeface="Segoe UI"/>
              </a:rPr>
              <a:t>5 Integrated procurement and material management</a:t>
            </a:r>
          </a:p>
          <a:p>
            <a:r>
              <a:rPr sz="1200">
                <a:latin typeface="Segoe UI"/>
              </a:rPr>
              <a:t>6 Real-time project monitoring through live dashboards</a:t>
            </a:r>
          </a:p>
          <a:p>
            <a:r>
              <a:rPr sz="1200">
                <a:latin typeface="Segoe UI"/>
              </a:rPr>
              <a:t>7 Better cost and budget control — monitor budgets, detect variances</a:t>
            </a:r>
          </a:p>
          <a:p>
            <a:r>
              <a:rPr sz="1200">
                <a:latin typeface="Segoe UI"/>
              </a:rPr>
              <a:t>8 AI-driven forecasting and risk analysis — identify risks and cost impacts early</a:t>
            </a:r>
          </a:p>
          <a:p>
            <a:r>
              <a:rPr sz="1200">
                <a:latin typeface="Segoe UI"/>
              </a:rPr>
              <a:t>9 Centralized collaboration — architects, engineers, contractors, consultants and clients on one platform</a:t>
            </a:r>
          </a:p>
          <a:p>
            <a:r>
              <a:rPr sz="1200">
                <a:latin typeface="Segoe UI"/>
              </a:rPr>
              <a:t>10 Multi-project management from a unified workspace</a:t>
            </a:r>
          </a:p>
          <a:p>
            <a:r>
              <a:rPr sz="1200">
                <a:latin typeface="Segoe UI"/>
              </a:rPr>
              <a:t>11 Higher accuracy and reduced manual errors</a:t>
            </a:r>
          </a:p>
          <a:p>
            <a:r>
              <a:rPr sz="1200">
                <a:latin typeface="Segoe UI"/>
              </a:rPr>
              <a:t>12 End-to-end digital construction lifecycle, tender through delivery</a:t>
            </a:r>
          </a:p>
          <a:p>
            <a:r>
              <a:rPr sz="1200">
                <a:latin typeface="Segoe UI"/>
              </a:rPr>
              <a:t>13 Significant time savings — pre-construction and planning from months to days</a:t>
            </a:r>
          </a:p>
          <a:p>
            <a:r>
              <a:rPr sz="1200">
                <a:latin typeface="Segoe UI"/>
              </a:rPr>
              <a:t>14 Improved productivity and scalability at any project size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HONESTY CHECK before you present this slide. Items 5, 6 and 10 lean on parts of the platform that are not fully built: procurement stops at package grouping (RFQ, quotes and commitments are not started), and post-award cost control is not started. If someone asks whether all fourteen are live today, say which are roadmap. The build-state slide later covers you — but only if you do not oversell here.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4:20–5:05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"I'm not going to show you a case study, because we don't have one yet and you'd see through it. Here's the arithmetic instead — put your own numbers in the left-hand box and the three levers on the right recalculate."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THE INPUTS ARE ILLUSTRATIVE. Edit them in PowerPoint before the meeting if you know the client's real figures — a deck showing THEIR numbers is worth ten showing ours.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Lever 3 is the one that lands with a commercial director. One avoided pricing error on one job pays for the platform several times over. Say it plainly.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3:00–4:00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"Effort saving alone covers a year of platform cost in under three months. And that line does not include a single extra bid won, or a single pricing error caught."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The chart is a real PowerPoint chart — right-click, Edit Data, and put the client's figures in during the meeting if they give them to you. That moment does more than the rest of the deck.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$60k platform cost is a placeholder. Set it to the real proposed number.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4:00–4:50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"Documents in. The assistant proposes. A person confirms. Only then is anything committed — and it lands on a hash-chained trail. The AI cannot get past step three. Not configured not to. Structurally cannot."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STRONGEST SLIDE FOR A RISK-AVERSE ROOM. Never cut it.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4:50–5:40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"Nothing gets switched off. We read what you already produce, and we emit events your systems can react to rather than poll for."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  —  VOLUNTEER THE GAP: P6 import, calendars and baselines are specified but not built yet. The critical-path engine underneath them is real.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6:20–7:00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"Four shapes, one codebase. And I'll be straight about maturity — the first two are proven in what's running today. The second two are supported by the architecture and have not been delivered to a customer yet."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Never imply a reference customer you do not have.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7:00–7:40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SAY  —  "Three things. Six weeks. One live tender. And the third one tells you how serious we are — we're not asking you to wait while we build single sign-on. We're asking you to close that list with us."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THE GOLDEN SET IS THE HIGHEST-LEVERAGE ASK. A design set paired with its final priced bill is the most valuable thing anyone can give us. Ask directly.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8:40–9:30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DO  —  No animation here on purpose. Say the two lines slowly, then stop talking. Do not offer next steps. Let them ask the first question.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If the silence runs past ten seconds: 'What would you want to test first?' Nothing else.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TIME 9:30–10:00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reckon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03120"/>
            <a:ext cx="6035040" cy="1530536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658368" y="393192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A8C0C8"/>
                </a:solidFill>
                <a:latin typeface="Segoe UI"/>
              </a:rPr>
              <a:t>Every number knows where it came from.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5897880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080760"/>
            <a:ext cx="5029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 dirty="0">
                <a:solidFill>
                  <a:srgbClr val="7A939E"/>
                </a:solidFill>
                <a:latin typeface="Consolas"/>
              </a:rPr>
              <a:t>TECHSME </a:t>
            </a:r>
            <a:r>
              <a:rPr lang="en-US" sz="900" spc="130" dirty="0">
                <a:solidFill>
                  <a:srgbClr val="7A939E"/>
                </a:solidFill>
                <a:latin typeface="Consolas"/>
              </a:rPr>
              <a:t>DUBAI </a:t>
            </a:r>
            <a:r>
              <a:rPr sz="900" b="0" i="0" spc="130" dirty="0">
                <a:solidFill>
                  <a:srgbClr val="7A939E"/>
                </a:solidFill>
                <a:latin typeface="Consolas"/>
              </a:rPr>
              <a:t>·  CANADA · US ·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5727" y="608076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APP.PRECKON.COM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ONE TENDER, PRICED BY HAND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267712"/>
            <a:ext cx="25815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200" b="0" i="0">
                <a:solidFill>
                  <a:srgbClr val="E0A85A"/>
                </a:solidFill>
                <a:latin typeface="Consolas"/>
              </a:rPr>
              <a:t>2–6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939E"/>
                </a:solidFill>
                <a:latin typeface="Segoe UI"/>
              </a:rPr>
              <a:t>weeks per bid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2827" y="2267712"/>
            <a:ext cx="25815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200" b="0" i="0">
                <a:solidFill>
                  <a:srgbClr val="E0A85A"/>
                </a:solidFill>
                <a:latin typeface="Consolas"/>
              </a:rPr>
              <a:t>1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939E"/>
                </a:solidFill>
                <a:latin typeface="Segoe UI"/>
              </a:rPr>
              <a:t>person holds the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7287" y="2267712"/>
            <a:ext cx="25815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200" b="0" i="0">
                <a:solidFill>
                  <a:srgbClr val="E0A85A"/>
                </a:solidFill>
                <a:latin typeface="Consolas"/>
              </a:rPr>
              <a:t>100s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939E"/>
                </a:solidFill>
                <a:latin typeface="Segoe UI"/>
              </a:rPr>
              <a:t>pages read by hand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1747" y="2267712"/>
            <a:ext cx="25815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200" b="0" i="0">
                <a:solidFill>
                  <a:srgbClr val="F0837B"/>
                </a:solidFill>
                <a:latin typeface="Consolas"/>
              </a:rPr>
              <a:t>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939E"/>
                </a:solidFill>
                <a:latin typeface="Segoe UI"/>
              </a:rPr>
              <a:t>numbers you can trace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64515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E9F2F4"/>
                </a:solidFill>
                <a:latin typeface="Georgia"/>
              </a:rPr>
              <a:t>And the bid window does not move.</a:t>
            </a:r>
          </a:p>
        </p:txBody>
      </p:sp>
      <p:pic>
        <p:nvPicPr>
          <p:cNvPr id="28" name="Picture 27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WHAT THE INDUSTRY ACTUALLY COMPLAINS ABOUT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82296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400" b="1" i="0" dirty="0">
                <a:solidFill>
                  <a:srgbClr val="E9F2F4"/>
                </a:solidFill>
                <a:latin typeface="Segoe UI"/>
              </a:rPr>
              <a:t>P</a:t>
            </a:r>
            <a:r>
              <a:rPr sz="3400" b="1" i="0" dirty="0">
                <a:solidFill>
                  <a:srgbClr val="E9F2F4"/>
                </a:solidFill>
                <a:latin typeface="Segoe UI"/>
              </a:rPr>
              <a:t>ain </a:t>
            </a:r>
            <a:r>
              <a:rPr lang="en-US" sz="3400" b="1" dirty="0">
                <a:solidFill>
                  <a:srgbClr val="E9F2F4"/>
                </a:solidFill>
                <a:latin typeface="Segoe UI"/>
              </a:rPr>
              <a:t>P</a:t>
            </a:r>
            <a:r>
              <a:rPr sz="3400" b="1" i="0" dirty="0">
                <a:solidFill>
                  <a:srgbClr val="E9F2F4"/>
                </a:solidFill>
                <a:latin typeface="Segoe UI"/>
              </a:rPr>
              <a:t>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328970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E0A85A"/>
                </a:solidFill>
                <a:latin typeface="Consolas"/>
              </a:rPr>
              <a:t>INFORMATION &amp;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48839"/>
            <a:ext cx="3289706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322575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9514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Drawing and document versions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71215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84378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Manual take-offs and BOQ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419856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39242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Design changes and rework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968496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941063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Poor coordination between parties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17136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48970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Fragmented data, slow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0994" y="1874519"/>
            <a:ext cx="328970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E0A85A"/>
                </a:solidFill>
                <a:latin typeface="Consolas"/>
              </a:rPr>
              <a:t>COMMERCIAL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50994" y="2148839"/>
            <a:ext cx="3289706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50994" y="2322575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6754" y="229514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Slow estimation and tendering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0994" y="2871215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6754" y="284378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Change orders hard to manage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0994" y="3419856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6754" y="339242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Budget overruns, weak cost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0994" y="3968496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6754" y="3941063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No basis for forecast or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3620" y="1874519"/>
            <a:ext cx="328970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F0837B"/>
                </a:solidFill>
                <a:latin typeface="Consolas"/>
              </a:rPr>
              <a:t>DELIVERY &amp; OPERATIONS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43620" y="2148839"/>
            <a:ext cx="3289706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43620" y="2322575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9380" y="229514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Procurement and supply delays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2871215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09380" y="284378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Material wastage and stock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3620" y="3419856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09380" y="339242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Manual progress reporting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3620" y="3968496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9380" y="3941063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Many projects at once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3620" y="4517136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09380" y="448970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Schedule overruns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3620" y="5065776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09380" y="503834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Planning measured in months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5778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E9F2F4"/>
                </a:solidFill>
                <a:latin typeface="Georgia"/>
              </a:rPr>
              <a:t>Fifteen symptoms. One cause — the chain breaks at every handover.</a:t>
            </a:r>
          </a:p>
        </p:txBody>
      </p:sp>
      <p:pic>
        <p:nvPicPr>
          <p:cNvPr id="122" name="Picture 121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FIVE STAGES · WHO OWNS 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24328" y="1664208"/>
            <a:ext cx="17269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06127" y="1664208"/>
            <a:ext cx="17269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TAKEOFF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7927" y="1664208"/>
            <a:ext cx="17269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BOQ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9727" y="1664208"/>
            <a:ext cx="17269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ESTIMATE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1527" y="1664208"/>
            <a:ext cx="172693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PROCUREMENT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48256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A939E"/>
                </a:solidFill>
                <a:latin typeface="Segoe UI"/>
              </a:rPr>
              <a:t>Takeoff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24328" y="1956816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06127" y="1956816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2A4C58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87927" y="1956816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969727" y="1956816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751527" y="1956816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724912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A939E"/>
                </a:solidFill>
                <a:latin typeface="Segoe UI"/>
              </a:rPr>
              <a:t>Estimating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24328" y="2633472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406127" y="2633472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F2831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87927" y="2633472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F2831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969727" y="2633472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2A4C58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751527" y="2633472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401568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A939E"/>
                </a:solidFill>
                <a:latin typeface="Segoe UI"/>
              </a:rPr>
              <a:t>PM platforms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24328" y="3310128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406127" y="3310128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87927" y="3310128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969727" y="3310128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751527" y="3310128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0F2831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4078223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9F2F4"/>
                </a:solidFill>
                <a:latin typeface="Segoe UI"/>
              </a:rPr>
              <a:t>Preckon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24328" y="3986784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3EDCC2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406127" y="3986784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3EDCC2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187927" y="3986784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3EDCC2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969727" y="3986784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3EDCC2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751527" y="3986784"/>
            <a:ext cx="1726935" cy="475488"/>
          </a:xfrm>
          <a:prstGeom prst="roundRect">
            <a:avLst>
              <a:gd name="adj" fmla="val 9000"/>
            </a:avLst>
          </a:prstGeom>
          <a:solidFill>
            <a:srgbClr val="3EDCC2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52486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E9F2F4"/>
                </a:solidFill>
                <a:latin typeface="Georgia"/>
              </a:rPr>
              <a:t>The cost is in the joins.</a:t>
            </a:r>
          </a:p>
        </p:txBody>
      </p:sp>
      <p:pic>
        <p:nvPicPr>
          <p:cNvPr id="88" name="Picture 87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ONE RECORD, EIGHT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711195"/>
            <a:ext cx="1119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Tender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1428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05202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52027" y="2711195"/>
            <a:ext cx="1119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Drawings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794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4568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45687" y="2711195"/>
            <a:ext cx="1119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Specs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0160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3934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C2F2D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39347" y="2711195"/>
            <a:ext cx="1119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BOQ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9526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3300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C2F2D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3007" y="2711195"/>
            <a:ext cx="1119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Estimate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38892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62666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26667" y="2711195"/>
            <a:ext cx="1119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Programme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8258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02032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20327" y="2711195"/>
            <a:ext cx="1119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Procurement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176243" y="2743199"/>
            <a:ext cx="201168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13987" y="2450592"/>
            <a:ext cx="1119339" cy="777240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13987" y="2711195"/>
            <a:ext cx="1119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F2F4"/>
                </a:solidFill>
                <a:latin typeface="Segoe UI"/>
              </a:rPr>
              <a:t>Submission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096511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E9F2F4"/>
                </a:solidFill>
                <a:latin typeface="Georgia"/>
              </a:rPr>
              <a:t>Nothing is retyped between them.
Each stage reads what the last one confirmed.</a:t>
            </a:r>
          </a:p>
        </p:txBody>
      </p:sp>
      <p:pic>
        <p:nvPicPr>
          <p:cNvPr id="93" name="Picture 92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TENDERLOGIX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It reads the tender.</a:t>
            </a:r>
          </a:p>
        </p:txBody>
      </p:sp>
      <p:pic>
        <p:nvPicPr>
          <p:cNvPr id="6" name="Picture 5" descr="t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327" y="1417320"/>
            <a:ext cx="6858000" cy="5167360"/>
          </a:xfrm>
          <a:prstGeom prst="rect">
            <a:avLst/>
          </a:prstGeom>
          <a:ln w="12700">
            <a:solidFill>
              <a:srgbClr val="2A4C58"/>
            </a:solidFill>
          </a:ln>
          <a:effectLst/>
        </p:spPr>
      </p:pic>
      <p:pic>
        <p:nvPicPr>
          <p:cNvPr id="13" name="Picture 12" descr="preckon-mark-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DRAWLOGIX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53053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It measures, and shows its working.</a:t>
            </a:r>
          </a:p>
        </p:txBody>
      </p:sp>
      <p:pic>
        <p:nvPicPr>
          <p:cNvPr id="6" name="Picture 5" descr="tak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327" y="2101693"/>
            <a:ext cx="6858000" cy="3715318"/>
          </a:xfrm>
          <a:prstGeom prst="rect">
            <a:avLst/>
          </a:prstGeom>
          <a:ln w="12700">
            <a:solidFill>
              <a:srgbClr val="2A4C58"/>
            </a:solidFill>
          </a:ln>
          <a:effectLst/>
        </p:spPr>
      </p:pic>
      <p:pic>
        <p:nvPicPr>
          <p:cNvPr id="13" name="Picture 12" descr="preckon-mark-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QUANTLOGIX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328670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Every line has a Trace button.</a:t>
            </a:r>
          </a:p>
        </p:txBody>
      </p:sp>
      <p:pic>
        <p:nvPicPr>
          <p:cNvPr id="6" name="Picture 5" descr="boq-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887" y="1758438"/>
            <a:ext cx="6949440" cy="4282955"/>
          </a:xfrm>
          <a:prstGeom prst="rect">
            <a:avLst/>
          </a:prstGeom>
          <a:ln w="12700">
            <a:solidFill>
              <a:srgbClr val="2A4C58"/>
            </a:solidFill>
          </a:ln>
          <a:effectLst/>
        </p:spPr>
      </p:pic>
      <p:pic>
        <p:nvPicPr>
          <p:cNvPr id="13" name="Picture 12" descr="preckon-mark-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COSTLOGIX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The build-up, not just the total.</a:t>
            </a:r>
          </a:p>
        </p:txBody>
      </p:sp>
      <p:pic>
        <p:nvPicPr>
          <p:cNvPr id="6" name="Picture 5" descr="estim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087" y="1325880"/>
            <a:ext cx="6492240" cy="4969210"/>
          </a:xfrm>
          <a:prstGeom prst="rect">
            <a:avLst/>
          </a:prstGeom>
          <a:ln w="12700">
            <a:solidFill>
              <a:srgbClr val="2A4C58"/>
            </a:solidFill>
          </a:ln>
          <a:effectLst/>
        </p:spPr>
      </p:pic>
      <p:pic>
        <p:nvPicPr>
          <p:cNvPr id="13" name="Picture 12" descr="preckon-mark-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PRECKON 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Nothing here was committed by software.</a:t>
            </a:r>
          </a:p>
        </p:txBody>
      </p:sp>
      <p:pic>
        <p:nvPicPr>
          <p:cNvPr id="6" name="Picture 5" descr="review-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287" y="1481328"/>
            <a:ext cx="6035040" cy="4769963"/>
          </a:xfrm>
          <a:prstGeom prst="rect">
            <a:avLst/>
          </a:prstGeom>
          <a:ln w="12700">
            <a:solidFill>
              <a:srgbClr val="2A4C58"/>
            </a:solidFill>
          </a:ln>
          <a:effectLst/>
        </p:spPr>
      </p:pic>
      <p:pic>
        <p:nvPicPr>
          <p:cNvPr id="13" name="Picture 12" descr="preckon-mark-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SAME BID, BOTH 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810512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ESTIMATOR DAYS PER BID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860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9F2F4"/>
                </a:solidFill>
                <a:latin typeface="Segoe UI"/>
              </a:rPr>
              <a:t>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0048" y="2267712"/>
            <a:ext cx="7680960" cy="384048"/>
          </a:xfrm>
          <a:prstGeom prst="roundRect">
            <a:avLst>
              <a:gd name="adj" fmla="val 16000"/>
            </a:avLst>
          </a:prstGeom>
          <a:solidFill>
            <a:srgbClr val="0B1D25"/>
          </a:solidFill>
          <a:ln w="6350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70048" y="2267712"/>
            <a:ext cx="7680960" cy="384048"/>
          </a:xfrm>
          <a:prstGeom prst="roundRect">
            <a:avLst>
              <a:gd name="adj" fmla="val 16000"/>
            </a:avLst>
          </a:prstGeom>
          <a:solidFill>
            <a:srgbClr val="E0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97312" y="230428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0A85A"/>
                </a:solidFill>
                <a:latin typeface="Consolas"/>
              </a:rPr>
              <a:t>15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4612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9F2F4"/>
                </a:solidFill>
                <a:latin typeface="Segoe UI"/>
              </a:rPr>
              <a:t>With Preckon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0048" y="3227832"/>
            <a:ext cx="7680960" cy="384048"/>
          </a:xfrm>
          <a:prstGeom prst="roundRect">
            <a:avLst>
              <a:gd name="adj" fmla="val 16000"/>
            </a:avLst>
          </a:prstGeom>
          <a:solidFill>
            <a:srgbClr val="0B1D25"/>
          </a:solidFill>
          <a:ln w="6350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670048" y="3227832"/>
            <a:ext cx="2048256" cy="384048"/>
          </a:xfrm>
          <a:prstGeom prst="roundRect">
            <a:avLst>
              <a:gd name="adj" fmla="val 16000"/>
            </a:avLst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64608" y="326440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EDCC2"/>
                </a:solidFill>
                <a:latin typeface="Consolas"/>
              </a:rPr>
              <a:t>4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462271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11 days back, on every bid.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939E"/>
                </a:solidFill>
                <a:latin typeface="Segoe UI"/>
              </a:rPr>
              <a:t>The estimator stops measuring and starts judging — which is the part you were paying them for.</a:t>
            </a:r>
          </a:p>
        </p:txBody>
      </p:sp>
      <p:pic>
        <p:nvPicPr>
          <p:cNvPr id="36" name="Picture 35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WHAT CHANGES WHEN THE CHAIN IS JOINED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82296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400" b="1" dirty="0">
                <a:solidFill>
                  <a:srgbClr val="E9F2F4"/>
                </a:solidFill>
                <a:latin typeface="Segoe UI"/>
              </a:rPr>
              <a:t>A</a:t>
            </a:r>
            <a:r>
              <a:rPr sz="3400" b="1" i="0" dirty="0">
                <a:solidFill>
                  <a:srgbClr val="E9F2F4"/>
                </a:solidFill>
                <a:latin typeface="Segoe UI"/>
              </a:rPr>
              <a:t>dvantages.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328970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3EDCC2"/>
                </a:solidFill>
                <a:latin typeface="Consolas"/>
              </a:rPr>
              <a:t>PRODUCE THE NUMBERS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48839"/>
            <a:ext cx="3289706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322575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9514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AI take-off and BOQ — weeks to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71215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84378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Estimates and tenders in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419856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39242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Higher accuracy, fewer manual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968496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941063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Planning: months to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0994" y="1874519"/>
            <a:ext cx="328970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3EDCC2"/>
                </a:solidFill>
                <a:latin typeface="Consolas"/>
              </a:rPr>
              <a:t>KEEP THEM TRUE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50994" y="2148839"/>
            <a:ext cx="3289706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50994" y="2322575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6754" y="229514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One source of truth, versioned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0994" y="2871215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6754" y="284378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A design change updates everything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0994" y="3419856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6754" y="339242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Live budget and variance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0994" y="3968496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6754" y="3941063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AI forecasting and risk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620" y="1874519"/>
            <a:ext cx="328970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3EDCC2"/>
                </a:solidFill>
                <a:latin typeface="Consolas"/>
              </a:rPr>
              <a:t>RUN THE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43620" y="2148839"/>
            <a:ext cx="3289706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43620" y="2322575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9380" y="229514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Integrated procurement and materials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871215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9380" y="284378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Real-time dashboards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3419856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09380" y="339242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One platform for every party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3620" y="3968496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09380" y="3941063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Multi-project workspace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3620" y="4517136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9380" y="448970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End-to-end digital lifecycle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3620" y="5065776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80">
                <a:solidFill>
                  <a:srgbClr val="556E79"/>
                </a:solidFill>
                <a:latin typeface="Consolas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09380" y="5038344"/>
            <a:ext cx="292394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9F2F4"/>
                </a:solidFill>
                <a:latin typeface="Segoe UI"/>
              </a:rPr>
              <a:t>Productivity and 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5778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3EDCC2"/>
                </a:solidFill>
                <a:latin typeface="Georgia"/>
              </a:rPr>
              <a:t>Weeks to hours. Months to days. And every number still names its source.</a:t>
            </a:r>
          </a:p>
        </p:txBody>
      </p:sp>
      <p:pic>
        <p:nvPicPr>
          <p:cNvPr id="116" name="Picture 115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THE ARITHMETIC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Put your own numbers 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697480"/>
            <a:ext cx="3931920" cy="2670048"/>
          </a:xfrm>
          <a:prstGeom prst="roundRect">
            <a:avLst>
              <a:gd name="adj" fmla="val 4500"/>
            </a:avLst>
          </a:prstGeom>
          <a:solidFill>
            <a:srgbClr val="0B1D25"/>
          </a:solidFill>
          <a:ln w="9525">
            <a:solidFill>
              <a:srgbClr val="2A4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898648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 spc="130">
                <a:solidFill>
                  <a:srgbClr val="E0A85A"/>
                </a:solidFill>
                <a:latin typeface="Consolas"/>
              </a:rPr>
              <a:t>INPUTS — REPLACE WITH YOURS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246120"/>
            <a:ext cx="23317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Bids per year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Estimator days per bid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Cost per estimator-day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Average contract value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Win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3246120"/>
            <a:ext cx="124358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E9F2F4"/>
                </a:solidFill>
                <a:latin typeface="Consolas"/>
              </a:rPr>
              <a:t>40</a:t>
            </a:r>
          </a:p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E9F2F4"/>
                </a:solidFill>
                <a:latin typeface="Consolas"/>
              </a:rPr>
              <a:t>15</a:t>
            </a:r>
          </a:p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E9F2F4"/>
                </a:solidFill>
                <a:latin typeface="Consolas"/>
              </a:rPr>
              <a:t>$600</a:t>
            </a:r>
          </a:p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E9F2F4"/>
                </a:solidFill>
                <a:latin typeface="Consolas"/>
              </a:rPr>
              <a:t>$8M</a:t>
            </a:r>
          </a:p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E9F2F4"/>
                </a:solidFill>
                <a:latin typeface="Consolas"/>
              </a:rPr>
              <a:t>20%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697480"/>
            <a:ext cx="6784848" cy="914400"/>
          </a:xfrm>
          <a:prstGeom prst="roundRect">
            <a:avLst>
              <a:gd name="adj" fmla="val 5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56048" y="28803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3EDCC2"/>
                </a:solidFill>
                <a:latin typeface="Consolas"/>
              </a:rPr>
              <a:t>$264k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843784"/>
            <a:ext cx="4617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C0C8"/>
                </a:solidFill>
                <a:latin typeface="Segoe UI"/>
              </a:rPr>
              <a:t>saved a year in estimating effort
440 estimator-days returned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67919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556E79"/>
                </a:solidFill>
                <a:latin typeface="Consolas"/>
              </a:rPr>
              <a:t>LEVER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730752"/>
            <a:ext cx="6784848" cy="914400"/>
          </a:xfrm>
          <a:prstGeom prst="roundRect">
            <a:avLst>
              <a:gd name="adj" fmla="val 5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56048" y="3913632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3EDCC2"/>
                </a:solidFill>
                <a:latin typeface="Consolas"/>
              </a:rPr>
              <a:t>+10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877056"/>
            <a:ext cx="4617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C0C8"/>
                </a:solidFill>
                <a:latin typeface="Segoe UI"/>
              </a:rPr>
              <a:t>more bids a year with the same team
≈ 2 extra wins at a 20%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3712464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556E79"/>
                </a:solidFill>
                <a:latin typeface="Consolas"/>
              </a:rPr>
              <a:t>LEVER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4764024"/>
            <a:ext cx="6784848" cy="914400"/>
          </a:xfrm>
          <a:prstGeom prst="roundRect">
            <a:avLst>
              <a:gd name="adj" fmla="val 5000"/>
            </a:avLst>
          </a:prstGeom>
          <a:solidFill>
            <a:srgbClr val="071319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56048" y="4946904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3EDCC2"/>
                </a:solidFill>
                <a:latin typeface="Consolas"/>
              </a:rPr>
              <a:t>$80k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910328"/>
            <a:ext cx="4617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C0C8"/>
                </a:solidFill>
                <a:latin typeface="Segoe UI"/>
              </a:rPr>
              <a:t>one 1% pricing error avoided on one $8M job
is worth more than the licence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4745736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556E79"/>
                </a:solidFill>
                <a:latin typeface="Consolas"/>
              </a:rPr>
              <a:t>LEVER 3</a:t>
            </a:r>
          </a:p>
        </p:txBody>
      </p:sp>
      <p:pic>
        <p:nvPicPr>
          <p:cNvPr id="56" name="Picture 55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PAYBACK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67612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9F2F4"/>
                </a:solidFill>
                <a:latin typeface="Segoe UI"/>
              </a:rPr>
              <a:t>Under three months.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617720" y="1696212"/>
          <a:ext cx="69037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2793492"/>
            <a:ext cx="39319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4800" b="0" i="0">
                <a:solidFill>
                  <a:srgbClr val="3EDCC2"/>
                </a:solidFill>
                <a:latin typeface="Consolas"/>
              </a:rPr>
              <a:t>2.7</a:t>
            </a:r>
            <a:r>
              <a:rPr sz="1500" b="0" i="0">
                <a:solidFill>
                  <a:srgbClr val="7A939E"/>
                </a:solidFill>
                <a:latin typeface="Segoe UI"/>
              </a:rPr>
              <a:t> months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A8C0C8"/>
                </a:solidFill>
                <a:latin typeface="Segoe UI"/>
              </a:rPr>
              <a:t>to cover a year of platform cost from estimating effort alone.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A939E"/>
                </a:solidFill>
                <a:latin typeface="Segoe UI"/>
              </a:rPr>
              <a:t>Levers 2 and 3 are not in this chart. Neither is a single won bid.</a:t>
            </a:r>
          </a:p>
        </p:txBody>
      </p:sp>
      <p:pic>
        <p:nvPicPr>
          <p:cNvPr id="13" name="Picture 12" descr="preckon-mark-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HOW A NUMBER BECOMES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1867753" cy="1234440"/>
          </a:xfrm>
          <a:prstGeom prst="roundRect">
            <a:avLst>
              <a:gd name="adj" fmla="val 6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2212848"/>
            <a:ext cx="1648297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F2F4"/>
                </a:solidFill>
                <a:latin typeface="Segoe UI"/>
              </a:rPr>
              <a:t>Documents
&amp; drawings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99273" y="2487168"/>
            <a:ext cx="237744" cy="201168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10169" y="1965960"/>
            <a:ext cx="1867753" cy="1234440"/>
          </a:xfrm>
          <a:prstGeom prst="roundRect">
            <a:avLst>
              <a:gd name="adj" fmla="val 6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9897" y="2212848"/>
            <a:ext cx="1648297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F2F4"/>
                </a:solidFill>
                <a:latin typeface="Segoe UI"/>
              </a:rPr>
              <a:t>The assistant
proposes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51074" y="2487168"/>
            <a:ext cx="237744" cy="201168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61970" y="1965960"/>
            <a:ext cx="1867753" cy="1234440"/>
          </a:xfrm>
          <a:prstGeom prst="roundRect">
            <a:avLst>
              <a:gd name="adj" fmla="val 6000"/>
            </a:avLst>
          </a:prstGeom>
          <a:solidFill>
            <a:srgbClr val="0C2F2D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71698" y="2212848"/>
            <a:ext cx="1648297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F2F4"/>
                </a:solidFill>
                <a:latin typeface="Segoe UI"/>
              </a:rPr>
              <a:t>A person
confirms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02876" y="2487168"/>
            <a:ext cx="237744" cy="201168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13772" y="1965960"/>
            <a:ext cx="1867753" cy="1234440"/>
          </a:xfrm>
          <a:prstGeom prst="roundRect">
            <a:avLst>
              <a:gd name="adj" fmla="val 6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23500" y="2212848"/>
            <a:ext cx="1648297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F2F4"/>
                </a:solidFill>
                <a:latin typeface="Segoe UI"/>
              </a:rPr>
              <a:t>The record
is committed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54677" y="2487168"/>
            <a:ext cx="237744" cy="201168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65573" y="1965960"/>
            <a:ext cx="1867753" cy="1234440"/>
          </a:xfrm>
          <a:prstGeom prst="roundRect">
            <a:avLst>
              <a:gd name="adj" fmla="val 6000"/>
            </a:avLst>
          </a:prstGeom>
          <a:solidFill>
            <a:srgbClr val="0C2F2D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75301" y="2212848"/>
            <a:ext cx="1648297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F2F4"/>
                </a:solidFill>
                <a:latin typeface="Segoe UI"/>
              </a:rPr>
              <a:t>Hash-chained
audit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1970" y="3401568"/>
            <a:ext cx="1867753" cy="475488"/>
          </a:xfrm>
          <a:prstGeom prst="roundRect">
            <a:avLst>
              <a:gd name="adj" fmla="val 14000"/>
            </a:avLst>
          </a:prstGeom>
          <a:solidFill>
            <a:srgbClr val="2C1715"/>
          </a:solidFill>
          <a:ln w="9525">
            <a:solidFill>
              <a:srgbClr val="F08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61970" y="3511296"/>
            <a:ext cx="186775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 spc="60">
                <a:solidFill>
                  <a:srgbClr val="F0837B"/>
                </a:solidFill>
                <a:latin typeface="Consolas"/>
              </a:rPr>
              <a:t>AI CANNOT PASS THIS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5262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E9F2F4"/>
                </a:solidFill>
                <a:latin typeface="Georgia"/>
              </a:rPr>
              <a:t>The assistant has four calls. None of them writes a business record.</a:t>
            </a:r>
          </a:p>
        </p:txBody>
      </p:sp>
      <p:pic>
        <p:nvPicPr>
          <p:cNvPr id="68" name="Picture 67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IT FITS WHAT YOU ALREADY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2084832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17627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PDF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54096" y="2212848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2651760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743199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DWG · DXF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54096" y="2779776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3218687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33101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IFC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54096" y="3346704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8368" y="3785616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87705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Excel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054096" y="3913632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8368" y="4352544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444398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P6 XER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54096" y="4480559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8368" y="4919472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501091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ERP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054096" y="5047488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794760" y="2313432"/>
            <a:ext cx="4572000" cy="3246120"/>
          </a:xfrm>
          <a:prstGeom prst="roundRect">
            <a:avLst>
              <a:gd name="adj" fmla="val 5000"/>
            </a:avLst>
          </a:prstGeom>
          <a:solidFill>
            <a:srgbClr val="0C2F2D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23360" y="2724912"/>
            <a:ext cx="41148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3000" b="1" i="0">
                <a:solidFill>
                  <a:srgbClr val="E9F2F4"/>
                </a:solidFill>
                <a:latin typeface="Segoe UI"/>
              </a:rPr>
              <a:t>Preckon</a:t>
            </a:r>
          </a:p>
          <a:p>
            <a:pPr algn="ctr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A8C0C8"/>
                </a:solidFill>
                <a:latin typeface="Segoe UI"/>
              </a:rPr>
              <a:t>90 typed API routes</a:t>
            </a:r>
          </a:p>
          <a:p>
            <a:pPr algn="ctr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A8C0C8"/>
                </a:solidFill>
                <a:latin typeface="Segoe UI"/>
              </a:rPr>
              <a:t>Domain events, not polling</a:t>
            </a:r>
          </a:p>
          <a:p>
            <a:pPr algn="ctr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A8C0C8"/>
                </a:solidFill>
                <a:latin typeface="Segoe UI"/>
              </a:rPr>
              <a:t>Read once · content-hashed</a:t>
            </a:r>
          </a:p>
          <a:p>
            <a:pPr algn="ctr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A8C0C8"/>
                </a:solidFill>
                <a:latin typeface="Segoe UI"/>
              </a:rPr>
              <a:t>Connector SDK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62872" y="2084832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62872" y="217627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BOQ export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458200" y="2212848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262872" y="2651760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62872" y="2743199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Estimate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458200" y="2779776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262872" y="3218687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62872" y="33101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Programme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458200" y="3346704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262872" y="3785616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62872" y="387705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Packages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458200" y="3913632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262872" y="4352544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62872" y="444398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Audit trail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458200" y="4480559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262872" y="4919472"/>
            <a:ext cx="2286000" cy="438912"/>
          </a:xfrm>
          <a:prstGeom prst="roundRect">
            <a:avLst>
              <a:gd name="adj" fmla="val 10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62872" y="501091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9F2F4"/>
                </a:solidFill>
                <a:latin typeface="Segoe UI"/>
              </a:rPr>
              <a:t>Webhooks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458200" y="5047488"/>
            <a:ext cx="237744" cy="182880"/>
          </a:xfrm>
          <a:prstGeom prst="rightArrow">
            <a:avLst/>
          </a:prstGeom>
          <a:solidFill>
            <a:srgbClr val="3E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" y="181051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2872" y="181051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OUT</a:t>
            </a:r>
          </a:p>
        </p:txBody>
      </p:sp>
      <p:pic>
        <p:nvPicPr>
          <p:cNvPr id="123" name="Picture 122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WHERE IT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2039111"/>
            <a:ext cx="2526715" cy="1965960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2313432"/>
            <a:ext cx="21243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SaaS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Multi-tenant, managed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3EDCC2"/>
                </a:solidFill>
                <a:latin typeface="Consolas"/>
              </a:rPr>
              <a:t>PROVEN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1115" y="2039111"/>
            <a:ext cx="2526715" cy="1965960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42283" y="2313432"/>
            <a:ext cx="21243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Dedicated cloud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Your region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3EDCC2"/>
                </a:solidFill>
                <a:latin typeface="Consolas"/>
              </a:rPr>
              <a:t>PROVEN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2039111"/>
            <a:ext cx="2526715" cy="1965960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5031" y="2313432"/>
            <a:ext cx="21243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Private AI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Inference in your boundary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E0A85A"/>
                </a:solidFill>
                <a:latin typeface="Consolas"/>
              </a:rPr>
              <a:t>ARCHITECTURE 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611" y="2039111"/>
            <a:ext cx="2526715" cy="1965960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07779" y="2313432"/>
            <a:ext cx="21243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Sovereign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On-premise, models included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E0A85A"/>
                </a:solidFill>
                <a:latin typeface="Consolas"/>
              </a:rPr>
              <a:t>ARCHITECTURE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50799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E9F2F4"/>
                </a:solidFill>
                <a:latin typeface="Georgia"/>
              </a:rPr>
              <a:t>One codebase. The deployment shape is configuration, not a fork.</a:t>
            </a:r>
          </a:p>
        </p:txBody>
      </p:sp>
      <p:pic>
        <p:nvPicPr>
          <p:cNvPr id="40" name="Picture 39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WHAT WE'RE ASKING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81912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9F2F4"/>
                </a:solidFill>
                <a:latin typeface="Segoe UI"/>
              </a:rPr>
              <a:t>One bid. Six weeks.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136392"/>
            <a:ext cx="3454298" cy="1874519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3364992"/>
            <a:ext cx="301538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900" b="1" i="0" spc="120">
                <a:solidFill>
                  <a:srgbClr val="3EDCC2"/>
                </a:solidFill>
                <a:latin typeface="Consolas"/>
              </a:rPr>
              <a:t>01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A live tender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One project, one team, measured against a bid you have already priced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698" y="3136392"/>
            <a:ext cx="3454298" cy="1874519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3E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88154" y="3364992"/>
            <a:ext cx="301538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900" b="1" i="0" spc="120">
                <a:solidFill>
                  <a:srgbClr val="3EDCC2"/>
                </a:solidFill>
                <a:latin typeface="Consolas"/>
              </a:rPr>
              <a:t>02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A golden set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One design set with its final priced bill — we test against it, in front of you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9028" y="3136392"/>
            <a:ext cx="3454298" cy="1874519"/>
          </a:xfrm>
          <a:prstGeom prst="roundRect">
            <a:avLst>
              <a:gd name="adj" fmla="val 5000"/>
            </a:avLst>
          </a:prstGeom>
          <a:solidFill>
            <a:srgbClr val="0B1D25"/>
          </a:solidFill>
          <a:ln w="9525">
            <a:solidFill>
              <a:srgbClr val="1B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98484" y="3364992"/>
            <a:ext cx="301538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900" b="1" i="0" spc="120">
                <a:solidFill>
                  <a:srgbClr val="3EDCC2"/>
                </a:solidFill>
                <a:latin typeface="Consolas"/>
              </a:rPr>
              <a:t>03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E9F2F4"/>
                </a:solidFill>
                <a:latin typeface="Segoe UI"/>
              </a:rPr>
              <a:t>A security counterpart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939E"/>
                </a:solidFill>
                <a:latin typeface="Segoe UI"/>
              </a:rPr>
              <a:t>Someone who closes the gap list with us in the same six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33095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939E"/>
                </a:solidFill>
                <a:latin typeface="Segoe UI"/>
              </a:rPr>
              <a:t>Not asking for: a migration, anything switched off, or a decision today.</a:t>
            </a:r>
          </a:p>
        </p:txBody>
      </p:sp>
      <p:pic>
        <p:nvPicPr>
          <p:cNvPr id="32" name="Picture 31" descr="preckon-mark-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361" y="6309360"/>
            <a:ext cx="164965" cy="237744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1460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9F2F4"/>
                </a:solidFill>
                <a:latin typeface="Segoe UI"/>
              </a:rPr>
              <a:t>Every number can name
where it came from.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4348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3EDCC2"/>
                </a:solidFill>
                <a:latin typeface="Georgia"/>
              </a:rPr>
              <a:t>That is the whole product. The rest is speed.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5897880"/>
            <a:ext cx="10874959" cy="9525"/>
          </a:xfrm>
          <a:prstGeom prst="rect">
            <a:avLst/>
          </a:prstGeom>
          <a:solidFill>
            <a:srgbClr val="1B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1264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 spc="130">
                <a:solidFill>
                  <a:srgbClr val="7A939E"/>
                </a:solidFill>
                <a:latin typeface="Consolas"/>
              </a:rPr>
              <a:t>APP.PRECKON.COM</a:t>
            </a:r>
          </a:p>
        </p:txBody>
      </p:sp>
      <p:pic>
        <p:nvPicPr>
          <p:cNvPr id="7" name="Picture 6" descr="preckon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4487" y="6016752"/>
            <a:ext cx="2148840" cy="544964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2410</Words>
  <Application>Microsoft Office PowerPoint</Application>
  <PresentationFormat>Widescreen</PresentationFormat>
  <Paragraphs>344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Consolas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IKIO</cp:lastModifiedBy>
  <cp:revision>3</cp:revision>
  <dcterms:created xsi:type="dcterms:W3CDTF">2013-01-27T09:14:16Z</dcterms:created>
  <dcterms:modified xsi:type="dcterms:W3CDTF">2026-08-24T17:43:43Z</dcterms:modified>
  <cp:category/>
</cp:coreProperties>
</file>