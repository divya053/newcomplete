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75" r:id="rId27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76" r:id="rId28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benefit  ($k)</c:v>
                </c:pt>
              </c:strCache>
            </c:strRef>
          </c:tx>
          <c:spPr>
            <a:ln w="31750">
              <a:solidFill>
                <a:srgbClr val="3EDCC2"/>
              </a:solidFill>
            </a:ln>
          </c:spPr>
          <c:marker>
            <c:symbol val="circle"/>
            <c:size val="6"/>
            <c:spPr>
              <a:solidFill>
                <a:srgbClr val="3EDCC2"/>
              </a:solidFill>
              <a:ln w="12700">
                <a:solidFill>
                  <a:srgbClr val="3EDCC2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</c:v>
                </c:pt>
                <c:pt idx="1">
                  <c:v>44</c:v>
                </c:pt>
                <c:pt idx="2">
                  <c:v>66</c:v>
                </c:pt>
                <c:pt idx="3">
                  <c:v>88</c:v>
                </c:pt>
                <c:pt idx="4">
                  <c:v>110</c:v>
                </c:pt>
                <c:pt idx="5">
                  <c:v>132</c:v>
                </c:pt>
                <c:pt idx="6">
                  <c:v>154</c:v>
                </c:pt>
                <c:pt idx="7">
                  <c:v>176</c:v>
                </c:pt>
                <c:pt idx="8">
                  <c:v>198</c:v>
                </c:pt>
                <c:pt idx="9">
                  <c:v>220</c:v>
                </c:pt>
                <c:pt idx="10">
                  <c:v>242</c:v>
                </c:pt>
                <c:pt idx="11">
                  <c:v>264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platform cost  ($k)</c:v>
                </c:pt>
              </c:strCache>
            </c:strRef>
          </c:tx>
          <c:spPr>
            <a:ln w="31750">
              <a:solidFill>
                <a:srgbClr val="E0A85A"/>
              </a:solidFill>
            </a:ln>
          </c:spPr>
          <c:marker>
            <c:symbol val="circle"/>
            <c:size val="6"/>
            <c:spPr>
              <a:solidFill>
                <a:srgbClr val="E0A85A"/>
              </a:solidFill>
              <a:ln w="12700">
                <a:solidFill>
                  <a:srgbClr val="E0A85A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60</c:v>
                </c:pt>
                <c:pt idx="7">
                  <c:v>60</c:v>
                </c:pt>
                <c:pt idx="8">
                  <c:v>60</c:v>
                </c:pt>
                <c:pt idx="9">
                  <c:v>60</c:v>
                </c:pt>
                <c:pt idx="10">
                  <c:v>60</c:v>
                </c:pt>
                <c:pt idx="11">
                  <c:v>60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2A4C58"/>
            </a:solidFill>
          </a:ln>
        </c:spPr>
        <c:txPr>
          <a:bodyPr/>
          <a:lstStyle/>
          <a:p>
            <a:pPr>
              <a:defRPr sz="900">
                <a:solidFill>
                  <a:srgbClr val="7A939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1B333D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56E79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A8C0C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7A939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Stand still. Say the line on the slide, then nothing for two seconds.</a:t>
            </a:r>
          </a:p>
          <a:p/>
          <a:p>
            <a:r>
              <a:rPr sz="1200">
                <a:latin typeface="Segoe UI"/>
              </a:rPr>
              <a:t>SAY  —  "Preckon. Every number knows where it came from. That's the whole product — I'll spend the next fifteen minutes proving it."</a:t>
            </a:r>
          </a:p>
          <a:p/>
          <a:p>
            <a:r>
              <a:rPr sz="1200">
                <a:latin typeface="Segoe UI"/>
              </a:rPr>
              <a:t>TIME 0:00–0:20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"Two to six weeks. One person who holds the method. A few hundred pages read by hand. And zero numbers you can trace back to the drawing they came off."</a:t>
            </a:r>
          </a:p>
          <a:p/>
          <a:p>
            <a:r>
              <a:rPr sz="1200">
                <a:latin typeface="Segoe UI"/>
              </a:rPr>
              <a:t>DO  —  Four clicks. Land hard on the zero, then click once more for the line.</a:t>
            </a:r>
          </a:p>
          <a:p/>
          <a:p>
            <a:r>
              <a:rPr sz="1200">
                <a:latin typeface="Segoe UI"/>
              </a:rPr>
              <a:t>TIME 0:20–1:00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"Almost every tool owns one of these five. The joins between them are a person retyping into a spreadsheet — and that's where the trail dies."</a:t>
            </a:r>
          </a:p>
          <a:p/>
          <a:p>
            <a:r>
              <a:rPr sz="1200">
                <a:latin typeface="Segoe UI"/>
              </a:rPr>
              <a:t>DO  —  One click per row. Preckon lands last, as one unbroken span.</a:t>
            </a:r>
          </a:p>
          <a:p/>
          <a:p>
            <a:r>
              <a:rPr sz="1200">
                <a:latin typeface="Segoe UI"/>
              </a:rPr>
              <a:t>TIME 1:00–1:45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"Eight stages, one record. The word that matters is chain, not suite. A suite is products that share a login."</a:t>
            </a:r>
          </a:p>
          <a:p/>
          <a:p>
            <a:r>
              <a:rPr sz="1200">
                <a:latin typeface="Segoe UI"/>
              </a:rPr>
              <a:t>DO  —  Eight quick clicks — let it build left to right like a conveyor.</a:t>
            </a:r>
          </a:p>
          <a:p/>
          <a:p>
            <a:r>
              <a:rPr sz="1200">
                <a:latin typeface="Segoe UI"/>
              </a:rPr>
              <a:t>TIME 1:45–2:20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"Four requirements pulled straight out of the package. Two-envelope submission. Sixty days left — read from the documents, not typed in."</a:t>
            </a:r>
          </a:p>
          <a:p/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/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"Every measurement names its element, its sheet and its grid reference. And it tells you how confident it is. Eighty-two per cent means check this one first."</a:t>
            </a:r>
          </a:p>
          <a:p/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/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"Look at the right-hand columns. Trace, and Accepted — by a person. Those two columns together are the entire product."</a:t>
            </a:r>
          </a:p>
          <a:p/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/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"A hundred and four thousand priced. Fifteen thousand overhead. Four seven six six contingency. A hundred and twenty-three nine sixteen total — and every one opens up."</a:t>
            </a:r>
          </a:p>
          <a:p/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/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"AI proposals waiting for a human decision. That subtitle is a structural property, not a marketing line."</a:t>
            </a:r>
          </a:p>
          <a:p/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/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"Fifteen estimator-days becomes four. And the four that remain are review and judgement, not measuring."</a:t>
            </a:r>
          </a:p>
          <a:p/>
          <a:p>
            <a:r>
              <a:rPr sz="1200">
                <a:latin typeface="Segoe UI"/>
              </a:rPr>
              <a:t>DO  —  FOUR DAYS IS DELIBERATELY CONSERVATIVE. Our own website says hours. Quote the conservative number in the room and let the pilot beat it.</a:t>
            </a:r>
          </a:p>
          <a:p/>
          <a:p>
            <a:r>
              <a:rPr sz="1200">
                <a:latin typeface="Segoe UI"/>
              </a:rPr>
              <a:t>TIME 2:20–3:00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"I'm not going to show you a case study, because we don't have one yet and you'd see through it. Here's the arithmetic instead — put your own numbers in the left-hand box and the three levers on the right recalculate."</a:t>
            </a:r>
          </a:p>
          <a:p/>
          <a:p>
            <a:r>
              <a:rPr sz="1200">
                <a:latin typeface="Segoe UI"/>
              </a:rPr>
              <a:t>DO  —  THE INPUTS ARE ILLUSTRATIVE. Edit them in PowerPoint before the meeting if you know the client's real figures — a deck showing THEIR numbers is worth ten showing ours.</a:t>
            </a:r>
          </a:p>
          <a:p/>
          <a:p>
            <a:r>
              <a:rPr sz="1200">
                <a:latin typeface="Segoe UI"/>
              </a:rPr>
              <a:t>Lever 3 is the one that lands with a commercial director. One avoided pricing error on one job pays for the platform several times over. Say it plainly.</a:t>
            </a:r>
          </a:p>
          <a:p/>
          <a:p>
            <a:r>
              <a:rPr sz="1200">
                <a:latin typeface="Segoe UI"/>
              </a:rPr>
              <a:t>TIME 3:00–4:00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"Effort saving alone covers a year of platform cost in under three months. And that line does not include a single extra bid won, or a single pricing error caught."</a:t>
            </a:r>
          </a:p>
          <a:p/>
          <a:p>
            <a:r>
              <a:rPr sz="1200">
                <a:latin typeface="Segoe UI"/>
              </a:rPr>
              <a:t>DO  —  The chart is a real PowerPoint chart — right-click, Edit Data, and put the client's figures in during the meeting if they give them to you. That moment does more than the rest of the deck.</a:t>
            </a:r>
          </a:p>
          <a:p/>
          <a:p>
            <a:r>
              <a:rPr sz="1200">
                <a:latin typeface="Segoe UI"/>
              </a:rPr>
              <a:t>$60k platform cost is a placeholder. Set it to the real proposed number.</a:t>
            </a:r>
          </a:p>
          <a:p/>
          <a:p>
            <a:r>
              <a:rPr sz="1200">
                <a:latin typeface="Segoe UI"/>
              </a:rPr>
              <a:t>TIME 4:00–4:50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"Documents in. The assistant proposes. A person confirms. Only then is anything committed — and it lands on a hash-chained trail. The AI cannot get past step three. Not configured not to. Structurally cannot."</a:t>
            </a:r>
          </a:p>
          <a:p/>
          <a:p>
            <a:r>
              <a:rPr sz="1200">
                <a:latin typeface="Segoe UI"/>
              </a:rPr>
              <a:t>STRONGEST SLIDE FOR A RISK-AVERSE ROOM. Never cut it.</a:t>
            </a:r>
          </a:p>
          <a:p/>
          <a:p>
            <a:r>
              <a:rPr sz="1200">
                <a:latin typeface="Segoe UI"/>
              </a:rPr>
              <a:t>TIME 4:50–5:40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"Most of what looks like AI in this product is thirty-four deterministic engines doing arithmetic. Critical path. Measurement. Reconciling the bill. A frontier model is the sixth thing we try, not the first."</a:t>
            </a:r>
          </a:p>
          <a:p/>
          <a:p>
            <a:r>
              <a:rPr sz="1200">
                <a:latin typeface="Segoe UI"/>
              </a:rPr>
              <a:t>This retires three objections at once: accuracy, cost and data sovereignty. The bars are illustrative of share of work, not measured telemetry.</a:t>
            </a:r>
          </a:p>
          <a:p/>
          <a:p>
            <a:r>
              <a:rPr sz="1200">
                <a:latin typeface="Segoe UI"/>
              </a:rPr>
              <a:t>TIME 5:40–6:20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"Nothing gets switched off. We read what you already produce, and we emit events your systems can react to rather than poll for."</a:t>
            </a:r>
          </a:p>
          <a:p/>
          <a:p>
            <a:r>
              <a:rPr sz="1200">
                <a:latin typeface="Segoe UI"/>
              </a:rPr>
              <a:t>DO  —  VOLUNTEER THE GAP: P6 import, calendars and baselines are specified but not built yet. The critical-path engine underneath them is real.</a:t>
            </a:r>
          </a:p>
          <a:p/>
          <a:p>
            <a:r>
              <a:rPr sz="1200">
                <a:latin typeface="Segoe UI"/>
              </a:rPr>
              <a:t>TIME 6:20–7:00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"Four shapes, one codebase. And I'll be straight about maturity — the first two are proven in what's running today. The second two are supported by the architecture and have not been delivered to a customer yet."</a:t>
            </a:r>
          </a:p>
          <a:p/>
          <a:p>
            <a:r>
              <a:rPr sz="1200">
                <a:latin typeface="Segoe UI"/>
              </a:rPr>
              <a:t>Never imply a reference customer you do not have.</a:t>
            </a:r>
          </a:p>
          <a:p/>
          <a:p>
            <a:r>
              <a:rPr sz="1200">
                <a:latin typeface="Segoe UI"/>
              </a:rPr>
              <a:t>TIME 7:00–7:40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"Seventy-nine per cent, measured against the specification as written — not against a roadmap we could quietly move."</a:t>
            </a:r>
          </a:p>
          <a:p/>
          <a:p>
            <a:r>
              <a:rPr sz="1200">
                <a:latin typeface="Segoe UI"/>
              </a:rPr>
              <a:t>DO  —  READ THE AMBER BAR OUT LOUD. Sixteen open P0s and those are the six that matter to an enterprise buyer. You will be found out in diligence otherwise.</a:t>
            </a:r>
          </a:p>
          <a:p/>
          <a:p>
            <a:r>
              <a:rPr sz="1200">
                <a:latin typeface="Segoe UI"/>
              </a:rPr>
              <a:t>DO  —  Our own website still lists SSO and encryption at rest as live. They are not. Say so before anyone raises it.</a:t>
            </a:r>
          </a:p>
          <a:p/>
          <a:p>
            <a:r>
              <a:rPr sz="1200">
                <a:latin typeface="Segoe UI"/>
              </a:rPr>
              <a:t>NEVER CUT. This slide is what makes the rest believable.  TIME 7:40–8:40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"Three things. Six weeks. One live tender. And the third one tells you how serious we are — we're not asking you to wait while we build single sign-on. We're asking you to close that list with us."</a:t>
            </a:r>
          </a:p>
          <a:p/>
          <a:p>
            <a:r>
              <a:rPr sz="1200">
                <a:latin typeface="Segoe UI"/>
              </a:rPr>
              <a:t>THE GOLDEN SET IS THE HIGHEST-LEVERAGE ASK. A design set paired with its final priced bill is the most valuable thing anyone can give us. Ask directly.</a:t>
            </a:r>
          </a:p>
          <a:p/>
          <a:p>
            <a:r>
              <a:rPr sz="1200">
                <a:latin typeface="Segoe UI"/>
              </a:rPr>
              <a:t>TIME 8:40–9:30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No animation here on purpose. Say the two lines slowly, then stop talking. Do not offer next steps. Let them ask the first question.</a:t>
            </a:r>
          </a:p>
          <a:p/>
          <a:p>
            <a:r>
              <a:rPr sz="1200">
                <a:latin typeface="Segoe UI"/>
              </a:rPr>
              <a:t>If the silence runs past ten seconds: 'What would you want to test first?' Nothing else.</a:t>
            </a:r>
          </a:p>
          <a:p/>
          <a:p>
            <a:r>
              <a:rPr sz="1200">
                <a:latin typeface="Segoe UI"/>
              </a:rPr>
              <a:t>TIME 9:30–10:00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Three clicks — one per column. Do NOT read fifteen items aloud. The filled card in each column is the one to say out loud; let them read the rest.</a:t>
            </a:r>
          </a:p>
          <a:p/>
          <a:p>
            <a:r>
              <a:rPr sz="1200">
                <a:latin typeface="Segoe UI"/>
              </a:rPr>
              <a:t>SAY  —  "These are not our list. They came out of talking to construction clients, and every one of them is somebody's actual week."</a:t>
            </a:r>
          </a:p>
          <a:p/>
          <a:p>
            <a:r>
              <a:rPr sz="1200">
                <a:latin typeface="Segoe UI"/>
              </a:rPr>
              <a:t>THE THREE HIGHLIGHTED CARDS are the ones Preckon answers most directly — manual take-offs, slow tendering, and planning measured in months. They line up with the three highlighted advantages later.</a:t>
            </a:r>
          </a:p>
          <a:p/>
          <a:p>
            <a:r>
              <a:rPr sz="1200">
                <a:latin typeface="Segoe UI"/>
              </a:rPr>
              <a:t>FULL WORDING, for reference:</a:t>
            </a:r>
          </a:p>
          <a:p>
            <a:r>
              <a:rPr sz="1200">
                <a:latin typeface="Segoe UI"/>
              </a:rPr>
              <a:t>1 Document and drawing version management challenges</a:t>
            </a:r>
          </a:p>
          <a:p>
            <a:r>
              <a:rPr sz="1200">
                <a:latin typeface="Segoe UI"/>
              </a:rPr>
              <a:t>2 Manual quantity take-offs (QTO) and BOQ preparation</a:t>
            </a:r>
          </a:p>
          <a:p>
            <a:r>
              <a:rPr sz="1200">
                <a:latin typeface="Segoe UI"/>
              </a:rPr>
              <a:t>3 Time-consuming cost estimation and tendering</a:t>
            </a:r>
          </a:p>
          <a:p>
            <a:r>
              <a:rPr sz="1200">
                <a:latin typeface="Segoe UI"/>
              </a:rPr>
              <a:t>4 Frequent design changes and rework</a:t>
            </a:r>
          </a:p>
          <a:p>
            <a:r>
              <a:rPr sz="1200">
                <a:latin typeface="Segoe UI"/>
              </a:rPr>
              <a:t>5 Change order management difficulties</a:t>
            </a:r>
          </a:p>
          <a:p>
            <a:r>
              <a:rPr sz="1200">
                <a:latin typeface="Segoe UI"/>
              </a:rPr>
              <a:t>6 Delayed procurement and supply chain disruptions</a:t>
            </a:r>
          </a:p>
          <a:p>
            <a:r>
              <a:rPr sz="1200">
                <a:latin typeface="Segoe UI"/>
              </a:rPr>
              <a:t>7 Material wastage and inventory issues</a:t>
            </a:r>
          </a:p>
          <a:p>
            <a:r>
              <a:rPr sz="1200">
                <a:latin typeface="Segoe UI"/>
              </a:rPr>
              <a:t>8 Poor coordination between architects, engineers, contractors and clients</a:t>
            </a:r>
          </a:p>
          <a:p>
            <a:r>
              <a:rPr sz="1200">
                <a:latin typeface="Segoe UI"/>
              </a:rPr>
              <a:t>9 Manual progress reporting and project tracking</a:t>
            </a:r>
          </a:p>
          <a:p>
            <a:r>
              <a:rPr sz="1200">
                <a:latin typeface="Segoe UI"/>
              </a:rPr>
              <a:t>10 Delayed decision-making due to fragmented data</a:t>
            </a:r>
          </a:p>
          <a:p>
            <a:r>
              <a:rPr sz="1200">
                <a:latin typeface="Segoe UI"/>
              </a:rPr>
              <a:t>11 Difficulty managing multiple projects simultaneously</a:t>
            </a:r>
          </a:p>
          <a:p>
            <a:r>
              <a:rPr sz="1200">
                <a:latin typeface="Segoe UI"/>
              </a:rPr>
              <a:t>12 Lack of data-driven insights for forecasting and risk management</a:t>
            </a:r>
          </a:p>
          <a:p>
            <a:r>
              <a:rPr sz="1200">
                <a:latin typeface="Segoe UI"/>
              </a:rPr>
              <a:t>13 Budget overruns and poor cost control</a:t>
            </a:r>
          </a:p>
          <a:p>
            <a:r>
              <a:rPr sz="1200">
                <a:latin typeface="Segoe UI"/>
              </a:rPr>
              <a:t>14 Project delays and schedule overruns</a:t>
            </a:r>
          </a:p>
          <a:p>
            <a:r>
              <a:rPr sz="1200">
                <a:latin typeface="Segoe UI"/>
              </a:rPr>
              <a:t>15 Planning time measured in months</a:t>
            </a:r>
          </a:p>
          <a:p/>
          <a:p>
            <a:r>
              <a:rPr sz="1200">
                <a:latin typeface="Segoe UI"/>
              </a:rPr>
              <a:t>NOTE ON ITEM 15: in the source list this was written as 'Reduced project planning time (months to days)', which is a benefit rather than a pain. It is flipped here to state the problem; the benefit form is advantage 13.</a:t>
            </a:r>
          </a:p>
          <a:p/>
          <a:p>
            <a:r>
              <a:rPr sz="1200">
                <a:latin typeface="Segoe UI"/>
              </a:rPr>
              <a:t>TIME 1:00–1:45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Three clicks. Same rule — the filled card per column is the one you say; let them read the rest. The kicker line is the one to say slowly.</a:t>
            </a:r>
          </a:p>
          <a:p/>
          <a:p>
            <a:r>
              <a:rPr sz="1200">
                <a:latin typeface="Segoe UI"/>
              </a:rPr>
              <a:t>SAY  —  "Same three groupings as the pain slide, in the same order. Produce the numbers. Keep them true as things change. Then run the work off them."</a:t>
            </a:r>
          </a:p>
          <a:p/>
          <a:p>
            <a:r>
              <a:rPr sz="1200">
                <a:latin typeface="Segoe UI"/>
              </a:rPr>
              <a:t>THE THREE HIGHLIGHTED CARDS answer the three highlighted pains directly. If someone asks 'which of these actually matter', point at those and say the rest follow from them.</a:t>
            </a:r>
          </a:p>
          <a:p/>
          <a:p>
            <a:r>
              <a:rPr sz="1200">
                <a:latin typeface="Segoe UI"/>
              </a:rPr>
              <a:t>FULL WORDING, for reference:</a:t>
            </a:r>
          </a:p>
          <a:p>
            <a:r>
              <a:rPr sz="1200">
                <a:latin typeface="Segoe UI"/>
              </a:rPr>
              <a:t>1 AI-powered QTO and BOQ generation — take-offs and BOQ from weeks to hours</a:t>
            </a:r>
          </a:p>
          <a:p>
            <a:r>
              <a:rPr sz="1200">
                <a:latin typeface="Segoe UI"/>
              </a:rPr>
              <a:t>2 Faster cost estimation and tendering — estimates and tender documents in days instead of weeks</a:t>
            </a:r>
          </a:p>
          <a:p>
            <a:r>
              <a:rPr sz="1200">
                <a:latin typeface="Segoe UI"/>
              </a:rPr>
              <a:t>3 Automated document and drawing management — single source of truth with version control</a:t>
            </a:r>
          </a:p>
          <a:p>
            <a:r>
              <a:rPr sz="1200">
                <a:latin typeface="Segoe UI"/>
              </a:rPr>
              <a:t>4 Smart design change management — instantly update quantities, costs and documentation when designs change</a:t>
            </a:r>
          </a:p>
          <a:p>
            <a:r>
              <a:rPr sz="1200">
                <a:latin typeface="Segoe UI"/>
              </a:rPr>
              <a:t>5 Integrated procurement and material management</a:t>
            </a:r>
          </a:p>
          <a:p>
            <a:r>
              <a:rPr sz="1200">
                <a:latin typeface="Segoe UI"/>
              </a:rPr>
              <a:t>6 Real-time project monitoring through live dashboards</a:t>
            </a:r>
          </a:p>
          <a:p>
            <a:r>
              <a:rPr sz="1200">
                <a:latin typeface="Segoe UI"/>
              </a:rPr>
              <a:t>7 Better cost and budget control — monitor budgets, detect variances</a:t>
            </a:r>
          </a:p>
          <a:p>
            <a:r>
              <a:rPr sz="1200">
                <a:latin typeface="Segoe UI"/>
              </a:rPr>
              <a:t>8 AI-driven forecasting and risk analysis — identify risks and cost impacts early</a:t>
            </a:r>
          </a:p>
          <a:p>
            <a:r>
              <a:rPr sz="1200">
                <a:latin typeface="Segoe UI"/>
              </a:rPr>
              <a:t>9 Centralized collaboration — architects, engineers, contractors, consultants and clients on one platform</a:t>
            </a:r>
          </a:p>
          <a:p>
            <a:r>
              <a:rPr sz="1200">
                <a:latin typeface="Segoe UI"/>
              </a:rPr>
              <a:t>10 Multi-project management from a unified workspace</a:t>
            </a:r>
          </a:p>
          <a:p>
            <a:r>
              <a:rPr sz="1200">
                <a:latin typeface="Segoe UI"/>
              </a:rPr>
              <a:t>11 Higher accuracy and reduced manual errors</a:t>
            </a:r>
          </a:p>
          <a:p>
            <a:r>
              <a:rPr sz="1200">
                <a:latin typeface="Segoe UI"/>
              </a:rPr>
              <a:t>12 End-to-end digital construction lifecycle, tender through delivery</a:t>
            </a:r>
          </a:p>
          <a:p>
            <a:r>
              <a:rPr sz="1200">
                <a:latin typeface="Segoe UI"/>
              </a:rPr>
              <a:t>13 Significant time savings — pre-construction and planning from months to days</a:t>
            </a:r>
          </a:p>
          <a:p>
            <a:r>
              <a:rPr sz="1200">
                <a:latin typeface="Segoe UI"/>
              </a:rPr>
              <a:t>14 Improved productivity and scalability at any project size</a:t>
            </a:r>
          </a:p>
          <a:p/>
          <a:p>
            <a:r>
              <a:rPr sz="1200">
                <a:latin typeface="Segoe UI"/>
              </a:rPr>
              <a:t>DO  —  HONESTY CHECK before you present this slide. Items 5, 6 and 10 lean on parts of the platform that are not fully built: procurement stops at package grouping (RFQ, quotes and commitments are not started), and post-award cost control is not started. If someone asks whether all fourteen are live today, say which are roadmap. The build-state slide covers you — but only if you do not oversell here.</a:t>
            </a:r>
          </a:p>
          <a:p/>
          <a:p>
            <a:r>
              <a:rPr sz="1200">
                <a:latin typeface="Segoe UI"/>
              </a:rPr>
              <a:t>TIME 4:20–5:05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eckon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03120"/>
            <a:ext cx="6035040" cy="1530536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658368" y="393192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8C0C8"/>
                </a:solidFill>
                <a:latin typeface="Segoe UI"/>
              </a:rPr>
              <a:t>Every number knows where it came from.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5897880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080760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TECHSME  ·  CANADA · US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5727" y="608076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APP.PRECKON.COM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ONE TENDER, PRICED BY HAND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267712"/>
            <a:ext cx="25815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E0A85A"/>
                </a:solidFill>
                <a:latin typeface="Consolas"/>
              </a:rPr>
              <a:t>2–6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weeks per bid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2827" y="2267712"/>
            <a:ext cx="25815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E0A85A"/>
                </a:solidFill>
                <a:latin typeface="Consolas"/>
              </a:rPr>
              <a:t>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person holds the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287" y="2267712"/>
            <a:ext cx="25815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E0A85A"/>
                </a:solidFill>
                <a:latin typeface="Consolas"/>
              </a:rPr>
              <a:t>100s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pages read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1747" y="2267712"/>
            <a:ext cx="25815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F0837B"/>
                </a:solidFill>
                <a:latin typeface="Consolas"/>
              </a:rPr>
              <a:t>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numbers you can 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64515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E9F2F4"/>
                </a:solidFill>
                <a:latin typeface="Georgia"/>
              </a:rPr>
              <a:t>And the bid window does not move.</a:t>
            </a:r>
          </a:p>
        </p:txBody>
      </p:sp>
      <p:pic>
        <p:nvPicPr>
          <p:cNvPr id="28" name="Picture 27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FIVE STAGES · WHO OWNS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24328" y="1664208"/>
            <a:ext cx="17269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6127" y="1664208"/>
            <a:ext cx="17269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TAKEOFF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927" y="1664208"/>
            <a:ext cx="17269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BOQ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9727" y="1664208"/>
            <a:ext cx="17269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1527" y="1664208"/>
            <a:ext cx="17269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PROCUREMENT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48256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939E"/>
                </a:solidFill>
                <a:latin typeface="Segoe UI"/>
              </a:rPr>
              <a:t>Takeoff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4328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61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2A4C58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79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697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515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2491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939E"/>
                </a:solidFill>
                <a:latin typeface="Segoe UI"/>
              </a:rPr>
              <a:t>Estimating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24328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61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F2831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79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F2831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697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2A4C58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515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40156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939E"/>
                </a:solidFill>
                <a:latin typeface="Segoe UI"/>
              </a:rPr>
              <a:t>PM platforms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24328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061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79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697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515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F2831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078223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9F2F4"/>
                </a:solidFill>
                <a:latin typeface="Segoe UI"/>
              </a:rPr>
              <a:t>Preckon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24328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061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879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697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515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248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E9F2F4"/>
                </a:solidFill>
                <a:latin typeface="Georgia"/>
              </a:rPr>
              <a:t>The cost is in the joins.</a:t>
            </a:r>
          </a:p>
        </p:txBody>
      </p:sp>
      <p:pic>
        <p:nvPicPr>
          <p:cNvPr id="88" name="Picture 87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ONE RECORD, EIGHT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Tender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1428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5202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2027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Drawings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794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4568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5687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Specs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0160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3934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9347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BOQ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526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300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Estimate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8892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666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667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Programme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258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2032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0327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Procurement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7624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41398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13987" y="2711195"/>
            <a:ext cx="1119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096511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E9F2F4"/>
                </a:solidFill>
                <a:latin typeface="Georgia"/>
              </a:rPr>
              <a:t>Nothing is retyped between them.
Each stage reads what the last one confirmed.</a:t>
            </a:r>
          </a:p>
        </p:txBody>
      </p:sp>
      <p:pic>
        <p:nvPicPr>
          <p:cNvPr id="93" name="Picture 92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TENDERLOGIX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It reads the tender.</a:t>
            </a:r>
          </a:p>
        </p:txBody>
      </p:sp>
      <p:pic>
        <p:nvPicPr>
          <p:cNvPr id="6" name="Picture 5" descr="t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327" y="1417320"/>
            <a:ext cx="6858000" cy="5167360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DRAWLOGIX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53053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It measures, and shows its working.</a:t>
            </a:r>
          </a:p>
        </p:txBody>
      </p:sp>
      <p:pic>
        <p:nvPicPr>
          <p:cNvPr id="6" name="Picture 5" descr="tak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327" y="2101693"/>
            <a:ext cx="6858000" cy="3715318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QUANTLOGIX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2867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Every line has a Trace button.</a:t>
            </a:r>
          </a:p>
        </p:txBody>
      </p:sp>
      <p:pic>
        <p:nvPicPr>
          <p:cNvPr id="6" name="Picture 5" descr="boq-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887" y="1758438"/>
            <a:ext cx="6949440" cy="4282955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COSTLOGIX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The build-up, not just the total.</a:t>
            </a:r>
          </a:p>
        </p:txBody>
      </p:sp>
      <p:pic>
        <p:nvPicPr>
          <p:cNvPr id="6" name="Picture 5" descr="esti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087" y="1325880"/>
            <a:ext cx="6492240" cy="4969210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PRECKON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Nothing here was committed by software.</a:t>
            </a:r>
          </a:p>
        </p:txBody>
      </p:sp>
      <p:pic>
        <p:nvPicPr>
          <p:cNvPr id="6" name="Picture 5" descr="review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287" y="1481328"/>
            <a:ext cx="6035040" cy="4769963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SAME BID, BOTH 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10512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ESTIMATOR DAYS PER BID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8600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9F2F4"/>
                </a:solidFill>
                <a:latin typeface="Segoe UI"/>
              </a:rPr>
              <a:t>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0048" y="2267712"/>
            <a:ext cx="7680960" cy="384048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70048" y="2267712"/>
            <a:ext cx="7680960" cy="384048"/>
          </a:xfrm>
          <a:prstGeom prst="roundRect">
            <a:avLst>
              <a:gd name="adj" fmla="val 16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97312" y="230428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0A85A"/>
                </a:solidFill>
                <a:latin typeface="Consolas"/>
              </a:rPr>
              <a:t>15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4612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9F2F4"/>
                </a:solidFill>
                <a:latin typeface="Segoe UI"/>
              </a:rPr>
              <a:t>With Preckon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3227832"/>
            <a:ext cx="7680960" cy="384048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70048" y="3227832"/>
            <a:ext cx="2048256" cy="384048"/>
          </a:xfrm>
          <a:prstGeom prst="roundRect">
            <a:avLst>
              <a:gd name="adj" fmla="val 16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326440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EDCC2"/>
                </a:solidFill>
                <a:latin typeface="Consolas"/>
              </a:rPr>
              <a:t>4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462271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11 days back, on every bid.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939E"/>
                </a:solidFill>
                <a:latin typeface="Segoe UI"/>
              </a:rPr>
              <a:t>The estimator stops measuring and starts judging — which is the part you were paying them for.</a:t>
            </a:r>
          </a:p>
        </p:txBody>
      </p:sp>
      <p:pic>
        <p:nvPicPr>
          <p:cNvPr id="36" name="Picture 35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THE ARITHMETIC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Put your own numbers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697480"/>
            <a:ext cx="3931920" cy="2670048"/>
          </a:xfrm>
          <a:prstGeom prst="roundRect">
            <a:avLst>
              <a:gd name="adj" fmla="val 4500"/>
            </a:avLst>
          </a:prstGeom>
          <a:solidFill>
            <a:srgbClr val="0B1D25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898648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0A85A"/>
                </a:solidFill>
                <a:latin typeface="Consolas"/>
              </a:rPr>
              <a:t>INPUTS — REPLACE WITH YOURS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46120"/>
            <a:ext cx="23317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Bids per year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Estimator days per bid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Cost per estimator-day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Average contract value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Win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3246120"/>
            <a:ext cx="124358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40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15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$600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$8M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20%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697480"/>
            <a:ext cx="6784848" cy="914400"/>
          </a:xfrm>
          <a:prstGeom prst="roundRect">
            <a:avLst>
              <a:gd name="adj" fmla="val 5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288036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3EDCC2"/>
                </a:solidFill>
                <a:latin typeface="Consolas"/>
              </a:rPr>
              <a:t>$264k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843784"/>
            <a:ext cx="4617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C0C8"/>
                </a:solidFill>
                <a:latin typeface="Segoe UI"/>
              </a:rPr>
              <a:t>saved a year in estimating effort
440 estimator-days returned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679192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556E79"/>
                </a:solidFill>
                <a:latin typeface="Consolas"/>
              </a:rPr>
              <a:t>LEVER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730752"/>
            <a:ext cx="6784848" cy="914400"/>
          </a:xfrm>
          <a:prstGeom prst="roundRect">
            <a:avLst>
              <a:gd name="adj" fmla="val 5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8" y="3913632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3EDCC2"/>
                </a:solidFill>
                <a:latin typeface="Consolas"/>
              </a:rPr>
              <a:t>+10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877056"/>
            <a:ext cx="4617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C0C8"/>
                </a:solidFill>
                <a:latin typeface="Segoe UI"/>
              </a:rPr>
              <a:t>more bids a year with the same team
≈ 2 extra wins at a 20%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3712464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556E79"/>
                </a:solidFill>
                <a:latin typeface="Consolas"/>
              </a:rPr>
              <a:t>LEVER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764024"/>
            <a:ext cx="6784848" cy="914400"/>
          </a:xfrm>
          <a:prstGeom prst="roundRect">
            <a:avLst>
              <a:gd name="adj" fmla="val 5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4946904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3EDCC2"/>
                </a:solidFill>
                <a:latin typeface="Consolas"/>
              </a:rPr>
              <a:t>$80k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910328"/>
            <a:ext cx="4617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C0C8"/>
                </a:solidFill>
                <a:latin typeface="Segoe UI"/>
              </a:rPr>
              <a:t>one 1% pricing error avoided on one $8M job
is worth more than the licence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4745736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556E79"/>
                </a:solidFill>
                <a:latin typeface="Consolas"/>
              </a:rPr>
              <a:t>LEVER 3</a:t>
            </a:r>
          </a:p>
        </p:txBody>
      </p:sp>
      <p:pic>
        <p:nvPicPr>
          <p:cNvPr id="56" name="Picture 55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PAYBACK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7612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9F2F4"/>
                </a:solidFill>
                <a:latin typeface="Segoe UI"/>
              </a:rPr>
              <a:t>Under three months.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617720" y="1696212"/>
          <a:ext cx="69037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2793492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4800" b="0" i="0">
                <a:solidFill>
                  <a:srgbClr val="3EDCC2"/>
                </a:solidFill>
                <a:latin typeface="Consolas"/>
              </a:rPr>
              <a:t>2.7</a:t>
            </a:r>
            <a:r>
              <a:rPr sz="1500" b="0" i="0">
                <a:solidFill>
                  <a:srgbClr val="7A939E"/>
                </a:solidFill>
                <a:latin typeface="Segoe UI"/>
              </a:rPr>
              <a:t> months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A8C0C8"/>
                </a:solidFill>
                <a:latin typeface="Segoe UI"/>
              </a:rPr>
              <a:t>to cover a year of platform cost from estimating effort alone.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939E"/>
                </a:solidFill>
                <a:latin typeface="Segoe UI"/>
              </a:rPr>
              <a:t>Levers 2 and 3 are not in this chart. Neither is a single won bid.</a:t>
            </a:r>
          </a:p>
        </p:txBody>
      </p:sp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HOW A NUMBER BECOMES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212848"/>
            <a:ext cx="1648297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Documents
&amp; drawings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99273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10169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9897" y="2212848"/>
            <a:ext cx="1648297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The assistant
proposes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1074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61970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71698" y="2212848"/>
            <a:ext cx="1648297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A person
confirms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02876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3772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3500" y="2212848"/>
            <a:ext cx="1648297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The record
is committed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54677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65573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5301" y="2212848"/>
            <a:ext cx="1648297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Hash-chained
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1970" y="3401568"/>
            <a:ext cx="1867753" cy="475488"/>
          </a:xfrm>
          <a:prstGeom prst="roundRect">
            <a:avLst>
              <a:gd name="adj" fmla="val 14000"/>
            </a:avLst>
          </a:prstGeom>
          <a:solidFill>
            <a:srgbClr val="2C1715"/>
          </a:solidFill>
          <a:ln w="9525">
            <a:solidFill>
              <a:srgbClr val="F08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1970" y="3511296"/>
            <a:ext cx="18677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F0837B"/>
                </a:solidFill>
                <a:latin typeface="Consolas"/>
              </a:rPr>
              <a:t>AI CANNOT PASS THIS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526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E9F2F4"/>
                </a:solidFill>
                <a:latin typeface="Georgia"/>
              </a:rPr>
              <a:t>The assistant has four calls. None of them writes a business record.</a:t>
            </a:r>
          </a:p>
        </p:txBody>
      </p:sp>
      <p:pic>
        <p:nvPicPr>
          <p:cNvPr id="68" name="Picture 67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WHAT ACTUALLY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5852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A frontier model is the sixth thing we 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1635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9F2F4"/>
                </a:solidFill>
                <a:latin typeface="Segoe UI"/>
              </a:rPr>
              <a:t>Deterministic engines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8728" y="2788920"/>
            <a:ext cx="4754880" cy="329184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38728" y="2788920"/>
            <a:ext cx="4754880" cy="329184"/>
          </a:xfrm>
          <a:prstGeom prst="roundRect">
            <a:avLst>
              <a:gd name="adj" fmla="val 16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38327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3355848"/>
            <a:ext cx="4754880" cy="329184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38728" y="3355848"/>
            <a:ext cx="3899001" cy="329184"/>
          </a:xfrm>
          <a:prstGeom prst="roundRect">
            <a:avLst>
              <a:gd name="adj" fmla="val 16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9502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Structured retrieval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3922776"/>
            <a:ext cx="4754880" cy="329184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8728" y="3922776"/>
            <a:ext cx="3233318" cy="329184"/>
          </a:xfrm>
          <a:prstGeom prst="roundRect">
            <a:avLst>
              <a:gd name="adj" fmla="val 16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51713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Small private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4489704"/>
            <a:ext cx="4754880" cy="329184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8728" y="4489704"/>
            <a:ext cx="2472537" cy="329184"/>
          </a:xfrm>
          <a:prstGeom prst="roundRect">
            <a:avLst>
              <a:gd name="adj" fmla="val 16000"/>
            </a:avLst>
          </a:prstGeom>
          <a:solidFill>
            <a:srgbClr val="2A4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840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Private reasoning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38728" y="5056631"/>
            <a:ext cx="4754880" cy="329184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38728" y="5056631"/>
            <a:ext cx="1806854" cy="329184"/>
          </a:xfrm>
          <a:prstGeom prst="roundRect">
            <a:avLst>
              <a:gd name="adj" fmla="val 16000"/>
            </a:avLst>
          </a:prstGeom>
          <a:solidFill>
            <a:srgbClr val="2A4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65099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A85A"/>
                </a:solidFill>
                <a:latin typeface="Segoe UI"/>
              </a:rPr>
              <a:t>Frontier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38728" y="5623560"/>
            <a:ext cx="4754880" cy="329184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38728" y="5623560"/>
            <a:ext cx="760780" cy="329184"/>
          </a:xfrm>
          <a:prstGeom prst="roundRect">
            <a:avLst>
              <a:gd name="adj" fmla="val 16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283464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0" i="0">
                <a:solidFill>
                  <a:srgbClr val="3EDCC2"/>
                </a:solidFill>
                <a:latin typeface="Consolas"/>
              </a:rPr>
              <a:t>34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deterministic engines do the
arithmetic before any model is asked</a:t>
            </a:r>
          </a:p>
        </p:txBody>
      </p:sp>
      <p:pic>
        <p:nvPicPr>
          <p:cNvPr id="74" name="Picture 73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IT FITS WHAT YOU ALREADY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208483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1762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PDF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54096" y="221284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651760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4319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DWG · DXF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54096" y="2779776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218687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3101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IFC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54096" y="3346704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785616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87705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Excel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54096" y="3913632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352544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44398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P6 XER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54096" y="4480559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91947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0109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ERP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54096" y="504748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94760" y="2313432"/>
            <a:ext cx="4572000" cy="3246120"/>
          </a:xfrm>
          <a:prstGeom prst="roundRect">
            <a:avLst>
              <a:gd name="adj" fmla="val 5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2724912"/>
            <a:ext cx="41148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Preckon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90 typed API routes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Domain events, not polling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Read once · content-hashed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Connector SDK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62872" y="208483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2872" y="21762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BOQ export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458200" y="221284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62872" y="2651760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274319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Estimate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458200" y="2779776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62872" y="3218687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2872" y="33101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Programme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458200" y="3346704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62872" y="3785616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2872" y="387705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Packages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458200" y="3913632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62872" y="4352544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62872" y="444398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Audit trail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458200" y="4480559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262872" y="491947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62872" y="50109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Webhooks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458200" y="504748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181051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181051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OUT</a:t>
            </a:r>
          </a:p>
        </p:txBody>
      </p:sp>
      <p:pic>
        <p:nvPicPr>
          <p:cNvPr id="123" name="Picture 122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WHERE IT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313432"/>
            <a:ext cx="21243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SaaS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Multi-tenant, managed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3EDCC2"/>
                </a:solidFill>
                <a:latin typeface="Consolas"/>
              </a:rPr>
              <a:t>PROVEN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1115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2283" y="2313432"/>
            <a:ext cx="21243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Dedicated cloud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Your region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3EDCC2"/>
                </a:solidFill>
                <a:latin typeface="Consolas"/>
              </a:rPr>
              <a:t>PROVEN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5031" y="2313432"/>
            <a:ext cx="21243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Private AI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Inference in your boundary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E0A85A"/>
                </a:solidFill>
                <a:latin typeface="Consolas"/>
              </a:rPr>
              <a:t>ARCHITECTURE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611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07779" y="2313432"/>
            <a:ext cx="21243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Sovereign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On-premise, models included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E0A85A"/>
                </a:solidFill>
                <a:latin typeface="Consolas"/>
              </a:rPr>
              <a:t>ARCHITECTURE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50799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E9F2F4"/>
                </a:solidFill>
                <a:latin typeface="Georgia"/>
              </a:rPr>
              <a:t>One codebase. The deployment shape is configuration, not a fork.</a:t>
            </a:r>
          </a:p>
        </p:txBody>
      </p:sp>
      <p:pic>
        <p:nvPicPr>
          <p:cNvPr id="40" name="Picture 39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BUILT, MEASURED AGAINST THE SPEC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33372"/>
            <a:ext cx="4023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600" b="0" i="0">
                <a:solidFill>
                  <a:srgbClr val="3EDCC2"/>
                </a:solidFill>
                <a:latin typeface="Consolas"/>
              </a:rPr>
              <a:t>79%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of 132 specified features are built, tested and deployed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16452"/>
            <a:ext cx="4023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A8C0C8"/>
                </a:solidFill>
                <a:latin typeface="Consolas"/>
              </a:rPr>
              <a:t>97 done · 15 partial · 20 missing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939E"/>
                </a:solidFill>
                <a:latin typeface="Segoe UI"/>
              </a:rPr>
              <a:t>Partial counts as a half. Missing counts as zero. Verified against the codebase and the deployed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28032" y="2061972"/>
            <a:ext cx="2142744" cy="1133856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10912" y="2244852"/>
            <a:ext cx="1776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700" b="0" i="0">
                <a:solidFill>
                  <a:srgbClr val="E9F2F4"/>
                </a:solidFill>
                <a:latin typeface="Consolas"/>
              </a:rPr>
              <a:t>84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939E"/>
                </a:solidFill>
                <a:latin typeface="Segoe UI"/>
              </a:rPr>
              <a:t>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7080" y="2061972"/>
            <a:ext cx="2142744" cy="1133856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9960" y="2244852"/>
            <a:ext cx="1776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700" b="0" i="0">
                <a:solidFill>
                  <a:srgbClr val="E9F2F4"/>
                </a:solidFill>
                <a:latin typeface="Consolas"/>
              </a:rPr>
              <a:t>90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939E"/>
                </a:solidFill>
                <a:latin typeface="Segoe UI"/>
              </a:rPr>
              <a:t>API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06128" y="2061972"/>
            <a:ext cx="2142744" cy="1133856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89008" y="2244852"/>
            <a:ext cx="1776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700" b="0" i="0">
                <a:solidFill>
                  <a:srgbClr val="E9F2F4"/>
                </a:solidFill>
                <a:latin typeface="Consolas"/>
              </a:rPr>
              <a:t>982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939E"/>
                </a:solidFill>
                <a:latin typeface="Segoe UI"/>
              </a:rPr>
              <a:t>tests passing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8032" y="3360420"/>
            <a:ext cx="2142744" cy="1133856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3543300"/>
            <a:ext cx="1776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700" b="0" i="0">
                <a:solidFill>
                  <a:srgbClr val="E9F2F4"/>
                </a:solidFill>
                <a:latin typeface="Consolas"/>
              </a:rPr>
              <a:t>34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939E"/>
                </a:solidFill>
                <a:latin typeface="Segoe UI"/>
              </a:rPr>
              <a:t>engines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7080" y="3360420"/>
            <a:ext cx="2142744" cy="1133856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9960" y="3543300"/>
            <a:ext cx="1776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700" b="0" i="0">
                <a:solidFill>
                  <a:srgbClr val="E9F2F4"/>
                </a:solidFill>
                <a:latin typeface="Consolas"/>
              </a:rPr>
              <a:t>20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939E"/>
                </a:solidFill>
                <a:latin typeface="Segoe UI"/>
              </a:rPr>
              <a:t>assistants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6128" y="3360420"/>
            <a:ext cx="2142744" cy="1133856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9008" y="3543300"/>
            <a:ext cx="1776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700" b="0" i="0">
                <a:solidFill>
                  <a:srgbClr val="E9F2F4"/>
                </a:solidFill>
                <a:latin typeface="Consolas"/>
              </a:rPr>
              <a:t>12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939E"/>
                </a:solidFill>
                <a:latin typeface="Segoe UI"/>
              </a:rPr>
              <a:t>ADRs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8032" y="4759452"/>
            <a:ext cx="6720840" cy="777240"/>
          </a:xfrm>
          <a:prstGeom prst="roundRect">
            <a:avLst>
              <a:gd name="adj" fmla="val 5000"/>
            </a:avLst>
          </a:prstGeom>
          <a:solidFill>
            <a:srgbClr val="2A2110"/>
          </a:solidFill>
          <a:ln w="9525">
            <a:solidFill>
              <a:srgbClr val="E0A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969764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0A85A"/>
                </a:solidFill>
                <a:latin typeface="Segoe UI"/>
              </a:rPr>
              <a:t>Not built yet: SSO · MFA · encryption at rest · CI · staging · tested restore</a:t>
            </a:r>
          </a:p>
        </p:txBody>
      </p:sp>
      <p:pic>
        <p:nvPicPr>
          <p:cNvPr id="67" name="Picture 66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WHAT WE'RE ASKING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81912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9F2F4"/>
                </a:solidFill>
                <a:latin typeface="Segoe UI"/>
              </a:rPr>
              <a:t>One bid. Six weeks.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136392"/>
            <a:ext cx="3454298" cy="1874519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3364992"/>
            <a:ext cx="301538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900" b="1" i="0" spc="120">
                <a:solidFill>
                  <a:srgbClr val="3EDCC2"/>
                </a:solidFill>
                <a:latin typeface="Consolas"/>
              </a:rPr>
              <a:t>01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A live tender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One project, one team, measured against a bid you have already priced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3136392"/>
            <a:ext cx="3454298" cy="1874519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8154" y="3364992"/>
            <a:ext cx="301538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900" b="1" i="0" spc="120">
                <a:solidFill>
                  <a:srgbClr val="3EDCC2"/>
                </a:solidFill>
                <a:latin typeface="Consolas"/>
              </a:rPr>
              <a:t>02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A golden set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One design set with its final priced bill — we test against it, in front of you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9028" y="3136392"/>
            <a:ext cx="3454298" cy="1874519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484" y="3364992"/>
            <a:ext cx="301538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900" b="1" i="0" spc="120">
                <a:solidFill>
                  <a:srgbClr val="3EDCC2"/>
                </a:solidFill>
                <a:latin typeface="Consolas"/>
              </a:rPr>
              <a:t>03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A security counterpart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Someone who closes the gap list with us in the same six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3095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939E"/>
                </a:solidFill>
                <a:latin typeface="Segoe UI"/>
              </a:rPr>
              <a:t>Not asking for: a migration, anything switched off, or a decision today.</a:t>
            </a:r>
          </a:p>
        </p:txBody>
      </p:sp>
      <p:pic>
        <p:nvPicPr>
          <p:cNvPr id="32" name="Picture 31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51460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9F2F4"/>
                </a:solidFill>
                <a:latin typeface="Segoe UI"/>
              </a:rPr>
              <a:t>Every number can name
where it came from.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4348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3EDCC2"/>
                </a:solidFill>
                <a:latin typeface="Georgia"/>
              </a:rPr>
              <a:t>That is the whole product. The rest is speed.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5897880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12648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APP.PRECKON.COM</a:t>
            </a:r>
          </a:p>
        </p:txBody>
      </p:sp>
      <p:pic>
        <p:nvPicPr>
          <p:cNvPr id="7" name="Picture 6" descr="preckon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487" y="6016752"/>
            <a:ext cx="2148840" cy="544964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WHAT THE INDUSTRY ACTUALLY COMPLAINS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9F2F4"/>
                </a:solidFill>
                <a:latin typeface="Segoe UI"/>
              </a:rPr>
              <a:t>Fifteen pain 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A8C0C8"/>
                </a:solidFill>
                <a:latin typeface="Georgia"/>
              </a:rPr>
              <a:t>Fifteen symptoms. One cause — the chain breaks at every handover.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33689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E0A85A"/>
                </a:solidFill>
                <a:latin typeface="Consolas"/>
              </a:rPr>
              <a:t>INFORMATION &amp;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3368954" cy="9525"/>
          </a:xfrm>
          <a:prstGeom prst="rect">
            <a:avLst/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24942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8660" y="234086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2354580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" y="2354580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Drawing and document versions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903220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2A2110"/>
          </a:solidFill>
          <a:ln w="12700">
            <a:solidFill>
              <a:srgbClr val="E0A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8660" y="2994660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" y="3008376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" y="3008376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1" i="0">
                <a:solidFill>
                  <a:srgbClr val="E9F2F4"/>
                </a:solidFill>
                <a:latin typeface="Segoe UI"/>
              </a:rPr>
              <a:t>Manual take-offs and BOQ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57015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8660" y="3648456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" y="3662172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" y="3662172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Design changes and rework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10812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8660" y="4302252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" y="4315968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" y="4315968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Poor coordination between parties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64608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8660" y="4956048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3" y="4969764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" y="4969764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Fragmented data, slow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1370" y="1847088"/>
            <a:ext cx="33689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E0A85A"/>
                </a:solidFill>
                <a:latin typeface="Consolas"/>
              </a:rPr>
              <a:t>COMMERCIAL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1370" y="2103120"/>
            <a:ext cx="3368954" cy="9525"/>
          </a:xfrm>
          <a:prstGeom prst="rect">
            <a:avLst/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11370" y="224942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2A2110"/>
          </a:solidFill>
          <a:ln w="12700">
            <a:solidFill>
              <a:srgbClr val="E0A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61662" y="234086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5106" y="2354580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5106" y="2354580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1" i="0">
                <a:solidFill>
                  <a:srgbClr val="E9F2F4"/>
                </a:solidFill>
                <a:latin typeface="Segoe UI"/>
              </a:rPr>
              <a:t>Slow estimation and tendering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11370" y="2903220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461662" y="2994660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85106" y="3008376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5106" y="3008376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Change orders hard to manage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11370" y="3557015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61662" y="3648456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85106" y="3662172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5106" y="3662172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Budget overruns, weak cost control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11370" y="4210812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61662" y="4302252"/>
            <a:ext cx="41148" cy="384048"/>
          </a:xfrm>
          <a:prstGeom prst="roundRect">
            <a:avLst>
              <a:gd name="adj" fmla="val 50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85106" y="4315968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0A85A"/>
                </a:solidFill>
                <a:latin typeface="Consolas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85106" y="4315968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No basis for forecast or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4372" y="1847088"/>
            <a:ext cx="33689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F0837B"/>
                </a:solidFill>
                <a:latin typeface="Consolas"/>
              </a:rPr>
              <a:t>DELIVERY &amp; OPERATIONS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64372" y="2103120"/>
            <a:ext cx="3368954" cy="9525"/>
          </a:xfrm>
          <a:prstGeom prst="rect">
            <a:avLst/>
          </a:prstGeom>
          <a:solidFill>
            <a:srgbClr val="F08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64372" y="224942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214664" y="234086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F08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8108" y="2354580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F0837B"/>
                </a:solidFill>
                <a:latin typeface="Consolas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8108" y="2354580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Procurement and supply delays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64372" y="2903220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214664" y="2994660"/>
            <a:ext cx="41148" cy="384048"/>
          </a:xfrm>
          <a:prstGeom prst="roundRect">
            <a:avLst>
              <a:gd name="adj" fmla="val 50000"/>
            </a:avLst>
          </a:prstGeom>
          <a:solidFill>
            <a:srgbClr val="F08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38108" y="3008376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F0837B"/>
                </a:solidFill>
                <a:latin typeface="Consolas"/>
              </a:rP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8108" y="3008376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Material wastage and stock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64372" y="3557015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214664" y="3648456"/>
            <a:ext cx="41148" cy="384048"/>
          </a:xfrm>
          <a:prstGeom prst="roundRect">
            <a:avLst>
              <a:gd name="adj" fmla="val 50000"/>
            </a:avLst>
          </a:prstGeom>
          <a:solidFill>
            <a:srgbClr val="F08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38108" y="3662172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F0837B"/>
                </a:solidFill>
                <a:latin typeface="Consolas"/>
              </a:rPr>
              <a:t>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8108" y="3662172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Manual progress reporting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64372" y="4210812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214664" y="4302252"/>
            <a:ext cx="41148" cy="384048"/>
          </a:xfrm>
          <a:prstGeom prst="roundRect">
            <a:avLst>
              <a:gd name="adj" fmla="val 50000"/>
            </a:avLst>
          </a:prstGeom>
          <a:solidFill>
            <a:srgbClr val="F08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38108" y="4315968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F0837B"/>
                </a:solidFill>
                <a:latin typeface="Consolas"/>
              </a:rPr>
              <a:t>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38108" y="4315968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Many projects at once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64372" y="4864608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214664" y="4956048"/>
            <a:ext cx="41148" cy="384048"/>
          </a:xfrm>
          <a:prstGeom prst="roundRect">
            <a:avLst>
              <a:gd name="adj" fmla="val 50000"/>
            </a:avLst>
          </a:prstGeom>
          <a:solidFill>
            <a:srgbClr val="F08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38108" y="4969764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F0837B"/>
                </a:solidFill>
                <a:latin typeface="Consolas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38108" y="4969764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Schedule overruns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64372" y="551840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2C1715"/>
          </a:solidFill>
          <a:ln w="12700">
            <a:solidFill>
              <a:srgbClr val="F08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214664" y="560984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F08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38108" y="5623560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F0837B"/>
                </a:solidFill>
                <a:latin typeface="Consolas"/>
              </a:rPr>
              <a:t>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38108" y="5623560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1" i="0">
                <a:solidFill>
                  <a:srgbClr val="E9F2F4"/>
                </a:solidFill>
                <a:latin typeface="Segoe UI"/>
              </a:rPr>
              <a:t>Planning measured in months</a:t>
            </a:r>
          </a:p>
        </p:txBody>
      </p:sp>
      <p:pic>
        <p:nvPicPr>
          <p:cNvPr id="207" name="Picture 206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WHAT CHANGES WHEN THE CHAIN IS JOINED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9F2F4"/>
                </a:solidFill>
                <a:latin typeface="Segoe UI"/>
              </a:rPr>
              <a:t>Fourteen advantages.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3EDCC2"/>
                </a:solidFill>
                <a:latin typeface="Georgia"/>
              </a:rPr>
              <a:t>Weeks to hours. Months to days. And every number still names its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33689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3EDCC2"/>
                </a:solidFill>
                <a:latin typeface="Consolas"/>
              </a:rPr>
              <a:t>PRODUCE THE NUMBERS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3368954" cy="9525"/>
          </a:xfrm>
          <a:prstGeom prst="rect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24942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C2F2D"/>
          </a:solidFill>
          <a:ln w="12700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8660" y="234086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2354580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" y="2354580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1" i="0">
                <a:solidFill>
                  <a:srgbClr val="E9F2F4"/>
                </a:solidFill>
                <a:latin typeface="Segoe UI"/>
              </a:rPr>
              <a:t>AI take-off and BOQ — weeks to hours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903220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8660" y="2994660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" y="3008376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" y="3008376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Estimates and tenders in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57015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8660" y="3648456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" y="3662172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" y="3662172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Higher accuracy, fewer errors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10812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8660" y="4302252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" y="4315968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" y="4315968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Planning: months to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370" y="1847088"/>
            <a:ext cx="33689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3EDCC2"/>
                </a:solidFill>
                <a:latin typeface="Consolas"/>
              </a:rPr>
              <a:t>KEEP THEM TRUE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1370" y="2103120"/>
            <a:ext cx="3368954" cy="9525"/>
          </a:xfrm>
          <a:prstGeom prst="rect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11370" y="224942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61662" y="234086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85106" y="2354580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5106" y="2354580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One source of truth, versioned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11370" y="2903220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C2F2D"/>
          </a:solidFill>
          <a:ln w="12700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61662" y="2994660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5106" y="3008376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5106" y="3008376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1" i="0">
                <a:solidFill>
                  <a:srgbClr val="E9F2F4"/>
                </a:solidFill>
                <a:latin typeface="Segoe UI"/>
              </a:rPr>
              <a:t>A design change updates everything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11370" y="3557015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461662" y="3648456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85106" y="3662172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5106" y="3662172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Live budget and variance control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11370" y="4210812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61662" y="4302252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85106" y="4315968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5106" y="4315968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AI forecasting and risk signals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4372" y="1847088"/>
            <a:ext cx="33689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3EDCC2"/>
                </a:solidFill>
                <a:latin typeface="Consolas"/>
              </a:rPr>
              <a:t>RUN THE WORK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64372" y="2103120"/>
            <a:ext cx="3368954" cy="9525"/>
          </a:xfrm>
          <a:prstGeom prst="rect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64372" y="224942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14664" y="234086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8108" y="2354580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8108" y="2354580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Integrated procurement and materials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64372" y="2903220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214664" y="2994660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8108" y="3008376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8108" y="3008376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Real-time dashboards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64372" y="3557015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214664" y="3648456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38108" y="3662172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8108" y="3662172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One platform for every party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64372" y="4210812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214664" y="4302252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38108" y="4315968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8108" y="4315968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Multi-project workspace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64372" y="4864608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C2F2D"/>
          </a:solidFill>
          <a:ln w="12700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214664" y="4956048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38108" y="4969764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38108" y="4969764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1" i="0">
                <a:solidFill>
                  <a:srgbClr val="E9F2F4"/>
                </a:solidFill>
                <a:latin typeface="Segoe UI"/>
              </a:rPr>
              <a:t>End-to-end digital lifecycle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64372" y="5518404"/>
            <a:ext cx="3368954" cy="566928"/>
          </a:xfrm>
          <a:prstGeom prst="roundRect">
            <a:avLst>
              <a:gd name="adj" fmla="val 75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214664" y="5609844"/>
            <a:ext cx="41148" cy="384048"/>
          </a:xfrm>
          <a:prstGeom prst="roundRect">
            <a:avLst>
              <a:gd name="adj" fmla="val 50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38108" y="5623560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3EDCC2"/>
                </a:solidFill>
                <a:latin typeface="Consolas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38108" y="5623560"/>
            <a:ext cx="305805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E79"/>
                </a:solidFill>
                <a:latin typeface="Consolas"/>
              </a:rPr>
              <a:t>     </a:t>
            </a:r>
            <a:r>
              <a:rPr sz="1150" b="0" i="0">
                <a:solidFill>
                  <a:srgbClr val="E9F2F4"/>
                </a:solidFill>
                <a:latin typeface="Segoe UI"/>
              </a:rPr>
              <a:t>Productivity and scale</a:t>
            </a:r>
          </a:p>
        </p:txBody>
      </p:sp>
      <p:pic>
        <p:nvPicPr>
          <p:cNvPr id="195" name="Picture 194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