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4" r:id="rId8"/>
    <p:sldId id="265" r:id="rId9"/>
    <p:sldId id="267" r:id="rId10"/>
    <p:sldId id="268" r:id="rId11"/>
    <p:sldId id="269" r:id="rId12"/>
    <p:sldId id="273" r:id="rId13"/>
    <p:sldId id="27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1259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Segoe UI"/>
              </a:rPr>
              <a:t>DO  —  Stand still. Do not touch the mouse.</a:t>
            </a:r>
          </a:p>
          <a:p>
            <a:endParaRPr sz="1200">
              <a:latin typeface="Segoe UI"/>
            </a:endParaRPr>
          </a:p>
          <a:p>
            <a:r>
              <a:rPr sz="1200">
                <a:latin typeface="Segoe UI"/>
              </a:rPr>
              <a:t>SAY  —  "Twenty minutes. I'll spend nine on how this is built, five showing you the live workspace, and the last six on exactly where the build actually stands — including what isn't finished. Stop me whenever you want to test something."</a:t>
            </a:r>
          </a:p>
          <a:p>
            <a:endParaRPr sz="1200">
              <a:latin typeface="Segoe UI"/>
            </a:endParaRPr>
          </a:p>
          <a:p>
            <a:r>
              <a:rPr sz="1200">
                <a:latin typeface="Segoe UI"/>
              </a:rPr>
              <a:t>WHY OPEN THIS WAY: a CTO audience has sat through decks that oversold. Naming the honest-gaps segment in the first sentence buys you the middle nine minutes. Don't skip it.</a:t>
            </a:r>
          </a:p>
          <a:p>
            <a:endParaRPr sz="1200">
              <a:latin typeface="Segoe UI"/>
            </a:endParaRPr>
          </a:p>
          <a:p>
            <a:r>
              <a:rPr sz="1200">
                <a:latin typeface="Segoe UI"/>
              </a:rPr>
              <a:t>TIME BUDGET: 0:00–0:30</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Segoe UI"/>
              </a:rPr>
              <a:t>SAY  —  "Everything else that commits your company at this scale sits in a system with an audit trail. Payroll does. The ledger does. The estimate doesn't — it sits in a spreadsheet on somebody's laptop, and the reasoning behind it is in their head."</a:t>
            </a:r>
          </a:p>
          <a:p>
            <a:endParaRPr sz="1200">
              <a:latin typeface="Segoe UI"/>
            </a:endParaRPr>
          </a:p>
          <a:p>
            <a:r>
              <a:rPr sz="1200">
                <a:latin typeface="Segoe UI"/>
              </a:rPr>
              <a:t>DO  —  Pause on 'concentration'. This is the one that lands with a CTO — it is a key-person risk they already know about and cannot currently fix with technology.</a:t>
            </a:r>
          </a:p>
          <a:p>
            <a:endParaRPr sz="1200">
              <a:latin typeface="Segoe UI"/>
            </a:endParaRPr>
          </a:p>
          <a:p>
            <a:r>
              <a:rPr sz="1200">
                <a:latin typeface="Segoe UI"/>
              </a:rPr>
              <a:t>IF THEY PUSH BACK with 'our estimators are excellent' — agree immediately. "They are, and that's the problem. Excellence that can't be inspected can't be scaled or defended."</a:t>
            </a:r>
          </a:p>
          <a:p>
            <a:endParaRPr sz="1200">
              <a:latin typeface="Segoe UI"/>
            </a:endParaRPr>
          </a:p>
          <a:p>
            <a:r>
              <a:rPr sz="1200">
                <a:latin typeface="Segoe UI"/>
              </a:rPr>
              <a:t>TIME BUDGET: 0:30–1:15</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Segoe UI"/>
              </a:rPr>
              <a:t>DO  —  Trace the Preckon row left to right with the cursor, once, slowly.</a:t>
            </a:r>
          </a:p>
          <a:p>
            <a:endParaRPr sz="1200">
              <a:latin typeface="Segoe UI"/>
            </a:endParaRPr>
          </a:p>
          <a:p>
            <a:r>
              <a:rPr sz="1200">
                <a:latin typeface="Segoe UI"/>
              </a:rPr>
              <a:t>SAY  —  "PM platforms pick up after procurement — they manage what you have already produced. Takeoff tools measure and hand you a number. The join between them is a person retyping into a spreadsheet, and that is exactly where the trail dies."</a:t>
            </a:r>
          </a:p>
          <a:p>
            <a:endParaRPr sz="1200">
              <a:latin typeface="Segoe UI"/>
            </a:endParaRPr>
          </a:p>
          <a:p>
            <a:r>
              <a:rPr sz="1200">
                <a:latin typeface="Segoe UI"/>
              </a:rPr>
              <a:t>Say the legend once so the diagram reads itself, then stop explaining it.</a:t>
            </a:r>
          </a:p>
          <a:p>
            <a:endParaRPr sz="1200">
              <a:latin typeface="Segoe UI"/>
            </a:endParaRPr>
          </a:p>
          <a:p>
            <a:r>
              <a:rPr sz="1200">
                <a:latin typeface="Segoe UI"/>
              </a:rPr>
              <a:t>TIME BUDGET: 1:15–2:00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Segoe UI"/>
              </a:rPr>
              <a:t>SAY  —  "Point three is the one that matters in this room. We are not asking you to replace anything. For an enterprise, Preckon is a layer that reads your existing systems and produces the thing none of them produce — a defensible chain from document to price."</a:t>
            </a:r>
          </a:p>
          <a:p>
            <a:endParaRPr sz="1200">
              <a:latin typeface="Segoe UI"/>
            </a:endParaRPr>
          </a:p>
          <a:p>
            <a:r>
              <a:rPr sz="1200">
                <a:latin typeface="Segoe UI"/>
              </a:rPr>
              <a:t>ARCHITECTURAL COMMITMENT WORTH STATING: there is no separate enterprise fork. Same domain model, identity model, API contracts, audit model and AI governance across SaaS, dedicated cloud and on-premise. One codebase, four deployment shapes.</a:t>
            </a:r>
          </a:p>
          <a:p>
            <a:endParaRPr sz="1200">
              <a:latin typeface="Segoe UI"/>
            </a:endParaRPr>
          </a:p>
          <a:p>
            <a:r>
              <a:rPr sz="1200">
                <a:latin typeface="Segoe UI"/>
              </a:rPr>
              <a:t>TIME BUDGET: 2:00–2:45</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Segoe UI"/>
              </a:rPr>
              <a:t>DO  —  Do not read all eight aloud. Name three and move. Sprint this slide.</a:t>
            </a:r>
          </a:p>
          <a:p>
            <a:endParaRPr sz="1200">
              <a:latin typeface="Segoe UI"/>
            </a:endParaRPr>
          </a:p>
          <a:p>
            <a:r>
              <a:rPr sz="1200">
                <a:latin typeface="Segoe UI"/>
              </a:rPr>
              <a:t>SAY  —  "Eight modules, and the important word is 'chain', not 'suite'. A suite is products that share a login. This is one record that eight stages read and write in order."</a:t>
            </a:r>
          </a:p>
          <a:p>
            <a:endParaRPr sz="1200">
              <a:latin typeface="Segoe UI"/>
            </a:endParaRPr>
          </a:p>
          <a:p>
            <a:r>
              <a:rPr sz="1200">
                <a:latin typeface="Segoe UI"/>
              </a:rPr>
              <a:t>TIME BUDGET: 2:45–3:20  ·  FIRST TO CUT if running long.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Segoe UI"/>
              </a:rPr>
              <a:t>DO  —  Say it, then stop for two full seconds. This is the sentence they should repeat to their CEO.</a:t>
            </a:r>
          </a:p>
          <a:p>
            <a:endParaRPr sz="1200">
              <a:latin typeface="Segoe UI"/>
            </a:endParaRPr>
          </a:p>
          <a:p>
            <a:r>
              <a:rPr sz="1200">
                <a:latin typeface="Segoe UI"/>
              </a:rPr>
              <a:t>THIS SLIDE IS YOUR ANCHOR. Every architecture slide that follows exists to make this claim survive an audit. If you are running short on time later, cut a module slide — never cut this one.</a:t>
            </a:r>
          </a:p>
          <a:p>
            <a:endParaRPr sz="1200">
              <a:latin typeface="Segoe UI"/>
            </a:endParaRPr>
          </a:p>
          <a:p>
            <a:r>
              <a:rPr sz="1200">
                <a:latin typeface="Segoe UI"/>
              </a:rPr>
              <a:t>TIME BUDGET: 3:20–3:50</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Segoe UI"/>
              </a:rPr>
              <a:t>DO  —  This slide sets up the demo. Tell them you will show it live in six minutes, so they watch for it.</a:t>
            </a:r>
          </a:p>
          <a:p>
            <a:endParaRPr sz="1200">
              <a:latin typeface="Segoe UI"/>
            </a:endParaRPr>
          </a:p>
          <a:p>
            <a:r>
              <a:rPr sz="1200">
                <a:latin typeface="Segoe UI"/>
              </a:rPr>
              <a:t>SAY  —  "Estimating software has always let you correct a number. What it has never done is tell you what else just became wrong. Change a wall thickness and the quantity, the price, the procurement package and the programme are all downstream of it. Here, they all go stale, visibly, with a list."</a:t>
            </a:r>
          </a:p>
          <a:p>
            <a:endParaRPr sz="1200">
              <a:latin typeface="Segoe UI"/>
            </a:endParaRPr>
          </a:p>
          <a:p>
            <a:r>
              <a:rPr sz="1200">
                <a:latin typeface="Segoe UI"/>
              </a:rPr>
              <a:t>TIME BUDGET: 5:50–6:50</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Segoe UI"/>
              </a:rPr>
              <a:t>SAY  —  "The AI cannot commit a BOQ change. Not 'we've configured it not to' — it structurally cannot. It has four syscalls and none of them writes authoritative state. The only path from a proposal to a record runs through a person who holds the confirm permission."</a:t>
            </a:r>
          </a:p>
          <a:p>
            <a:endParaRPr sz="1200">
              <a:latin typeface="Segoe UI"/>
            </a:endParaRPr>
          </a:p>
          <a:p>
            <a:r>
              <a:rPr sz="1200">
                <a:latin typeface="Segoe UI"/>
              </a:rPr>
              <a:t>THIS IS YOUR STRONGEST SLIDE FOR A RISK-AVERSE CTO. Every AI horror story they have read is about a model taking an action. Say plainly: the failure mode here is a bad proposal that a human rejects, not a bad commit nobody noticed.</a:t>
            </a:r>
          </a:p>
          <a:p>
            <a:endParaRPr sz="1200">
              <a:latin typeface="Segoe UI"/>
            </a:endParaRPr>
          </a:p>
          <a:p>
            <a:r>
              <a:rPr sz="1200">
                <a:latin typeface="Segoe UI"/>
              </a:rPr>
              <a:t>DO  —  IF THEY RAISE AUTOPILOT (batch mode exists) — raise it first yourself. It requires the confirm permission, and starting, stopping and finishing it are each on the audit chain. It records that a person delegated, and who.</a:t>
            </a:r>
          </a:p>
          <a:p>
            <a:endParaRPr sz="1200">
              <a:latin typeface="Segoe UI"/>
            </a:endParaRPr>
          </a:p>
          <a:p>
            <a:r>
              <a:rPr sz="1200">
                <a:latin typeface="Segoe UI"/>
              </a:rPr>
              <a:t>TIME BUDGET: 6:50–7:35  ·  NEVER CUT.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Segoe UI"/>
              </a:rPr>
              <a:t>SAY  —  "A log tells you what the application said happened. A hash chain tells you whether anyone changed the record afterwards. That is the difference between a log and evidence, and in a claim it is the whole difference."</a:t>
            </a:r>
          </a:p>
          <a:p>
            <a:endParaRPr sz="1200">
              <a:latin typeface="Segoe UI"/>
            </a:endParaRPr>
          </a:p>
          <a:p>
            <a:r>
              <a:rPr sz="1200">
                <a:latin typeface="Segoe UI"/>
              </a:rPr>
              <a:t>DO  —  Move fast here — 25 seconds. You are going to SHOW the verify button in two minutes, and showing beats telling.</a:t>
            </a:r>
          </a:p>
          <a:p>
            <a:endParaRPr sz="1200">
              <a:latin typeface="Segoe UI"/>
            </a:endParaRPr>
          </a:p>
          <a:p>
            <a:r>
              <a:rPr sz="1200">
                <a:latin typeface="Segoe UI"/>
              </a:rPr>
              <a:t>TIME BUDGET: 8:35–9:00</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Segoe UI"/>
              </a:rPr>
              <a:t>DO  —  Press NEXT to advance past this slide only after the demo. Leave it up while you switch to the browser — it is the frame they hold while you drive.</a:t>
            </a:r>
          </a:p>
          <a:p>
            <a:endParaRPr sz="1200">
              <a:latin typeface="Segoe UI"/>
            </a:endParaRPr>
          </a:p>
          <a:p>
            <a:r>
              <a:rPr sz="1200">
                <a:latin typeface="Segoe UI"/>
              </a:rPr>
              <a:t>SAY  —  "Handing over to the browser: Pick any line you like. I'd rather you chose it than I did."</a:t>
            </a:r>
          </a:p>
          <a:p>
            <a:endParaRPr sz="1200">
              <a:latin typeface="Segoe UI"/>
            </a:endParaRPr>
          </a:p>
          <a:p>
            <a:r>
              <a:rPr sz="1200">
                <a:latin typeface="Segoe UI"/>
              </a:rPr>
              <a:t>BEAT 03 IS THE EMOTIONAL PEAK OF THE ENTIRE TWENTY MINUTES. Genuinely let them choose the line. Do not talk over the trace while they read it. If a quantity looks wrong, do not deflect — say 'Good, that's exactly the case this is built for', correct it, and show the stale cascade. A visible correction is worth more than a clean demo.</a:t>
            </a:r>
          </a:p>
          <a:p>
            <a:endParaRPr sz="1200">
              <a:latin typeface="Segoe UI"/>
            </a:endParaRPr>
          </a:p>
          <a:p>
            <a:r>
              <a:rPr sz="1200">
                <a:latin typeface="Segoe UI"/>
              </a:rPr>
              <a:t>DO  —  FALLBACK — If anything hangs: stop, say 'that's the worker queue, and it's honest — it's doing the reading', and move to Trace on already-confirmed records. Never apologise twice for the same pause.</a:t>
            </a:r>
          </a:p>
          <a:p>
            <a:endParaRPr sz="1200">
              <a:latin typeface="Segoe UI"/>
            </a:endParaRPr>
          </a:p>
          <a:p>
            <a:r>
              <a:rPr sz="1200">
                <a:latin typeface="Segoe UI"/>
              </a:rPr>
              <a:t>TIME BUDGET: 9:00–14:00</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Segoe UI"/>
              </a:rPr>
              <a:t>SAY  —  "Seventy-nine per cent, and I want to be careful about that number because it is easy to make it say anything. It is measured against the specification as written — not against a plan we could quietly move. Partial counts as a half. Missing counts as a zero."</a:t>
            </a:r>
          </a:p>
          <a:p>
            <a:endParaRPr sz="1200">
              <a:latin typeface="Segoe UI"/>
            </a:endParaRPr>
          </a:p>
          <a:p>
            <a:r>
              <a:rPr sz="1200">
                <a:latin typeface="Segoe UI"/>
              </a:rPr>
              <a:t>NOTICE DRAWLOGIX IS THE LOWEST AND ALSO THE STRONGEST. If asked: it has the most ambitious specification — IFC, clash, recognition — so it scores lowest while being the most impressive thing in the demo. Say that; it demonstrates the measure is honest rather than flattering.</a:t>
            </a:r>
          </a:p>
          <a:p>
            <a:endParaRPr sz="1200">
              <a:latin typeface="Segoe UI"/>
            </a:endParaRPr>
          </a:p>
          <a:p>
            <a:r>
              <a:rPr sz="1200">
                <a:latin typeface="Segoe UI"/>
              </a:rPr>
              <a:t>TIME BUDGET: 14:00–15:10</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Segoe UI"/>
              </a:rPr>
              <a:t>DO  —  Thirty seconds. This slide exists to defuse the migration objection before the ask, not to be explored.</a:t>
            </a:r>
          </a:p>
          <a:p>
            <a:endParaRPr sz="1200">
              <a:latin typeface="Segoe UI"/>
            </a:endParaRPr>
          </a:p>
          <a:p>
            <a:r>
              <a:rPr sz="1200">
                <a:latin typeface="Segoe UI"/>
              </a:rPr>
              <a:t>SAY  —  "There is no version of this where you turn something off in month one."</a:t>
            </a:r>
          </a:p>
          <a:p>
            <a:endParaRPr sz="1200">
              <a:latin typeface="Segoe UI"/>
            </a:endParaRPr>
          </a:p>
          <a:p>
            <a:r>
              <a:rPr sz="1200">
                <a:latin typeface="Segoe UI"/>
              </a:rPr>
              <a:t>TIME BUDGET: 17:55–18:25  ·  FIRST TO CUT if running long — fold into one sentence on the deployment slide.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Segoe UI"/>
              </a:rPr>
              <a:t>SAY  —  "Three things, and the third is the one that tells you how serious we are. We're not asking you to wait while we build SSO. We're asking for someone on your side to close that list with us, in the same six weeks as the pilot."</a:t>
            </a:r>
          </a:p>
          <a:p>
            <a:endParaRPr sz="1200">
              <a:latin typeface="Segoe UI"/>
            </a:endParaRPr>
          </a:p>
          <a:p>
            <a:r>
              <a:rPr sz="1200">
                <a:latin typeface="Segoe UI"/>
              </a:rPr>
              <a:t>THE GOLDEN SET IS THE HIGHEST-LEVERAGE ASK IN THE DECK. A design set paired with its final priced BOQ is the single most valuable artifact a construction AI company can be given. Ask for it directly and do not soften it.</a:t>
            </a:r>
          </a:p>
          <a:p>
            <a:endParaRPr sz="1200">
              <a:latin typeface="Segoe UI"/>
            </a:endParaRPr>
          </a:p>
          <a:p>
            <a:r>
              <a:rPr sz="1200">
                <a:latin typeface="Segoe UI"/>
              </a:rPr>
              <a:t>DO  —  Say the 'not asking for' panel out loud, all four. Ending on what you are NOT requesting lowers the cost of saying yes to the pilot.</a:t>
            </a:r>
          </a:p>
          <a:p>
            <a:endParaRPr sz="1200">
              <a:latin typeface="Segoe UI"/>
            </a:endParaRPr>
          </a:p>
          <a:p>
            <a:r>
              <a:rPr sz="1200">
                <a:latin typeface="Segoe UI"/>
              </a:rPr>
              <a:t>TIME BUDGET: 18:25–19:15</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874519"/>
            <a:ext cx="10874959" cy="1188720"/>
          </a:xfrm>
          <a:prstGeom prst="rect">
            <a:avLst/>
          </a:prstGeom>
          <a:noFill/>
        </p:spPr>
        <p:txBody>
          <a:bodyPr wrap="square" lIns="0" tIns="0" rIns="0" bIns="0" anchor="t">
            <a:spAutoFit/>
          </a:bodyPr>
          <a:lstStyle/>
          <a:p>
            <a:pPr>
              <a:lnSpc>
                <a:spcPct val="100000"/>
              </a:lnSpc>
              <a:spcBef>
                <a:spcPts val="0"/>
              </a:spcBef>
              <a:spcAft>
                <a:spcPts val="0"/>
              </a:spcAft>
            </a:pPr>
            <a:r>
              <a:rPr sz="6600" b="1" i="0">
                <a:solidFill>
                  <a:srgbClr val="E9F2F4"/>
                </a:solidFill>
                <a:latin typeface="Segoe UI"/>
              </a:rPr>
              <a:t>Preck</a:t>
            </a:r>
            <a:r>
              <a:rPr sz="6600" b="1" i="0">
                <a:solidFill>
                  <a:srgbClr val="3EDCC2"/>
                </a:solidFill>
                <a:latin typeface="Segoe UI"/>
              </a:rPr>
              <a:t>o</a:t>
            </a:r>
            <a:r>
              <a:rPr sz="6600" b="1" i="0">
                <a:solidFill>
                  <a:srgbClr val="E9F2F4"/>
                </a:solidFill>
                <a:latin typeface="Segoe UI"/>
              </a:rPr>
              <a:t>n</a:t>
            </a:r>
          </a:p>
        </p:txBody>
      </p:sp>
      <p:sp>
        <p:nvSpPr>
          <p:cNvPr id="5" name="TextBox 4"/>
          <p:cNvSpPr txBox="1"/>
          <p:nvPr/>
        </p:nvSpPr>
        <p:spPr>
          <a:xfrm>
            <a:off x="658368" y="3246120"/>
            <a:ext cx="6949440" cy="1280160"/>
          </a:xfrm>
          <a:prstGeom prst="rect">
            <a:avLst/>
          </a:prstGeom>
          <a:noFill/>
        </p:spPr>
        <p:txBody>
          <a:bodyPr wrap="square" lIns="0" tIns="0" rIns="0" bIns="0" anchor="t">
            <a:spAutoFit/>
          </a:bodyPr>
          <a:lstStyle/>
          <a:p>
            <a:pPr>
              <a:lnSpc>
                <a:spcPct val="142000"/>
              </a:lnSpc>
              <a:spcBef>
                <a:spcPts val="0"/>
              </a:spcBef>
              <a:spcAft>
                <a:spcPts val="0"/>
              </a:spcAft>
            </a:pPr>
            <a:r>
              <a:rPr sz="1700" b="0" i="0" dirty="0">
                <a:solidFill>
                  <a:srgbClr val="A8C0C8"/>
                </a:solidFill>
                <a:latin typeface="Segoe UI"/>
              </a:rPr>
              <a:t>An AI-native construction operating system where every number can name the document, the drawing layer, or the person it came from.</a:t>
            </a:r>
          </a:p>
        </p:txBody>
      </p:sp>
      <p:sp>
        <p:nvSpPr>
          <p:cNvPr id="6" name="Rectangle 5"/>
          <p:cNvSpPr/>
          <p:nvPr/>
        </p:nvSpPr>
        <p:spPr>
          <a:xfrm>
            <a:off x="658368" y="58978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6080760"/>
            <a:ext cx="5029200" cy="274320"/>
          </a:xfrm>
          <a:prstGeom prst="rect">
            <a:avLst/>
          </a:prstGeom>
          <a:noFill/>
        </p:spPr>
        <p:txBody>
          <a:bodyPr wrap="square" lIns="0" tIns="0" rIns="0" bIns="0" anchor="t">
            <a:spAutoFit/>
          </a:bodyPr>
          <a:lstStyle/>
          <a:p>
            <a:pPr>
              <a:spcBef>
                <a:spcPts val="0"/>
              </a:spcBef>
              <a:spcAft>
                <a:spcPts val="0"/>
              </a:spcAft>
            </a:pPr>
            <a:r>
              <a:rPr sz="900" b="0" i="0" spc="120">
                <a:solidFill>
                  <a:srgbClr val="7A939E"/>
                </a:solidFill>
                <a:latin typeface="Consolas"/>
              </a:rPr>
              <a:t>TECHSME  ·  21 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57200"/>
            <a:ext cx="10874959" cy="219456"/>
          </a:xfrm>
          <a:prstGeom prst="rect">
            <a:avLst/>
          </a:prstGeom>
          <a:noFill/>
        </p:spPr>
        <p:txBody>
          <a:bodyPr wrap="square" lIns="0" tIns="0" rIns="0" bIns="0" anchor="t">
            <a:spAutoFit/>
          </a:bodyPr>
          <a:lstStyle/>
          <a:p>
            <a:pPr>
              <a:spcBef>
                <a:spcPts val="0"/>
              </a:spcBef>
              <a:spcAft>
                <a:spcPts val="0"/>
              </a:spcAft>
            </a:pPr>
            <a:r>
              <a:rPr sz="900" b="0" i="0" spc="140">
                <a:solidFill>
                  <a:srgbClr val="7A939E"/>
                </a:solidFill>
                <a:latin typeface="Consolas"/>
              </a:rPr>
              <a:t>THE PROBLEM  </a:t>
            </a:r>
            <a:r>
              <a:rPr sz="900" b="1" i="0" spc="140">
                <a:solidFill>
                  <a:srgbClr val="3EDCC2"/>
                </a:solidFill>
                <a:latin typeface="Consolas"/>
              </a:rPr>
              <a:t>01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869948"/>
            <a:ext cx="4114800" cy="1463040"/>
          </a:xfrm>
          <a:prstGeom prst="rect">
            <a:avLst/>
          </a:prstGeom>
          <a:noFill/>
        </p:spPr>
        <p:txBody>
          <a:bodyPr wrap="square" lIns="0" tIns="0" rIns="0" bIns="0" anchor="t">
            <a:spAutoFit/>
          </a:bodyPr>
          <a:lstStyle/>
          <a:p>
            <a:pPr>
              <a:lnSpc>
                <a:spcPct val="112000"/>
              </a:lnSpc>
              <a:spcBef>
                <a:spcPts val="0"/>
              </a:spcBef>
              <a:spcAft>
                <a:spcPts val="0"/>
              </a:spcAft>
            </a:pPr>
            <a:r>
              <a:rPr sz="2700" b="1" i="0">
                <a:solidFill>
                  <a:srgbClr val="E9F2F4"/>
                </a:solidFill>
                <a:latin typeface="Segoe UI"/>
              </a:rPr>
              <a:t>The most consequential number your business produces is the least governed one.</a:t>
            </a:r>
          </a:p>
        </p:txBody>
      </p:sp>
      <p:sp>
        <p:nvSpPr>
          <p:cNvPr id="6" name="TextBox 5"/>
          <p:cNvSpPr txBox="1"/>
          <p:nvPr/>
        </p:nvSpPr>
        <p:spPr>
          <a:xfrm>
            <a:off x="5074920" y="1869948"/>
            <a:ext cx="6455664" cy="1371600"/>
          </a:xfrm>
          <a:prstGeom prst="rect">
            <a:avLst/>
          </a:prstGeom>
          <a:noFill/>
        </p:spPr>
        <p:txBody>
          <a:bodyPr wrap="square" lIns="0" tIns="0" rIns="0" bIns="0" anchor="t">
            <a:spAutoFit/>
          </a:bodyPr>
          <a:lstStyle/>
          <a:p>
            <a:pPr>
              <a:lnSpc>
                <a:spcPct val="142000"/>
              </a:lnSpc>
              <a:spcBef>
                <a:spcPts val="0"/>
              </a:spcBef>
              <a:spcAft>
                <a:spcPts val="700"/>
              </a:spcAft>
            </a:pPr>
            <a:r>
              <a:rPr sz="1350" b="0" i="0">
                <a:solidFill>
                  <a:srgbClr val="A8C0C8"/>
                </a:solidFill>
                <a:latin typeface="Segoe UI"/>
              </a:rPr>
              <a:t>A tender price commits the company for years. It is produced in </a:t>
            </a:r>
            <a:r>
              <a:rPr sz="1350" b="1" i="0">
                <a:solidFill>
                  <a:srgbClr val="E9F2F4"/>
                </a:solidFill>
                <a:latin typeface="Segoe UI"/>
              </a:rPr>
              <a:t>two to six weeks</a:t>
            </a:r>
            <a:r>
              <a:rPr sz="1350" b="0" i="0">
                <a:solidFill>
                  <a:srgbClr val="A8C0C8"/>
                </a:solidFill>
                <a:latin typeface="Segoe UI"/>
              </a:rPr>
              <a:t>, by one senior estimator, in spreadsheets, from marked-up PDFs — and when it is questioned in a post-tender meeting, the answer comes from memory.</a:t>
            </a:r>
          </a:p>
        </p:txBody>
      </p:sp>
      <p:sp>
        <p:nvSpPr>
          <p:cNvPr id="7" name="Rounded Rectangle 6"/>
          <p:cNvSpPr/>
          <p:nvPr/>
        </p:nvSpPr>
        <p:spPr>
          <a:xfrm>
            <a:off x="5074920" y="3515868"/>
            <a:ext cx="2066543" cy="12344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5230368" y="3653027"/>
            <a:ext cx="1755647" cy="960120"/>
          </a:xfrm>
          <a:prstGeom prst="rect">
            <a:avLst/>
          </a:prstGeom>
          <a:noFill/>
        </p:spPr>
        <p:txBody>
          <a:bodyPr wrap="square" lIns="0" tIns="0" rIns="0" bIns="0" anchor="t">
            <a:spAutoFit/>
          </a:bodyPr>
          <a:lstStyle/>
          <a:p>
            <a:pPr>
              <a:spcBef>
                <a:spcPts val="0"/>
              </a:spcBef>
              <a:spcAft>
                <a:spcPts val="600"/>
              </a:spcAft>
            </a:pPr>
            <a:r>
              <a:rPr sz="800" b="0" i="0" spc="130">
                <a:solidFill>
                  <a:srgbClr val="7A939E"/>
                </a:solidFill>
                <a:latin typeface="Consolas"/>
              </a:rPr>
              <a:t>CONCENTRATION</a:t>
            </a:r>
          </a:p>
          <a:p>
            <a:pPr>
              <a:lnSpc>
                <a:spcPct val="138000"/>
              </a:lnSpc>
              <a:spcBef>
                <a:spcPts val="0"/>
              </a:spcBef>
              <a:spcAft>
                <a:spcPts val="0"/>
              </a:spcAft>
            </a:pPr>
            <a:r>
              <a:rPr sz="1050" b="0" i="0">
                <a:solidFill>
                  <a:srgbClr val="A8C0C8"/>
                </a:solidFill>
                <a:latin typeface="Segoe UI"/>
              </a:rPr>
              <a:t>The method lives in one person's head. It leaves when they do.</a:t>
            </a:r>
          </a:p>
        </p:txBody>
      </p:sp>
      <p:sp>
        <p:nvSpPr>
          <p:cNvPr id="9" name="Rounded Rectangle 8"/>
          <p:cNvSpPr/>
          <p:nvPr/>
        </p:nvSpPr>
        <p:spPr>
          <a:xfrm>
            <a:off x="7269479" y="3515868"/>
            <a:ext cx="2066543" cy="12344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424927" y="3653027"/>
            <a:ext cx="1755647" cy="960120"/>
          </a:xfrm>
          <a:prstGeom prst="rect">
            <a:avLst/>
          </a:prstGeom>
          <a:noFill/>
        </p:spPr>
        <p:txBody>
          <a:bodyPr wrap="square" lIns="0" tIns="0" rIns="0" bIns="0" anchor="t">
            <a:spAutoFit/>
          </a:bodyPr>
          <a:lstStyle/>
          <a:p>
            <a:pPr>
              <a:spcBef>
                <a:spcPts val="0"/>
              </a:spcBef>
              <a:spcAft>
                <a:spcPts val="600"/>
              </a:spcAft>
            </a:pPr>
            <a:r>
              <a:rPr sz="800" b="0" i="0" spc="130">
                <a:solidFill>
                  <a:srgbClr val="7A939E"/>
                </a:solidFill>
                <a:latin typeface="Consolas"/>
              </a:rPr>
              <a:t>OPACITY</a:t>
            </a:r>
          </a:p>
          <a:p>
            <a:pPr>
              <a:lnSpc>
                <a:spcPct val="138000"/>
              </a:lnSpc>
              <a:spcBef>
                <a:spcPts val="0"/>
              </a:spcBef>
              <a:spcAft>
                <a:spcPts val="0"/>
              </a:spcAft>
            </a:pPr>
            <a:r>
              <a:rPr sz="1050" b="0" i="0">
                <a:solidFill>
                  <a:srgbClr val="A8C0C8"/>
                </a:solidFill>
                <a:latin typeface="Segoe UI"/>
              </a:rPr>
              <a:t>No trail from a number back to the drawing it was measured off.</a:t>
            </a:r>
          </a:p>
        </p:txBody>
      </p:sp>
      <p:sp>
        <p:nvSpPr>
          <p:cNvPr id="11" name="Rounded Rectangle 10"/>
          <p:cNvSpPr/>
          <p:nvPr/>
        </p:nvSpPr>
        <p:spPr>
          <a:xfrm>
            <a:off x="9464040" y="3515868"/>
            <a:ext cx="2066543" cy="12344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9619488" y="3653027"/>
            <a:ext cx="1755647" cy="960120"/>
          </a:xfrm>
          <a:prstGeom prst="rect">
            <a:avLst/>
          </a:prstGeom>
          <a:noFill/>
        </p:spPr>
        <p:txBody>
          <a:bodyPr wrap="square" lIns="0" tIns="0" rIns="0" bIns="0" anchor="t">
            <a:spAutoFit/>
          </a:bodyPr>
          <a:lstStyle/>
          <a:p>
            <a:pPr>
              <a:spcBef>
                <a:spcPts val="0"/>
              </a:spcBef>
              <a:spcAft>
                <a:spcPts val="600"/>
              </a:spcAft>
            </a:pPr>
            <a:r>
              <a:rPr sz="800" b="0" i="0" spc="130">
                <a:solidFill>
                  <a:srgbClr val="7A939E"/>
                </a:solidFill>
                <a:latin typeface="Consolas"/>
              </a:rPr>
              <a:t>LATENCY</a:t>
            </a:r>
          </a:p>
          <a:p>
            <a:pPr>
              <a:lnSpc>
                <a:spcPct val="138000"/>
              </a:lnSpc>
              <a:spcBef>
                <a:spcPts val="0"/>
              </a:spcBef>
              <a:spcAft>
                <a:spcPts val="0"/>
              </a:spcAft>
            </a:pPr>
            <a:r>
              <a:rPr sz="1050" b="0" i="0">
                <a:solidFill>
                  <a:srgbClr val="A8C0C8"/>
                </a:solidFill>
                <a:latin typeface="Segoe UI"/>
              </a:rPr>
              <a:t>The cycle is longer than the bid window, so scope gets thinner.</a:t>
            </a:r>
          </a:p>
        </p:txBody>
      </p:sp>
      <p:sp>
        <p:nvSpPr>
          <p:cNvPr id="13" name="TextBox 12"/>
          <p:cNvSpPr txBox="1"/>
          <p:nvPr/>
        </p:nvSpPr>
        <p:spPr>
          <a:xfrm>
            <a:off x="5074920" y="4951476"/>
            <a:ext cx="6455664" cy="548640"/>
          </a:xfrm>
          <a:prstGeom prst="rect">
            <a:avLst/>
          </a:prstGeom>
          <a:noFill/>
        </p:spPr>
        <p:txBody>
          <a:bodyPr wrap="square" lIns="0" tIns="0" rIns="0" bIns="0" anchor="t">
            <a:spAutoFit/>
          </a:bodyPr>
          <a:lstStyle/>
          <a:p>
            <a:pPr>
              <a:lnSpc>
                <a:spcPct val="140000"/>
              </a:lnSpc>
              <a:spcBef>
                <a:spcPts val="0"/>
              </a:spcBef>
              <a:spcAft>
                <a:spcPts val="0"/>
              </a:spcAft>
            </a:pPr>
            <a:r>
              <a:rPr sz="1100" b="0" i="0">
                <a:solidFill>
                  <a:srgbClr val="7A939E"/>
                </a:solidFill>
                <a:latin typeface="Segoe UI"/>
              </a:rPr>
              <a:t>Every other business-critical number you hold — payroll, ledger, inventory — sits in a system with an audit trail. The estimate does not.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57200"/>
            <a:ext cx="10874959" cy="219456"/>
          </a:xfrm>
          <a:prstGeom prst="rect">
            <a:avLst/>
          </a:prstGeom>
          <a:noFill/>
        </p:spPr>
        <p:txBody>
          <a:bodyPr wrap="square" lIns="0" tIns="0" rIns="0" bIns="0" anchor="t">
            <a:spAutoFit/>
          </a:bodyPr>
          <a:lstStyle/>
          <a:p>
            <a:pPr>
              <a:spcBef>
                <a:spcPts val="0"/>
              </a:spcBef>
              <a:spcAft>
                <a:spcPts val="0"/>
              </a:spcAft>
            </a:pPr>
            <a:r>
              <a:rPr sz="900" b="0" i="0" spc="140">
                <a:solidFill>
                  <a:srgbClr val="7A939E"/>
                </a:solidFill>
                <a:latin typeface="Consolas"/>
              </a:rPr>
              <a:t>WHERE EVERYONE ELSE STOPS  </a:t>
            </a:r>
            <a:r>
              <a:rPr sz="900" b="1" i="0" spc="140">
                <a:solidFill>
                  <a:srgbClr val="3EDCC2"/>
                </a:solidFill>
                <a:latin typeface="Consolas"/>
              </a:rPr>
              <a:t>02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156716"/>
            <a:ext cx="9875520" cy="1463040"/>
          </a:xfrm>
          <a:prstGeom prst="rect">
            <a:avLst/>
          </a:prstGeom>
          <a:noFill/>
        </p:spPr>
        <p:txBody>
          <a:bodyPr wrap="square" lIns="0" tIns="0" rIns="0" bIns="0" anchor="t">
            <a:spAutoFit/>
          </a:bodyPr>
          <a:lstStyle/>
          <a:p>
            <a:pPr>
              <a:lnSpc>
                <a:spcPct val="112000"/>
              </a:lnSpc>
              <a:spcBef>
                <a:spcPts val="0"/>
              </a:spcBef>
              <a:spcAft>
                <a:spcPts val="0"/>
              </a:spcAft>
            </a:pPr>
            <a:r>
              <a:rPr sz="2600" b="1" i="0">
                <a:solidFill>
                  <a:srgbClr val="E9F2F4"/>
                </a:solidFill>
                <a:latin typeface="Segoe UI"/>
              </a:rPr>
              <a:t>The preconstruction chain has five stages. Almost every tool owns one.</a:t>
            </a:r>
          </a:p>
        </p:txBody>
      </p:sp>
      <p:sp>
        <p:nvSpPr>
          <p:cNvPr id="6" name="TextBox 5"/>
          <p:cNvSpPr txBox="1"/>
          <p:nvPr/>
        </p:nvSpPr>
        <p:spPr>
          <a:xfrm>
            <a:off x="2532887" y="2436876"/>
            <a:ext cx="1745223" cy="219456"/>
          </a:xfrm>
          <a:prstGeom prst="rect">
            <a:avLst/>
          </a:prstGeom>
          <a:noFill/>
        </p:spPr>
        <p:txBody>
          <a:bodyPr wrap="square" lIns="0" tIns="0" rIns="0" bIns="0" anchor="t">
            <a:spAutoFit/>
          </a:bodyPr>
          <a:lstStyle/>
          <a:p>
            <a:pPr algn="ctr"/>
            <a:r>
              <a:rPr sz="850" b="0" i="0" spc="110">
                <a:solidFill>
                  <a:srgbClr val="7A939E"/>
                </a:solidFill>
                <a:latin typeface="Consolas"/>
              </a:rPr>
              <a:t>DOCUMENTS</a:t>
            </a:r>
          </a:p>
        </p:txBody>
      </p:sp>
      <p:sp>
        <p:nvSpPr>
          <p:cNvPr id="7" name="TextBox 6"/>
          <p:cNvSpPr txBox="1"/>
          <p:nvPr/>
        </p:nvSpPr>
        <p:spPr>
          <a:xfrm>
            <a:off x="4332975" y="2436876"/>
            <a:ext cx="1745223" cy="219456"/>
          </a:xfrm>
          <a:prstGeom prst="rect">
            <a:avLst/>
          </a:prstGeom>
          <a:noFill/>
        </p:spPr>
        <p:txBody>
          <a:bodyPr wrap="square" lIns="0" tIns="0" rIns="0" bIns="0" anchor="t">
            <a:spAutoFit/>
          </a:bodyPr>
          <a:lstStyle/>
          <a:p>
            <a:pPr algn="ctr"/>
            <a:r>
              <a:rPr sz="850" b="0" i="0" spc="110">
                <a:solidFill>
                  <a:srgbClr val="7A939E"/>
                </a:solidFill>
                <a:latin typeface="Consolas"/>
              </a:rPr>
              <a:t>TAKEOFF</a:t>
            </a:r>
          </a:p>
        </p:txBody>
      </p:sp>
      <p:sp>
        <p:nvSpPr>
          <p:cNvPr id="8" name="TextBox 7"/>
          <p:cNvSpPr txBox="1"/>
          <p:nvPr/>
        </p:nvSpPr>
        <p:spPr>
          <a:xfrm>
            <a:off x="6133063" y="2436876"/>
            <a:ext cx="1745223" cy="219456"/>
          </a:xfrm>
          <a:prstGeom prst="rect">
            <a:avLst/>
          </a:prstGeom>
          <a:noFill/>
        </p:spPr>
        <p:txBody>
          <a:bodyPr wrap="square" lIns="0" tIns="0" rIns="0" bIns="0" anchor="t">
            <a:spAutoFit/>
          </a:bodyPr>
          <a:lstStyle/>
          <a:p>
            <a:pPr algn="ctr"/>
            <a:r>
              <a:rPr sz="850" b="0" i="0" spc="110">
                <a:solidFill>
                  <a:srgbClr val="7A939E"/>
                </a:solidFill>
                <a:latin typeface="Consolas"/>
              </a:rPr>
              <a:t>BOQ</a:t>
            </a:r>
          </a:p>
        </p:txBody>
      </p:sp>
      <p:sp>
        <p:nvSpPr>
          <p:cNvPr id="9" name="TextBox 8"/>
          <p:cNvSpPr txBox="1"/>
          <p:nvPr/>
        </p:nvSpPr>
        <p:spPr>
          <a:xfrm>
            <a:off x="7933151" y="2436876"/>
            <a:ext cx="1745223" cy="219456"/>
          </a:xfrm>
          <a:prstGeom prst="rect">
            <a:avLst/>
          </a:prstGeom>
          <a:noFill/>
        </p:spPr>
        <p:txBody>
          <a:bodyPr wrap="square" lIns="0" tIns="0" rIns="0" bIns="0" anchor="t">
            <a:spAutoFit/>
          </a:bodyPr>
          <a:lstStyle/>
          <a:p>
            <a:pPr algn="ctr"/>
            <a:r>
              <a:rPr sz="850" b="0" i="0" spc="110">
                <a:solidFill>
                  <a:srgbClr val="7A939E"/>
                </a:solidFill>
                <a:latin typeface="Consolas"/>
              </a:rPr>
              <a:t>ESTIMATE</a:t>
            </a:r>
          </a:p>
        </p:txBody>
      </p:sp>
      <p:sp>
        <p:nvSpPr>
          <p:cNvPr id="10" name="TextBox 9"/>
          <p:cNvSpPr txBox="1"/>
          <p:nvPr/>
        </p:nvSpPr>
        <p:spPr>
          <a:xfrm>
            <a:off x="9733239" y="2436876"/>
            <a:ext cx="1745223" cy="219456"/>
          </a:xfrm>
          <a:prstGeom prst="rect">
            <a:avLst/>
          </a:prstGeom>
          <a:noFill/>
        </p:spPr>
        <p:txBody>
          <a:bodyPr wrap="square" lIns="0" tIns="0" rIns="0" bIns="0" anchor="t">
            <a:spAutoFit/>
          </a:bodyPr>
          <a:lstStyle/>
          <a:p>
            <a:pPr algn="ctr"/>
            <a:r>
              <a:rPr sz="850" b="0" i="0" spc="110">
                <a:solidFill>
                  <a:srgbClr val="7A939E"/>
                </a:solidFill>
                <a:latin typeface="Consolas"/>
              </a:rPr>
              <a:t>PROCUREMENT</a:t>
            </a:r>
          </a:p>
        </p:txBody>
      </p:sp>
      <p:sp>
        <p:nvSpPr>
          <p:cNvPr id="11" name="TextBox 10"/>
          <p:cNvSpPr txBox="1"/>
          <p:nvPr/>
        </p:nvSpPr>
        <p:spPr>
          <a:xfrm>
            <a:off x="658368" y="2729484"/>
            <a:ext cx="1783080" cy="402336"/>
          </a:xfrm>
          <a:prstGeom prst="rect">
            <a:avLst/>
          </a:prstGeom>
          <a:noFill/>
        </p:spPr>
        <p:txBody>
          <a:bodyPr wrap="square" lIns="0" tIns="0" rIns="0" bIns="0" anchor="t">
            <a:spAutoFit/>
          </a:bodyPr>
          <a:lstStyle/>
          <a:p>
            <a:pPr algn="r"/>
            <a:r>
              <a:rPr sz="1050" b="0" i="0">
                <a:solidFill>
                  <a:srgbClr val="A8C0C8"/>
                </a:solidFill>
                <a:latin typeface="Segoe UI"/>
              </a:rPr>
              <a:t>Takeoff tools</a:t>
            </a:r>
          </a:p>
          <a:p>
            <a:pPr algn="r">
              <a:spcBef>
                <a:spcPts val="100"/>
              </a:spcBef>
              <a:spcAft>
                <a:spcPts val="0"/>
              </a:spcAft>
            </a:pPr>
            <a:r>
              <a:rPr sz="800" b="0" i="0">
                <a:solidFill>
                  <a:srgbClr val="556E79"/>
                </a:solidFill>
                <a:latin typeface="Consolas"/>
              </a:rPr>
              <a:t>Togal · Kreo · Beam</a:t>
            </a:r>
          </a:p>
        </p:txBody>
      </p:sp>
      <p:sp>
        <p:nvSpPr>
          <p:cNvPr id="12" name="Rounded Rectangle 11"/>
          <p:cNvSpPr/>
          <p:nvPr/>
        </p:nvSpPr>
        <p:spPr>
          <a:xfrm>
            <a:off x="2532887" y="2711196"/>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4332975" y="2711196"/>
            <a:ext cx="1745223" cy="292608"/>
          </a:xfrm>
          <a:prstGeom prst="roundRect">
            <a:avLst>
              <a:gd name="adj" fmla="val 9000"/>
            </a:avLst>
          </a:prstGeom>
          <a:solidFill>
            <a:srgbClr val="2A4C58"/>
          </a:solidFill>
          <a:ln w="9525">
            <a:solidFill>
              <a:srgbClr val="2A4C5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6133063" y="2711196"/>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ounded Rectangle 14"/>
          <p:cNvSpPr/>
          <p:nvPr/>
        </p:nvSpPr>
        <p:spPr>
          <a:xfrm>
            <a:off x="7933151" y="2711196"/>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9733239" y="2711196"/>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58368" y="3204972"/>
            <a:ext cx="1783080" cy="402336"/>
          </a:xfrm>
          <a:prstGeom prst="rect">
            <a:avLst/>
          </a:prstGeom>
          <a:noFill/>
        </p:spPr>
        <p:txBody>
          <a:bodyPr wrap="square" lIns="0" tIns="0" rIns="0" bIns="0" anchor="t">
            <a:spAutoFit/>
          </a:bodyPr>
          <a:lstStyle/>
          <a:p>
            <a:pPr algn="r"/>
            <a:r>
              <a:rPr sz="1050" b="0" i="0">
                <a:solidFill>
                  <a:srgbClr val="A8C0C8"/>
                </a:solidFill>
                <a:latin typeface="Segoe UI"/>
              </a:rPr>
              <a:t>Estimating</a:t>
            </a:r>
          </a:p>
          <a:p>
            <a:pPr algn="r">
              <a:spcBef>
                <a:spcPts val="100"/>
              </a:spcBef>
              <a:spcAft>
                <a:spcPts val="0"/>
              </a:spcAft>
            </a:pPr>
            <a:r>
              <a:rPr sz="800" b="0" i="0">
                <a:solidFill>
                  <a:srgbClr val="556E79"/>
                </a:solidFill>
                <a:latin typeface="Consolas"/>
              </a:rPr>
              <a:t>CostX and peers</a:t>
            </a:r>
          </a:p>
        </p:txBody>
      </p:sp>
      <p:sp>
        <p:nvSpPr>
          <p:cNvPr id="18" name="Rounded Rectangle 17"/>
          <p:cNvSpPr/>
          <p:nvPr/>
        </p:nvSpPr>
        <p:spPr>
          <a:xfrm>
            <a:off x="2532887" y="3186684"/>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ounded Rectangle 18"/>
          <p:cNvSpPr/>
          <p:nvPr/>
        </p:nvSpPr>
        <p:spPr>
          <a:xfrm>
            <a:off x="4332975" y="3186684"/>
            <a:ext cx="1745223" cy="292608"/>
          </a:xfrm>
          <a:prstGeom prst="roundRect">
            <a:avLst>
              <a:gd name="adj" fmla="val 9000"/>
            </a:avLst>
          </a:prstGeom>
          <a:solidFill>
            <a:srgbClr val="1E3842"/>
          </a:solidFill>
          <a:ln w="9525">
            <a:solidFill>
              <a:srgbClr val="2A4C5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ounded Rectangle 19"/>
          <p:cNvSpPr/>
          <p:nvPr/>
        </p:nvSpPr>
        <p:spPr>
          <a:xfrm>
            <a:off x="6133063" y="3186684"/>
            <a:ext cx="1745223" cy="292608"/>
          </a:xfrm>
          <a:prstGeom prst="roundRect">
            <a:avLst>
              <a:gd name="adj" fmla="val 9000"/>
            </a:avLst>
          </a:prstGeom>
          <a:solidFill>
            <a:srgbClr val="1E3842"/>
          </a:solidFill>
          <a:ln w="9525">
            <a:solidFill>
              <a:srgbClr val="2A4C5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ounded Rectangle 20"/>
          <p:cNvSpPr/>
          <p:nvPr/>
        </p:nvSpPr>
        <p:spPr>
          <a:xfrm>
            <a:off x="7933151" y="3186684"/>
            <a:ext cx="1745223" cy="292608"/>
          </a:xfrm>
          <a:prstGeom prst="roundRect">
            <a:avLst>
              <a:gd name="adj" fmla="val 9000"/>
            </a:avLst>
          </a:prstGeom>
          <a:solidFill>
            <a:srgbClr val="2A4C58"/>
          </a:solidFill>
          <a:ln w="9525">
            <a:solidFill>
              <a:srgbClr val="2A4C5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ounded Rectangle 21"/>
          <p:cNvSpPr/>
          <p:nvPr/>
        </p:nvSpPr>
        <p:spPr>
          <a:xfrm>
            <a:off x="9733239" y="3186684"/>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658368" y="3680460"/>
            <a:ext cx="1783080" cy="402336"/>
          </a:xfrm>
          <a:prstGeom prst="rect">
            <a:avLst/>
          </a:prstGeom>
          <a:noFill/>
        </p:spPr>
        <p:txBody>
          <a:bodyPr wrap="square" lIns="0" tIns="0" rIns="0" bIns="0" anchor="t">
            <a:spAutoFit/>
          </a:bodyPr>
          <a:lstStyle/>
          <a:p>
            <a:pPr algn="r"/>
            <a:r>
              <a:rPr sz="1050" b="0" i="0">
                <a:solidFill>
                  <a:srgbClr val="A8C0C8"/>
                </a:solidFill>
                <a:latin typeface="Segoe UI"/>
              </a:rPr>
              <a:t>PM platforms</a:t>
            </a:r>
          </a:p>
          <a:p>
            <a:pPr algn="r">
              <a:spcBef>
                <a:spcPts val="100"/>
              </a:spcBef>
              <a:spcAft>
                <a:spcPts val="0"/>
              </a:spcAft>
            </a:pPr>
            <a:r>
              <a:rPr sz="800" b="0" i="0">
                <a:solidFill>
                  <a:srgbClr val="556E79"/>
                </a:solidFill>
                <a:latin typeface="Consolas"/>
              </a:rPr>
              <a:t>Procore · RDash</a:t>
            </a:r>
          </a:p>
        </p:txBody>
      </p:sp>
      <p:sp>
        <p:nvSpPr>
          <p:cNvPr id="24" name="Rounded Rectangle 23"/>
          <p:cNvSpPr/>
          <p:nvPr/>
        </p:nvSpPr>
        <p:spPr>
          <a:xfrm>
            <a:off x="2532887" y="3662172"/>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ounded Rectangle 24"/>
          <p:cNvSpPr/>
          <p:nvPr/>
        </p:nvSpPr>
        <p:spPr>
          <a:xfrm>
            <a:off x="4332975" y="3662172"/>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Rounded Rectangle 25"/>
          <p:cNvSpPr/>
          <p:nvPr/>
        </p:nvSpPr>
        <p:spPr>
          <a:xfrm>
            <a:off x="6133063" y="3662172"/>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Rounded Rectangle 26"/>
          <p:cNvSpPr/>
          <p:nvPr/>
        </p:nvSpPr>
        <p:spPr>
          <a:xfrm>
            <a:off x="7933151" y="3662172"/>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ounded Rectangle 27"/>
          <p:cNvSpPr/>
          <p:nvPr/>
        </p:nvSpPr>
        <p:spPr>
          <a:xfrm>
            <a:off x="9733239" y="3662172"/>
            <a:ext cx="1745223" cy="292608"/>
          </a:xfrm>
          <a:prstGeom prst="roundRect">
            <a:avLst>
              <a:gd name="adj" fmla="val 9000"/>
            </a:avLst>
          </a:prstGeom>
          <a:solidFill>
            <a:srgbClr val="1E3842"/>
          </a:solidFill>
          <a:ln w="9525">
            <a:solidFill>
              <a:srgbClr val="2A4C5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658368" y="4155948"/>
            <a:ext cx="1783080" cy="402336"/>
          </a:xfrm>
          <a:prstGeom prst="rect">
            <a:avLst/>
          </a:prstGeom>
          <a:noFill/>
        </p:spPr>
        <p:txBody>
          <a:bodyPr wrap="square" lIns="0" tIns="0" rIns="0" bIns="0" anchor="t">
            <a:spAutoFit/>
          </a:bodyPr>
          <a:lstStyle/>
          <a:p>
            <a:pPr algn="r"/>
            <a:r>
              <a:rPr sz="1200" b="1" i="0">
                <a:solidFill>
                  <a:srgbClr val="E9F2F4"/>
                </a:solidFill>
                <a:latin typeface="Segoe UI"/>
              </a:rPr>
              <a:t>Preckon</a:t>
            </a:r>
          </a:p>
        </p:txBody>
      </p:sp>
      <p:sp>
        <p:nvSpPr>
          <p:cNvPr id="30" name="Rounded Rectangle 29"/>
          <p:cNvSpPr/>
          <p:nvPr/>
        </p:nvSpPr>
        <p:spPr>
          <a:xfrm>
            <a:off x="2532887" y="4137660"/>
            <a:ext cx="1745223" cy="292608"/>
          </a:xfrm>
          <a:prstGeom prst="roundRect">
            <a:avLst>
              <a:gd name="adj" fmla="val 9000"/>
            </a:avLst>
          </a:prstGeom>
          <a:solidFill>
            <a:srgbClr val="3EDCC2"/>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Rounded Rectangle 30"/>
          <p:cNvSpPr/>
          <p:nvPr/>
        </p:nvSpPr>
        <p:spPr>
          <a:xfrm>
            <a:off x="4332975" y="4137660"/>
            <a:ext cx="1745223" cy="292608"/>
          </a:xfrm>
          <a:prstGeom prst="roundRect">
            <a:avLst>
              <a:gd name="adj" fmla="val 9000"/>
            </a:avLst>
          </a:prstGeom>
          <a:solidFill>
            <a:srgbClr val="3EDCC2"/>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Rounded Rectangle 31"/>
          <p:cNvSpPr/>
          <p:nvPr/>
        </p:nvSpPr>
        <p:spPr>
          <a:xfrm>
            <a:off x="6133063" y="4137660"/>
            <a:ext cx="1745223" cy="292608"/>
          </a:xfrm>
          <a:prstGeom prst="roundRect">
            <a:avLst>
              <a:gd name="adj" fmla="val 9000"/>
            </a:avLst>
          </a:prstGeom>
          <a:solidFill>
            <a:srgbClr val="3EDCC2"/>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Rounded Rectangle 32"/>
          <p:cNvSpPr/>
          <p:nvPr/>
        </p:nvSpPr>
        <p:spPr>
          <a:xfrm>
            <a:off x="7933151" y="4137660"/>
            <a:ext cx="1745223" cy="292608"/>
          </a:xfrm>
          <a:prstGeom prst="roundRect">
            <a:avLst>
              <a:gd name="adj" fmla="val 9000"/>
            </a:avLst>
          </a:prstGeom>
          <a:solidFill>
            <a:srgbClr val="3EDCC2"/>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Rounded Rectangle 33"/>
          <p:cNvSpPr/>
          <p:nvPr/>
        </p:nvSpPr>
        <p:spPr>
          <a:xfrm>
            <a:off x="9733239" y="4137660"/>
            <a:ext cx="1745223" cy="292608"/>
          </a:xfrm>
          <a:prstGeom prst="roundRect">
            <a:avLst>
              <a:gd name="adj" fmla="val 9000"/>
            </a:avLst>
          </a:prstGeom>
          <a:solidFill>
            <a:srgbClr val="3EDCC2"/>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Rectangle 34"/>
          <p:cNvSpPr/>
          <p:nvPr/>
        </p:nvSpPr>
        <p:spPr>
          <a:xfrm>
            <a:off x="658368" y="4978908"/>
            <a:ext cx="22860" cy="566928"/>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4672" y="4978908"/>
            <a:ext cx="8631936" cy="914400"/>
          </a:xfrm>
          <a:prstGeom prst="rect">
            <a:avLst/>
          </a:prstGeom>
          <a:noFill/>
        </p:spPr>
        <p:txBody>
          <a:bodyPr wrap="square" lIns="0" tIns="0" rIns="0" bIns="0" anchor="t">
            <a:spAutoFit/>
          </a:bodyPr>
          <a:lstStyle/>
          <a:p>
            <a:pPr>
              <a:lnSpc>
                <a:spcPct val="140000"/>
              </a:lnSpc>
              <a:spcBef>
                <a:spcPts val="0"/>
              </a:spcBef>
              <a:spcAft>
                <a:spcPts val="0"/>
              </a:spcAft>
            </a:pPr>
            <a:r>
              <a:rPr sz="1600" b="0" i="1">
                <a:solidFill>
                  <a:srgbClr val="E9F2F4"/>
                </a:solidFill>
                <a:latin typeface="Georgia"/>
              </a:rPr>
              <a:t>Everyone sells a stage. The cost, the delay and the lost provenance are all in the joins between them.</a:t>
            </a:r>
          </a:p>
        </p:txBody>
      </p:sp>
      <p:sp>
        <p:nvSpPr>
          <p:cNvPr id="37" name="TextBox 36"/>
          <p:cNvSpPr txBox="1"/>
          <p:nvPr/>
        </p:nvSpPr>
        <p:spPr>
          <a:xfrm>
            <a:off x="658368" y="5939028"/>
            <a:ext cx="10874959" cy="274320"/>
          </a:xfrm>
          <a:prstGeom prst="rect">
            <a:avLst/>
          </a:prstGeom>
          <a:noFill/>
        </p:spPr>
        <p:txBody>
          <a:bodyPr wrap="square" lIns="0" tIns="0" rIns="0" bIns="0" anchor="t">
            <a:spAutoFit/>
          </a:bodyPr>
          <a:lstStyle/>
          <a:p>
            <a:pPr>
              <a:spcBef>
                <a:spcPts val="0"/>
              </a:spcBef>
              <a:spcAft>
                <a:spcPts val="0"/>
              </a:spcAft>
            </a:pPr>
            <a:r>
              <a:rPr sz="900" b="0" i="0" spc="80">
                <a:solidFill>
                  <a:srgbClr val="556E79"/>
                </a:solidFill>
                <a:latin typeface="Consolas"/>
              </a:rPr>
              <a:t>SOLID = OWNS THE STAGE    ·    MID-TONE = DOES IT, BUT MANUALLY    ·    OUTLINE = DOESN'T REACH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57200"/>
            <a:ext cx="10874959" cy="219456"/>
          </a:xfrm>
          <a:prstGeom prst="rect">
            <a:avLst/>
          </a:prstGeom>
          <a:noFill/>
        </p:spPr>
        <p:txBody>
          <a:bodyPr wrap="square" lIns="0" tIns="0" rIns="0" bIns="0" anchor="t">
            <a:spAutoFit/>
          </a:bodyPr>
          <a:lstStyle/>
          <a:p>
            <a:pPr>
              <a:spcBef>
                <a:spcPts val="0"/>
              </a:spcBef>
              <a:spcAft>
                <a:spcPts val="0"/>
              </a:spcAft>
            </a:pPr>
            <a:r>
              <a:rPr sz="900" b="0" i="0" spc="140">
                <a:solidFill>
                  <a:srgbClr val="7A939E"/>
                </a:solidFill>
                <a:latin typeface="Consolas"/>
              </a:rPr>
              <a:t>WHAT PRECKON IS  </a:t>
            </a:r>
            <a:r>
              <a:rPr sz="900" b="1" i="0" spc="140">
                <a:solidFill>
                  <a:srgbClr val="3EDCC2"/>
                </a:solidFill>
                <a:latin typeface="Consolas"/>
              </a:rPr>
              <a:t>03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897380"/>
            <a:ext cx="4114800" cy="1463040"/>
          </a:xfrm>
          <a:prstGeom prst="rect">
            <a:avLst/>
          </a:prstGeom>
          <a:noFill/>
        </p:spPr>
        <p:txBody>
          <a:bodyPr wrap="square" lIns="0" tIns="0" rIns="0" bIns="0" anchor="t">
            <a:spAutoFit/>
          </a:bodyPr>
          <a:lstStyle/>
          <a:p>
            <a:pPr>
              <a:lnSpc>
                <a:spcPct val="112000"/>
              </a:lnSpc>
              <a:spcBef>
                <a:spcPts val="0"/>
              </a:spcBef>
              <a:spcAft>
                <a:spcPts val="0"/>
              </a:spcAft>
            </a:pPr>
            <a:r>
              <a:rPr sz="2700" b="1" i="0">
                <a:solidFill>
                  <a:srgbClr val="E9F2F4"/>
                </a:solidFill>
                <a:latin typeface="Segoe UI"/>
              </a:rPr>
              <a:t>Not a takeoff tool. Not an estimating product. Not a PM clone.</a:t>
            </a:r>
          </a:p>
        </p:txBody>
      </p:sp>
      <p:sp>
        <p:nvSpPr>
          <p:cNvPr id="6" name="TextBox 5"/>
          <p:cNvSpPr txBox="1"/>
          <p:nvPr/>
        </p:nvSpPr>
        <p:spPr>
          <a:xfrm>
            <a:off x="658368" y="3954780"/>
            <a:ext cx="4114800" cy="1463040"/>
          </a:xfrm>
          <a:prstGeom prst="rect">
            <a:avLst/>
          </a:prstGeom>
          <a:noFill/>
        </p:spPr>
        <p:txBody>
          <a:bodyPr wrap="square" lIns="0" tIns="0" rIns="0" bIns="0" anchor="t">
            <a:spAutoFit/>
          </a:bodyPr>
          <a:lstStyle/>
          <a:p>
            <a:pPr>
              <a:lnSpc>
                <a:spcPct val="145000"/>
              </a:lnSpc>
              <a:spcBef>
                <a:spcPts val="0"/>
              </a:spcBef>
              <a:spcAft>
                <a:spcPts val="0"/>
              </a:spcAft>
            </a:pPr>
            <a:r>
              <a:rPr sz="1100" b="0" i="0">
                <a:solidFill>
                  <a:srgbClr val="7A939E"/>
                </a:solidFill>
                <a:latin typeface="Segoe UI"/>
              </a:rPr>
              <a:t>Preckon is a construction operating system: one continuous chain from raw tender document to issued procurement package, with a governed AI fabric sitting between every module and every model.</a:t>
            </a:r>
          </a:p>
        </p:txBody>
      </p:sp>
      <p:sp>
        <p:nvSpPr>
          <p:cNvPr id="7" name="TextBox 6"/>
          <p:cNvSpPr txBox="1"/>
          <p:nvPr/>
        </p:nvSpPr>
        <p:spPr>
          <a:xfrm>
            <a:off x="5074920" y="1943100"/>
            <a:ext cx="365760" cy="274320"/>
          </a:xfrm>
          <a:prstGeom prst="rect">
            <a:avLst/>
          </a:prstGeom>
          <a:noFill/>
        </p:spPr>
        <p:txBody>
          <a:bodyPr wrap="square" lIns="0" tIns="0" rIns="0" bIns="0" anchor="t">
            <a:spAutoFit/>
          </a:bodyPr>
          <a:lstStyle/>
          <a:p>
            <a:r>
              <a:rPr sz="900" b="1" i="0" spc="100">
                <a:solidFill>
                  <a:srgbClr val="3EDCC2"/>
                </a:solidFill>
                <a:latin typeface="Consolas"/>
              </a:rPr>
              <a:t>01</a:t>
            </a:r>
          </a:p>
        </p:txBody>
      </p:sp>
      <p:sp>
        <p:nvSpPr>
          <p:cNvPr id="8" name="TextBox 7"/>
          <p:cNvSpPr txBox="1"/>
          <p:nvPr/>
        </p:nvSpPr>
        <p:spPr>
          <a:xfrm>
            <a:off x="5486400" y="1906524"/>
            <a:ext cx="6035040" cy="1097280"/>
          </a:xfrm>
          <a:prstGeom prst="rect">
            <a:avLst/>
          </a:prstGeom>
          <a:noFill/>
        </p:spPr>
        <p:txBody>
          <a:bodyPr wrap="square" lIns="0" tIns="0" rIns="0" bIns="0" anchor="t">
            <a:spAutoFit/>
          </a:bodyPr>
          <a:lstStyle/>
          <a:p>
            <a:pPr>
              <a:lnSpc>
                <a:spcPct val="145000"/>
              </a:lnSpc>
              <a:spcBef>
                <a:spcPts val="0"/>
              </a:spcBef>
              <a:spcAft>
                <a:spcPts val="0"/>
              </a:spcAft>
            </a:pPr>
            <a:r>
              <a:rPr sz="1350" b="1" i="0">
                <a:solidFill>
                  <a:srgbClr val="E9F2F4"/>
                </a:solidFill>
                <a:latin typeface="Segoe UI"/>
              </a:rPr>
              <a:t>Connect the lifecycle.</a:t>
            </a:r>
            <a:r>
              <a:rPr sz="1350" b="0" i="0">
                <a:solidFill>
                  <a:srgbClr val="A8C0C8"/>
                </a:solidFill>
                <a:latin typeface="Segoe UI"/>
              </a:rPr>
              <a:t> Project information stops being trapped in drawings, spreadsheets, email and departmental tools.</a:t>
            </a:r>
          </a:p>
        </p:txBody>
      </p:sp>
      <p:sp>
        <p:nvSpPr>
          <p:cNvPr id="9" name="TextBox 8"/>
          <p:cNvSpPr txBox="1"/>
          <p:nvPr/>
        </p:nvSpPr>
        <p:spPr>
          <a:xfrm>
            <a:off x="5074920" y="3177540"/>
            <a:ext cx="365760" cy="274320"/>
          </a:xfrm>
          <a:prstGeom prst="rect">
            <a:avLst/>
          </a:prstGeom>
          <a:noFill/>
        </p:spPr>
        <p:txBody>
          <a:bodyPr wrap="square" lIns="0" tIns="0" rIns="0" bIns="0" anchor="t">
            <a:spAutoFit/>
          </a:bodyPr>
          <a:lstStyle/>
          <a:p>
            <a:r>
              <a:rPr sz="900" b="1" i="0" spc="100">
                <a:solidFill>
                  <a:srgbClr val="3EDCC2"/>
                </a:solidFill>
                <a:latin typeface="Consolas"/>
              </a:rPr>
              <a:t>02</a:t>
            </a:r>
          </a:p>
        </p:txBody>
      </p:sp>
      <p:sp>
        <p:nvSpPr>
          <p:cNvPr id="10" name="TextBox 9"/>
          <p:cNvSpPr txBox="1"/>
          <p:nvPr/>
        </p:nvSpPr>
        <p:spPr>
          <a:xfrm>
            <a:off x="5486400" y="3140964"/>
            <a:ext cx="6035040" cy="1097280"/>
          </a:xfrm>
          <a:prstGeom prst="rect">
            <a:avLst/>
          </a:prstGeom>
          <a:noFill/>
        </p:spPr>
        <p:txBody>
          <a:bodyPr wrap="square" lIns="0" tIns="0" rIns="0" bIns="0" anchor="t">
            <a:spAutoFit/>
          </a:bodyPr>
          <a:lstStyle/>
          <a:p>
            <a:pPr>
              <a:lnSpc>
                <a:spcPct val="145000"/>
              </a:lnSpc>
              <a:spcBef>
                <a:spcPts val="0"/>
              </a:spcBef>
              <a:spcAft>
                <a:spcPts val="0"/>
              </a:spcAft>
            </a:pPr>
            <a:r>
              <a:rPr sz="1350" b="1" i="0">
                <a:solidFill>
                  <a:srgbClr val="E9F2F4"/>
                </a:solidFill>
                <a:latin typeface="Segoe UI"/>
              </a:rPr>
              <a:t>Turn project data into intelligence.</a:t>
            </a:r>
            <a:r>
              <a:rPr sz="1350" b="0" i="0">
                <a:solidFill>
                  <a:srgbClr val="A8C0C8"/>
                </a:solidFill>
                <a:latin typeface="Segoe UI"/>
              </a:rPr>
              <a:t> Deterministic construction engines first, structured project memory second, governed AI third — in that order, always.</a:t>
            </a:r>
          </a:p>
        </p:txBody>
      </p:sp>
      <p:sp>
        <p:nvSpPr>
          <p:cNvPr id="11" name="TextBox 10"/>
          <p:cNvSpPr txBox="1"/>
          <p:nvPr/>
        </p:nvSpPr>
        <p:spPr>
          <a:xfrm>
            <a:off x="5074920" y="4411980"/>
            <a:ext cx="365760" cy="274320"/>
          </a:xfrm>
          <a:prstGeom prst="rect">
            <a:avLst/>
          </a:prstGeom>
          <a:noFill/>
        </p:spPr>
        <p:txBody>
          <a:bodyPr wrap="square" lIns="0" tIns="0" rIns="0" bIns="0" anchor="t">
            <a:spAutoFit/>
          </a:bodyPr>
          <a:lstStyle/>
          <a:p>
            <a:r>
              <a:rPr sz="900" b="1" i="0" spc="100">
                <a:solidFill>
                  <a:srgbClr val="3EDCC2"/>
                </a:solidFill>
                <a:latin typeface="Consolas"/>
              </a:rPr>
              <a:t>03</a:t>
            </a:r>
          </a:p>
        </p:txBody>
      </p:sp>
      <p:sp>
        <p:nvSpPr>
          <p:cNvPr id="12" name="TextBox 11"/>
          <p:cNvSpPr txBox="1"/>
          <p:nvPr/>
        </p:nvSpPr>
        <p:spPr>
          <a:xfrm>
            <a:off x="5486400" y="4375404"/>
            <a:ext cx="6035040" cy="1097280"/>
          </a:xfrm>
          <a:prstGeom prst="rect">
            <a:avLst/>
          </a:prstGeom>
          <a:noFill/>
        </p:spPr>
        <p:txBody>
          <a:bodyPr wrap="square" lIns="0" tIns="0" rIns="0" bIns="0" anchor="t">
            <a:spAutoFit/>
          </a:bodyPr>
          <a:lstStyle/>
          <a:p>
            <a:pPr>
              <a:lnSpc>
                <a:spcPct val="145000"/>
              </a:lnSpc>
              <a:spcBef>
                <a:spcPts val="0"/>
              </a:spcBef>
              <a:spcAft>
                <a:spcPts val="0"/>
              </a:spcAft>
            </a:pPr>
            <a:r>
              <a:rPr sz="1350" b="1" i="0">
                <a:solidFill>
                  <a:srgbClr val="E9F2F4"/>
                </a:solidFill>
                <a:latin typeface="Segoe UI"/>
              </a:rPr>
              <a:t>Adapt to scale.</a:t>
            </a:r>
            <a:r>
              <a:rPr sz="1350" b="0" i="0">
                <a:solidFill>
                  <a:srgbClr val="A8C0C8"/>
                </a:solidFill>
                <a:latin typeface="Segoe UI"/>
              </a:rPr>
              <a:t> A complete native platform for mid-market, and an integration-and-intelligence layer for enterprises that cannot replace ERP, P6 and Autodesk on your timetable.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57200"/>
            <a:ext cx="10874959" cy="219456"/>
          </a:xfrm>
          <a:prstGeom prst="rect">
            <a:avLst/>
          </a:prstGeom>
          <a:noFill/>
        </p:spPr>
        <p:txBody>
          <a:bodyPr wrap="square" lIns="0" tIns="0" rIns="0" bIns="0" anchor="t">
            <a:spAutoFit/>
          </a:bodyPr>
          <a:lstStyle/>
          <a:p>
            <a:pPr>
              <a:spcBef>
                <a:spcPts val="0"/>
              </a:spcBef>
              <a:spcAft>
                <a:spcPts val="0"/>
              </a:spcAft>
            </a:pPr>
            <a:r>
              <a:rPr sz="900" b="0" i="0" spc="140">
                <a:solidFill>
                  <a:srgbClr val="7A939E"/>
                </a:solidFill>
                <a:latin typeface="Consolas"/>
              </a:rPr>
              <a:t>EIGHT MODULES, ONE CHAIN  </a:t>
            </a:r>
            <a:r>
              <a:rPr sz="900" b="1" i="0" spc="140">
                <a:solidFill>
                  <a:srgbClr val="3EDCC2"/>
                </a:solidFill>
                <a:latin typeface="Consolas"/>
              </a:rPr>
              <a:t>04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901952"/>
            <a:ext cx="1359369" cy="1371600"/>
          </a:xfrm>
          <a:prstGeom prst="rect">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68096" y="2039112"/>
            <a:ext cx="1139913" cy="1097280"/>
          </a:xfrm>
          <a:prstGeom prst="rect">
            <a:avLst/>
          </a:prstGeom>
          <a:noFill/>
        </p:spPr>
        <p:txBody>
          <a:bodyPr wrap="square" lIns="0" tIns="0" rIns="0" bIns="0" anchor="t">
            <a:spAutoFit/>
          </a:bodyPr>
          <a:lstStyle/>
          <a:p>
            <a:pPr>
              <a:spcBef>
                <a:spcPts val="0"/>
              </a:spcBef>
              <a:spcAft>
                <a:spcPts val="500"/>
              </a:spcAft>
            </a:pPr>
            <a:r>
              <a:rPr sz="850" b="0" i="0" spc="110">
                <a:solidFill>
                  <a:srgbClr val="3EDCC2"/>
                </a:solidFill>
                <a:latin typeface="Consolas"/>
              </a:rPr>
              <a:t>TENDER</a:t>
            </a:r>
          </a:p>
          <a:p>
            <a:pPr>
              <a:lnSpc>
                <a:spcPct val="134000"/>
              </a:lnSpc>
              <a:spcBef>
                <a:spcPts val="0"/>
              </a:spcBef>
              <a:spcAft>
                <a:spcPts val="0"/>
              </a:spcAft>
            </a:pPr>
            <a:r>
              <a:rPr sz="950" b="0" i="0">
                <a:solidFill>
                  <a:srgbClr val="A8C0C8"/>
                </a:solidFill>
                <a:latin typeface="Segoe UI"/>
              </a:rPr>
              <a:t>Reads the package. Extracts requirements, structures the bid.</a:t>
            </a:r>
          </a:p>
        </p:txBody>
      </p:sp>
      <p:sp>
        <p:nvSpPr>
          <p:cNvPr id="7" name="Rectangle 6"/>
          <p:cNvSpPr/>
          <p:nvPr/>
        </p:nvSpPr>
        <p:spPr>
          <a:xfrm>
            <a:off x="2017737" y="1901952"/>
            <a:ext cx="1359369" cy="1371600"/>
          </a:xfrm>
          <a:prstGeom prst="rect">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2127465" y="2039112"/>
            <a:ext cx="1139913" cy="1097280"/>
          </a:xfrm>
          <a:prstGeom prst="rect">
            <a:avLst/>
          </a:prstGeom>
          <a:noFill/>
        </p:spPr>
        <p:txBody>
          <a:bodyPr wrap="square" lIns="0" tIns="0" rIns="0" bIns="0" anchor="t">
            <a:spAutoFit/>
          </a:bodyPr>
          <a:lstStyle/>
          <a:p>
            <a:pPr>
              <a:spcBef>
                <a:spcPts val="0"/>
              </a:spcBef>
              <a:spcAft>
                <a:spcPts val="500"/>
              </a:spcAft>
            </a:pPr>
            <a:r>
              <a:rPr sz="850" b="0" i="0" spc="110">
                <a:solidFill>
                  <a:srgbClr val="3EDCC2"/>
                </a:solidFill>
                <a:latin typeface="Consolas"/>
              </a:rPr>
              <a:t>DRAW</a:t>
            </a:r>
          </a:p>
          <a:p>
            <a:pPr>
              <a:lnSpc>
                <a:spcPct val="134000"/>
              </a:lnSpc>
              <a:spcBef>
                <a:spcPts val="0"/>
              </a:spcBef>
              <a:spcAft>
                <a:spcPts val="0"/>
              </a:spcAft>
            </a:pPr>
            <a:r>
              <a:rPr sz="950" b="0" i="0">
                <a:solidFill>
                  <a:srgbClr val="A8C0C8"/>
                </a:solidFill>
                <a:latin typeface="Segoe UI"/>
              </a:rPr>
              <a:t>Interprets PDF and CAD. Recognises elements, measures them.</a:t>
            </a:r>
          </a:p>
        </p:txBody>
      </p:sp>
      <p:sp>
        <p:nvSpPr>
          <p:cNvPr id="9" name="Rectangle 8"/>
          <p:cNvSpPr/>
          <p:nvPr/>
        </p:nvSpPr>
        <p:spPr>
          <a:xfrm>
            <a:off x="3377107" y="1901952"/>
            <a:ext cx="1359369" cy="1371600"/>
          </a:xfrm>
          <a:prstGeom prst="rect">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3486835" y="2039112"/>
            <a:ext cx="1139913" cy="1097280"/>
          </a:xfrm>
          <a:prstGeom prst="rect">
            <a:avLst/>
          </a:prstGeom>
          <a:noFill/>
        </p:spPr>
        <p:txBody>
          <a:bodyPr wrap="square" lIns="0" tIns="0" rIns="0" bIns="0" anchor="t">
            <a:spAutoFit/>
          </a:bodyPr>
          <a:lstStyle/>
          <a:p>
            <a:pPr>
              <a:spcBef>
                <a:spcPts val="0"/>
              </a:spcBef>
              <a:spcAft>
                <a:spcPts val="500"/>
              </a:spcAft>
            </a:pPr>
            <a:r>
              <a:rPr sz="850" b="0" i="0" spc="110">
                <a:solidFill>
                  <a:srgbClr val="3EDCC2"/>
                </a:solidFill>
                <a:latin typeface="Consolas"/>
              </a:rPr>
              <a:t>DOC</a:t>
            </a:r>
          </a:p>
          <a:p>
            <a:pPr>
              <a:lnSpc>
                <a:spcPct val="134000"/>
              </a:lnSpc>
              <a:spcBef>
                <a:spcPts val="0"/>
              </a:spcBef>
              <a:spcAft>
                <a:spcPts val="0"/>
              </a:spcAft>
            </a:pPr>
            <a:r>
              <a:rPr sz="950" b="0" i="0">
                <a:solidFill>
                  <a:srgbClr val="A8C0C8"/>
                </a:solidFill>
                <a:latin typeface="Segoe UI"/>
              </a:rPr>
              <a:t>Control, revisions, transmittals. Ties clauses to what they govern.</a:t>
            </a:r>
          </a:p>
        </p:txBody>
      </p:sp>
      <p:sp>
        <p:nvSpPr>
          <p:cNvPr id="11" name="Rectangle 10"/>
          <p:cNvSpPr/>
          <p:nvPr/>
        </p:nvSpPr>
        <p:spPr>
          <a:xfrm>
            <a:off x="4736477" y="1901952"/>
            <a:ext cx="1359369" cy="1371600"/>
          </a:xfrm>
          <a:prstGeom prst="rect">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4846205" y="2039112"/>
            <a:ext cx="1139913" cy="1097280"/>
          </a:xfrm>
          <a:prstGeom prst="rect">
            <a:avLst/>
          </a:prstGeom>
          <a:noFill/>
        </p:spPr>
        <p:txBody>
          <a:bodyPr wrap="square" lIns="0" tIns="0" rIns="0" bIns="0" anchor="t">
            <a:spAutoFit/>
          </a:bodyPr>
          <a:lstStyle/>
          <a:p>
            <a:pPr>
              <a:spcBef>
                <a:spcPts val="0"/>
              </a:spcBef>
              <a:spcAft>
                <a:spcPts val="500"/>
              </a:spcAft>
            </a:pPr>
            <a:r>
              <a:rPr sz="850" b="0" i="0" spc="110">
                <a:solidFill>
                  <a:srgbClr val="3EDCC2"/>
                </a:solidFill>
                <a:latin typeface="Consolas"/>
              </a:rPr>
              <a:t>QUANT</a:t>
            </a:r>
          </a:p>
          <a:p>
            <a:pPr>
              <a:lnSpc>
                <a:spcPct val="134000"/>
              </a:lnSpc>
              <a:spcBef>
                <a:spcPts val="0"/>
              </a:spcBef>
              <a:spcAft>
                <a:spcPts val="0"/>
              </a:spcAft>
            </a:pPr>
            <a:r>
              <a:rPr sz="950" b="0" i="0">
                <a:solidFill>
                  <a:srgbClr val="A8C0C8"/>
                </a:solidFill>
                <a:latin typeface="Segoe UI"/>
              </a:rPr>
              <a:t>Takeoff and the bill, measured from the above.</a:t>
            </a:r>
          </a:p>
        </p:txBody>
      </p:sp>
      <p:sp>
        <p:nvSpPr>
          <p:cNvPr id="13" name="Rectangle 12"/>
          <p:cNvSpPr/>
          <p:nvPr/>
        </p:nvSpPr>
        <p:spPr>
          <a:xfrm>
            <a:off x="6095847" y="1901952"/>
            <a:ext cx="1359369" cy="1371600"/>
          </a:xfrm>
          <a:prstGeom prst="rect">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205575" y="2039112"/>
            <a:ext cx="1139913" cy="1097280"/>
          </a:xfrm>
          <a:prstGeom prst="rect">
            <a:avLst/>
          </a:prstGeom>
          <a:noFill/>
        </p:spPr>
        <p:txBody>
          <a:bodyPr wrap="square" lIns="0" tIns="0" rIns="0" bIns="0" anchor="t">
            <a:spAutoFit/>
          </a:bodyPr>
          <a:lstStyle/>
          <a:p>
            <a:pPr>
              <a:spcBef>
                <a:spcPts val="0"/>
              </a:spcBef>
              <a:spcAft>
                <a:spcPts val="500"/>
              </a:spcAft>
            </a:pPr>
            <a:r>
              <a:rPr sz="850" b="0" i="0" spc="110">
                <a:solidFill>
                  <a:srgbClr val="3EDCC2"/>
                </a:solidFill>
                <a:latin typeface="Consolas"/>
              </a:rPr>
              <a:t>COST</a:t>
            </a:r>
          </a:p>
          <a:p>
            <a:pPr>
              <a:lnSpc>
                <a:spcPct val="134000"/>
              </a:lnSpc>
              <a:spcBef>
                <a:spcPts val="0"/>
              </a:spcBef>
              <a:spcAft>
                <a:spcPts val="0"/>
              </a:spcAft>
            </a:pPr>
            <a:r>
              <a:rPr sz="950" b="0" i="0">
                <a:solidFill>
                  <a:srgbClr val="A8C0C8"/>
                </a:solidFill>
                <a:latin typeface="Segoe UI"/>
              </a:rPr>
              <a:t>Rates, assemblies, the priced estimate.</a:t>
            </a:r>
          </a:p>
        </p:txBody>
      </p:sp>
      <p:sp>
        <p:nvSpPr>
          <p:cNvPr id="15" name="Rectangle 14"/>
          <p:cNvSpPr/>
          <p:nvPr/>
        </p:nvSpPr>
        <p:spPr>
          <a:xfrm>
            <a:off x="7455217" y="1901952"/>
            <a:ext cx="1359369" cy="1371600"/>
          </a:xfrm>
          <a:prstGeom prst="rect">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7564945" y="2039112"/>
            <a:ext cx="1139913" cy="1097280"/>
          </a:xfrm>
          <a:prstGeom prst="rect">
            <a:avLst/>
          </a:prstGeom>
          <a:noFill/>
        </p:spPr>
        <p:txBody>
          <a:bodyPr wrap="square" lIns="0" tIns="0" rIns="0" bIns="0" anchor="t">
            <a:spAutoFit/>
          </a:bodyPr>
          <a:lstStyle/>
          <a:p>
            <a:pPr>
              <a:spcBef>
                <a:spcPts val="0"/>
              </a:spcBef>
              <a:spcAft>
                <a:spcPts val="500"/>
              </a:spcAft>
            </a:pPr>
            <a:r>
              <a:rPr sz="850" b="0" i="0" spc="110">
                <a:solidFill>
                  <a:srgbClr val="3EDCC2"/>
                </a:solidFill>
                <a:latin typeface="Consolas"/>
              </a:rPr>
              <a:t>SCHEDULE</a:t>
            </a:r>
          </a:p>
          <a:p>
            <a:pPr>
              <a:lnSpc>
                <a:spcPct val="134000"/>
              </a:lnSpc>
              <a:spcBef>
                <a:spcPts val="0"/>
              </a:spcBef>
              <a:spcAft>
                <a:spcPts val="0"/>
              </a:spcAft>
            </a:pPr>
            <a:r>
              <a:rPr sz="950" b="0" i="0">
                <a:solidFill>
                  <a:srgbClr val="A8C0C8"/>
                </a:solidFill>
                <a:latin typeface="Segoe UI"/>
              </a:rPr>
              <a:t>Deterministic CPM, calendars, baselines that refuse silent moves.</a:t>
            </a:r>
          </a:p>
        </p:txBody>
      </p:sp>
      <p:sp>
        <p:nvSpPr>
          <p:cNvPr id="17" name="Rectangle 16"/>
          <p:cNvSpPr/>
          <p:nvPr/>
        </p:nvSpPr>
        <p:spPr>
          <a:xfrm>
            <a:off x="8814587" y="1901952"/>
            <a:ext cx="1359369" cy="1371600"/>
          </a:xfrm>
          <a:prstGeom prst="rect">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8924315" y="2039112"/>
            <a:ext cx="1139913" cy="1097280"/>
          </a:xfrm>
          <a:prstGeom prst="rect">
            <a:avLst/>
          </a:prstGeom>
          <a:noFill/>
        </p:spPr>
        <p:txBody>
          <a:bodyPr wrap="square" lIns="0" tIns="0" rIns="0" bIns="0" anchor="t">
            <a:spAutoFit/>
          </a:bodyPr>
          <a:lstStyle/>
          <a:p>
            <a:pPr>
              <a:spcBef>
                <a:spcPts val="0"/>
              </a:spcBef>
              <a:spcAft>
                <a:spcPts val="500"/>
              </a:spcAft>
            </a:pPr>
            <a:r>
              <a:rPr sz="850" b="0" i="0" spc="110">
                <a:solidFill>
                  <a:srgbClr val="3EDCC2"/>
                </a:solidFill>
                <a:latin typeface="Consolas"/>
              </a:rPr>
              <a:t>PROCURE</a:t>
            </a:r>
          </a:p>
          <a:p>
            <a:pPr>
              <a:lnSpc>
                <a:spcPct val="134000"/>
              </a:lnSpc>
              <a:spcBef>
                <a:spcPts val="0"/>
              </a:spcBef>
              <a:spcAft>
                <a:spcPts val="0"/>
              </a:spcAft>
            </a:pPr>
            <a:r>
              <a:rPr sz="950" b="0" i="0">
                <a:solidFill>
                  <a:srgbClr val="A8C0C8"/>
                </a:solidFill>
                <a:latin typeface="Segoe UI"/>
              </a:rPr>
              <a:t>Packages grouped from the bill, ready to issue.</a:t>
            </a:r>
          </a:p>
        </p:txBody>
      </p:sp>
      <p:sp>
        <p:nvSpPr>
          <p:cNvPr id="19" name="Rectangle 18"/>
          <p:cNvSpPr/>
          <p:nvPr/>
        </p:nvSpPr>
        <p:spPr>
          <a:xfrm>
            <a:off x="10173957" y="1901952"/>
            <a:ext cx="1359369" cy="1371600"/>
          </a:xfrm>
          <a:prstGeom prst="rect">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10283685" y="2039112"/>
            <a:ext cx="1139913" cy="1097280"/>
          </a:xfrm>
          <a:prstGeom prst="rect">
            <a:avLst/>
          </a:prstGeom>
          <a:noFill/>
        </p:spPr>
        <p:txBody>
          <a:bodyPr wrap="square" lIns="0" tIns="0" rIns="0" bIns="0" anchor="t">
            <a:spAutoFit/>
          </a:bodyPr>
          <a:lstStyle/>
          <a:p>
            <a:pPr>
              <a:spcBef>
                <a:spcPts val="0"/>
              </a:spcBef>
              <a:spcAft>
                <a:spcPts val="500"/>
              </a:spcAft>
            </a:pPr>
            <a:r>
              <a:rPr sz="850" b="0" i="0" spc="110">
                <a:solidFill>
                  <a:srgbClr val="3EDCC2"/>
                </a:solidFill>
                <a:latin typeface="Consolas"/>
              </a:rPr>
              <a:t>NARRATIVE</a:t>
            </a:r>
          </a:p>
          <a:p>
            <a:pPr>
              <a:lnSpc>
                <a:spcPct val="134000"/>
              </a:lnSpc>
              <a:spcBef>
                <a:spcPts val="0"/>
              </a:spcBef>
              <a:spcAft>
                <a:spcPts val="0"/>
              </a:spcAft>
            </a:pPr>
            <a:r>
              <a:rPr sz="950" b="0" i="0">
                <a:solidFill>
                  <a:srgbClr val="A8C0C8"/>
                </a:solidFill>
                <a:latin typeface="Segoe UI"/>
              </a:rPr>
              <a:t>The technical submission, from the same records.</a:t>
            </a:r>
          </a:p>
        </p:txBody>
      </p:sp>
      <p:sp>
        <p:nvSpPr>
          <p:cNvPr id="21" name="TextBox 20"/>
          <p:cNvSpPr txBox="1"/>
          <p:nvPr/>
        </p:nvSpPr>
        <p:spPr>
          <a:xfrm>
            <a:off x="658368" y="3639312"/>
            <a:ext cx="9326880" cy="914400"/>
          </a:xfrm>
          <a:prstGeom prst="rect">
            <a:avLst/>
          </a:prstGeom>
          <a:noFill/>
        </p:spPr>
        <p:txBody>
          <a:bodyPr wrap="square" lIns="0" tIns="0" rIns="0" bIns="0" anchor="t">
            <a:spAutoFit/>
          </a:bodyPr>
          <a:lstStyle/>
          <a:p>
            <a:pPr>
              <a:lnSpc>
                <a:spcPct val="142000"/>
              </a:lnSpc>
              <a:spcBef>
                <a:spcPts val="0"/>
              </a:spcBef>
              <a:spcAft>
                <a:spcPts val="700"/>
              </a:spcAft>
            </a:pPr>
            <a:r>
              <a:rPr sz="1400" b="0" i="0">
                <a:solidFill>
                  <a:srgbClr val="A8C0C8"/>
                </a:solidFill>
                <a:latin typeface="Segoe UI"/>
              </a:rPr>
              <a:t>Each is not a screen — it is an intelligence layer over the same project record. Nothing is retyped between them, because nothing is ever </a:t>
            </a:r>
            <a:r>
              <a:rPr sz="1400" b="0" i="1">
                <a:solidFill>
                  <a:srgbClr val="E9F2F4"/>
                </a:solidFill>
                <a:latin typeface="Segoe UI"/>
              </a:rPr>
              <a:t>handed over</a:t>
            </a:r>
            <a:r>
              <a:rPr sz="1400" b="0" i="0">
                <a:solidFill>
                  <a:srgbClr val="A8C0C8"/>
                </a:solidFill>
                <a:latin typeface="Segoe UI"/>
              </a:rPr>
              <a:t>; the next stage reads the confirmed output of the last.</a:t>
            </a:r>
          </a:p>
        </p:txBody>
      </p:sp>
      <p:sp>
        <p:nvSpPr>
          <p:cNvPr id="22" name="TextBox 21"/>
          <p:cNvSpPr txBox="1"/>
          <p:nvPr/>
        </p:nvSpPr>
        <p:spPr>
          <a:xfrm>
            <a:off x="658368" y="4645152"/>
            <a:ext cx="9326880" cy="822960"/>
          </a:xfrm>
          <a:prstGeom prst="rect">
            <a:avLst/>
          </a:prstGeom>
          <a:noFill/>
        </p:spPr>
        <p:txBody>
          <a:bodyPr wrap="square" lIns="0" tIns="0" rIns="0" bIns="0" anchor="t">
            <a:spAutoFit/>
          </a:bodyPr>
          <a:lstStyle/>
          <a:p>
            <a:pPr>
              <a:lnSpc>
                <a:spcPct val="142000"/>
              </a:lnSpc>
              <a:spcBef>
                <a:spcPts val="0"/>
              </a:spcBef>
              <a:spcAft>
                <a:spcPts val="0"/>
              </a:spcAft>
            </a:pPr>
            <a:r>
              <a:rPr sz="1100" b="0" i="0">
                <a:solidFill>
                  <a:srgbClr val="7A939E"/>
                </a:solidFill>
                <a:latin typeface="Segoe UI"/>
              </a:rPr>
              <a:t>All eight are seeded and running in the deployed workspace today. </a:t>
            </a:r>
            <a:r>
              <a:rPr sz="1100" b="0" i="0">
                <a:solidFill>
                  <a:srgbClr val="A8C0C8"/>
                </a:solidFill>
                <a:latin typeface="Consolas"/>
              </a:rPr>
              <a:t>Preckon Core</a:t>
            </a:r>
            <a:r>
              <a:rPr sz="1100" b="0" i="0">
                <a:solidFill>
                  <a:srgbClr val="7A939E"/>
                </a:solidFill>
                <a:latin typeface="Segoe UI"/>
              </a:rPr>
              <a:t> underneath carries identity, tenancy, workflow, entitlements, audit and the AI gateway — modules are forbidden from re-implementing any of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57200"/>
            <a:ext cx="10874959" cy="219456"/>
          </a:xfrm>
          <a:prstGeom prst="rect">
            <a:avLst/>
          </a:prstGeom>
          <a:noFill/>
        </p:spPr>
        <p:txBody>
          <a:bodyPr wrap="square" lIns="0" tIns="0" rIns="0" bIns="0" anchor="t">
            <a:spAutoFit/>
          </a:bodyPr>
          <a:lstStyle/>
          <a:p>
            <a:pPr>
              <a:spcBef>
                <a:spcPts val="0"/>
              </a:spcBef>
              <a:spcAft>
                <a:spcPts val="0"/>
              </a:spcAft>
            </a:pPr>
            <a:r>
              <a:rPr sz="900" b="0" i="0" spc="140">
                <a:solidFill>
                  <a:srgbClr val="7A939E"/>
                </a:solidFill>
                <a:latin typeface="Consolas"/>
              </a:rPr>
              <a:t>THE SINGLE CLAIM  </a:t>
            </a:r>
            <a:r>
              <a:rPr sz="900" b="1" i="0" spc="140">
                <a:solidFill>
                  <a:srgbClr val="3EDCC2"/>
                </a:solidFill>
                <a:latin typeface="Consolas"/>
              </a:rPr>
              <a:t>05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856232"/>
            <a:ext cx="8046720" cy="1463040"/>
          </a:xfrm>
          <a:prstGeom prst="rect">
            <a:avLst/>
          </a:prstGeom>
          <a:noFill/>
        </p:spPr>
        <p:txBody>
          <a:bodyPr wrap="square" lIns="0" tIns="0" rIns="0" bIns="0" anchor="t">
            <a:spAutoFit/>
          </a:bodyPr>
          <a:lstStyle/>
          <a:p>
            <a:pPr>
              <a:lnSpc>
                <a:spcPct val="112000"/>
              </a:lnSpc>
              <a:spcBef>
                <a:spcPts val="0"/>
              </a:spcBef>
              <a:spcAft>
                <a:spcPts val="0"/>
              </a:spcAft>
            </a:pPr>
            <a:r>
              <a:rPr sz="3800" b="1" i="0">
                <a:solidFill>
                  <a:srgbClr val="E9F2F4"/>
                </a:solidFill>
                <a:latin typeface="Segoe UI"/>
              </a:rPr>
              <a:t>Every number on screen can tell you where it came from.</a:t>
            </a:r>
          </a:p>
        </p:txBody>
      </p:sp>
      <p:sp>
        <p:nvSpPr>
          <p:cNvPr id="6" name="TextBox 5"/>
          <p:cNvSpPr txBox="1"/>
          <p:nvPr/>
        </p:nvSpPr>
        <p:spPr>
          <a:xfrm>
            <a:off x="658368" y="3410712"/>
            <a:ext cx="7315200" cy="822960"/>
          </a:xfrm>
          <a:prstGeom prst="rect">
            <a:avLst/>
          </a:prstGeom>
          <a:noFill/>
        </p:spPr>
        <p:txBody>
          <a:bodyPr wrap="square" lIns="0" tIns="0" rIns="0" bIns="0" anchor="t">
            <a:spAutoFit/>
          </a:bodyPr>
          <a:lstStyle/>
          <a:p>
            <a:pPr>
              <a:lnSpc>
                <a:spcPct val="142000"/>
              </a:lnSpc>
              <a:spcBef>
                <a:spcPts val="0"/>
              </a:spcBef>
              <a:spcAft>
                <a:spcPts val="0"/>
              </a:spcAft>
            </a:pPr>
            <a:r>
              <a:rPr sz="1700" b="0" i="0">
                <a:solidFill>
                  <a:srgbClr val="A8C0C8"/>
                </a:solidFill>
                <a:latin typeface="Segoe UI"/>
              </a:rPr>
              <a:t>Which page of which document. Which layer of which drawing. Or which person typed it, and when they signed for it.</a:t>
            </a:r>
          </a:p>
        </p:txBody>
      </p:sp>
      <p:sp>
        <p:nvSpPr>
          <p:cNvPr id="7" name="Rectangle 6"/>
          <p:cNvSpPr/>
          <p:nvPr/>
        </p:nvSpPr>
        <p:spPr>
          <a:xfrm>
            <a:off x="658368" y="4599432"/>
            <a:ext cx="22860" cy="566928"/>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4599432"/>
            <a:ext cx="8266175" cy="914400"/>
          </a:xfrm>
          <a:prstGeom prst="rect">
            <a:avLst/>
          </a:prstGeom>
          <a:noFill/>
        </p:spPr>
        <p:txBody>
          <a:bodyPr wrap="square" lIns="0" tIns="0" rIns="0" bIns="0" anchor="t">
            <a:spAutoFit/>
          </a:bodyPr>
          <a:lstStyle/>
          <a:p>
            <a:pPr>
              <a:lnSpc>
                <a:spcPct val="140000"/>
              </a:lnSpc>
              <a:spcBef>
                <a:spcPts val="0"/>
              </a:spcBef>
              <a:spcAft>
                <a:spcPts val="0"/>
              </a:spcAft>
            </a:pPr>
            <a:r>
              <a:rPr sz="1700" b="0" i="1">
                <a:solidFill>
                  <a:srgbClr val="E9F2F4"/>
                </a:solidFill>
                <a:latin typeface="Georgia"/>
              </a:rPr>
              <a:t>That is the product. The speed is a consequence of it, not the point of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57200"/>
            <a:ext cx="10874959" cy="219456"/>
          </a:xfrm>
          <a:prstGeom prst="rect">
            <a:avLst/>
          </a:prstGeom>
          <a:noFill/>
        </p:spPr>
        <p:txBody>
          <a:bodyPr wrap="square" lIns="0" tIns="0" rIns="0" bIns="0" anchor="t">
            <a:spAutoFit/>
          </a:bodyPr>
          <a:lstStyle/>
          <a:p>
            <a:pPr>
              <a:spcBef>
                <a:spcPts val="0"/>
              </a:spcBef>
              <a:spcAft>
                <a:spcPts val="0"/>
              </a:spcAft>
            </a:pPr>
            <a:r>
              <a:rPr sz="900" b="0" i="0" spc="140">
                <a:solidFill>
                  <a:srgbClr val="7A939E"/>
                </a:solidFill>
                <a:latin typeface="Consolas"/>
              </a:rPr>
              <a:t>ARCHITECTURE  </a:t>
            </a:r>
            <a:r>
              <a:rPr sz="900" b="1" i="0" spc="140">
                <a:solidFill>
                  <a:srgbClr val="3EDCC2"/>
                </a:solidFill>
                <a:latin typeface="Consolas"/>
              </a:rPr>
              <a:t>08  </a:t>
            </a:r>
            <a:r>
              <a:rPr sz="900" b="0" i="0" spc="140">
                <a:solidFill>
                  <a:srgbClr val="7A939E"/>
                </a:solidFill>
                <a:latin typeface="Consolas"/>
              </a:rPr>
              <a:t>THE ARTIFACT CHAIN</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591056"/>
            <a:ext cx="9601200" cy="1463040"/>
          </a:xfrm>
          <a:prstGeom prst="rect">
            <a:avLst/>
          </a:prstGeom>
          <a:noFill/>
        </p:spPr>
        <p:txBody>
          <a:bodyPr wrap="square" lIns="0" tIns="0" rIns="0" bIns="0" anchor="t">
            <a:spAutoFit/>
          </a:bodyPr>
          <a:lstStyle/>
          <a:p>
            <a:pPr>
              <a:lnSpc>
                <a:spcPct val="112000"/>
              </a:lnSpc>
              <a:spcBef>
                <a:spcPts val="0"/>
              </a:spcBef>
              <a:spcAft>
                <a:spcPts val="0"/>
              </a:spcAft>
            </a:pPr>
            <a:r>
              <a:rPr sz="2700" b="1" i="0">
                <a:solidFill>
                  <a:srgbClr val="E9F2F4"/>
                </a:solidFill>
                <a:latin typeface="Segoe UI"/>
              </a:rPr>
              <a:t>Every output is a typed record that carries its own parentage.</a:t>
            </a:r>
          </a:p>
        </p:txBody>
      </p:sp>
      <p:sp>
        <p:nvSpPr>
          <p:cNvPr id="6" name="Rounded Rectangle 5"/>
          <p:cNvSpPr/>
          <p:nvPr/>
        </p:nvSpPr>
        <p:spPr>
          <a:xfrm>
            <a:off x="658368" y="2807208"/>
            <a:ext cx="3527450" cy="105156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813816" y="2944367"/>
            <a:ext cx="3216554" cy="777239"/>
          </a:xfrm>
          <a:prstGeom prst="rect">
            <a:avLst/>
          </a:prstGeom>
          <a:noFill/>
        </p:spPr>
        <p:txBody>
          <a:bodyPr wrap="square" lIns="0" tIns="0" rIns="0" bIns="0" anchor="t">
            <a:spAutoFit/>
          </a:bodyPr>
          <a:lstStyle/>
          <a:p>
            <a:pPr>
              <a:spcBef>
                <a:spcPts val="0"/>
              </a:spcBef>
              <a:spcAft>
                <a:spcPts val="600"/>
              </a:spcAft>
            </a:pPr>
            <a:r>
              <a:rPr sz="800" b="0" i="0" spc="130">
                <a:solidFill>
                  <a:srgbClr val="7A939E"/>
                </a:solidFill>
                <a:latin typeface="Consolas"/>
              </a:rPr>
              <a:t>WHAT PRODUCED IT</a:t>
            </a:r>
          </a:p>
          <a:p>
            <a:pPr>
              <a:lnSpc>
                <a:spcPct val="138000"/>
              </a:lnSpc>
              <a:spcBef>
                <a:spcPts val="0"/>
              </a:spcBef>
              <a:spcAft>
                <a:spcPts val="0"/>
              </a:spcAft>
            </a:pPr>
            <a:r>
              <a:rPr sz="1100" b="0" i="0">
                <a:solidFill>
                  <a:srgbClr val="A8C0C8"/>
                </a:solidFill>
                <a:latin typeface="Segoe UI"/>
              </a:rPr>
              <a:t>The agent, the model alias, the prompt version, the run.</a:t>
            </a:r>
          </a:p>
        </p:txBody>
      </p:sp>
      <p:sp>
        <p:nvSpPr>
          <p:cNvPr id="8" name="Rounded Rectangle 7"/>
          <p:cNvSpPr/>
          <p:nvPr/>
        </p:nvSpPr>
        <p:spPr>
          <a:xfrm>
            <a:off x="4332122" y="2807208"/>
            <a:ext cx="3527450" cy="105156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487570" y="2944367"/>
            <a:ext cx="3216554" cy="777239"/>
          </a:xfrm>
          <a:prstGeom prst="rect">
            <a:avLst/>
          </a:prstGeom>
          <a:noFill/>
        </p:spPr>
        <p:txBody>
          <a:bodyPr wrap="square" lIns="0" tIns="0" rIns="0" bIns="0" anchor="t">
            <a:spAutoFit/>
          </a:bodyPr>
          <a:lstStyle/>
          <a:p>
            <a:pPr>
              <a:spcBef>
                <a:spcPts val="0"/>
              </a:spcBef>
              <a:spcAft>
                <a:spcPts val="600"/>
              </a:spcAft>
            </a:pPr>
            <a:r>
              <a:rPr sz="800" b="0" i="0" spc="130">
                <a:solidFill>
                  <a:srgbClr val="7A939E"/>
                </a:solidFill>
                <a:latin typeface="Consolas"/>
              </a:rPr>
              <a:t>WHAT IT DERIVED FROM</a:t>
            </a:r>
          </a:p>
          <a:p>
            <a:pPr>
              <a:lnSpc>
                <a:spcPct val="138000"/>
              </a:lnSpc>
              <a:spcBef>
                <a:spcPts val="0"/>
              </a:spcBef>
              <a:spcAft>
                <a:spcPts val="0"/>
              </a:spcAft>
            </a:pPr>
            <a:r>
              <a:rPr sz="1100" b="0" i="0">
                <a:solidFill>
                  <a:srgbClr val="A8C0C8"/>
                </a:solidFill>
                <a:latin typeface="Segoe UI"/>
              </a:rPr>
              <a:t>The upstream artifacts, the document page, the drawing region.</a:t>
            </a:r>
          </a:p>
        </p:txBody>
      </p:sp>
      <p:sp>
        <p:nvSpPr>
          <p:cNvPr id="10" name="Rounded Rectangle 9"/>
          <p:cNvSpPr/>
          <p:nvPr/>
        </p:nvSpPr>
        <p:spPr>
          <a:xfrm>
            <a:off x="8005876" y="2807208"/>
            <a:ext cx="3527450" cy="105156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161324" y="2944367"/>
            <a:ext cx="3216554" cy="777239"/>
          </a:xfrm>
          <a:prstGeom prst="rect">
            <a:avLst/>
          </a:prstGeom>
          <a:noFill/>
        </p:spPr>
        <p:txBody>
          <a:bodyPr wrap="square" lIns="0" tIns="0" rIns="0" bIns="0" anchor="t">
            <a:spAutoFit/>
          </a:bodyPr>
          <a:lstStyle/>
          <a:p>
            <a:pPr>
              <a:spcBef>
                <a:spcPts val="0"/>
              </a:spcBef>
              <a:spcAft>
                <a:spcPts val="600"/>
              </a:spcAft>
            </a:pPr>
            <a:r>
              <a:rPr sz="800" b="0" i="0" spc="130">
                <a:solidFill>
                  <a:srgbClr val="7A939E"/>
                </a:solidFill>
                <a:latin typeface="Consolas"/>
              </a:rPr>
              <a:t>WHO CONFIRMED IT</a:t>
            </a:r>
          </a:p>
          <a:p>
            <a:pPr>
              <a:lnSpc>
                <a:spcPct val="138000"/>
              </a:lnSpc>
              <a:spcBef>
                <a:spcPts val="0"/>
              </a:spcBef>
              <a:spcAft>
                <a:spcPts val="0"/>
              </a:spcAft>
            </a:pPr>
            <a:r>
              <a:rPr sz="1100" b="0" i="0">
                <a:solidFill>
                  <a:srgbClr val="A8C0C8"/>
                </a:solidFill>
                <a:latin typeface="Segoe UI"/>
              </a:rPr>
              <a:t>The named person, the timestamp, the entry on the audit chain.</a:t>
            </a:r>
          </a:p>
        </p:txBody>
      </p:sp>
      <p:sp>
        <p:nvSpPr>
          <p:cNvPr id="12" name="Rounded Rectangle 11"/>
          <p:cNvSpPr/>
          <p:nvPr/>
        </p:nvSpPr>
        <p:spPr>
          <a:xfrm>
            <a:off x="658368" y="4178808"/>
            <a:ext cx="10874959" cy="1600200"/>
          </a:xfrm>
          <a:prstGeom prst="roundRect">
            <a:avLst>
              <a:gd name="adj" fmla="val 4500"/>
            </a:avLst>
          </a:prstGeom>
          <a:solidFill>
            <a:srgbClr val="0C2F2D"/>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13816" y="4315968"/>
            <a:ext cx="10564063" cy="1325880"/>
          </a:xfrm>
          <a:prstGeom prst="rect">
            <a:avLst/>
          </a:prstGeom>
          <a:noFill/>
        </p:spPr>
        <p:txBody>
          <a:bodyPr wrap="square" lIns="0" tIns="0" rIns="0" bIns="0" anchor="t">
            <a:spAutoFit/>
          </a:bodyPr>
          <a:lstStyle/>
          <a:p>
            <a:pPr>
              <a:spcBef>
                <a:spcPts val="0"/>
              </a:spcBef>
              <a:spcAft>
                <a:spcPts val="600"/>
              </a:spcAft>
            </a:pPr>
            <a:r>
              <a:rPr sz="800" b="0" i="0" spc="130">
                <a:solidFill>
                  <a:srgbClr val="3EDCC2"/>
                </a:solidFill>
                <a:latin typeface="Consolas"/>
              </a:rPr>
              <a:t>AND THE PART NOBODY ELSE DOES</a:t>
            </a:r>
          </a:p>
        </p:txBody>
      </p:sp>
      <p:sp>
        <p:nvSpPr>
          <p:cNvPr id="14" name="TextBox 13"/>
          <p:cNvSpPr txBox="1"/>
          <p:nvPr/>
        </p:nvSpPr>
        <p:spPr>
          <a:xfrm>
            <a:off x="813816" y="4608575"/>
            <a:ext cx="10564063" cy="1097280"/>
          </a:xfrm>
          <a:prstGeom prst="rect">
            <a:avLst/>
          </a:prstGeom>
          <a:noFill/>
        </p:spPr>
        <p:txBody>
          <a:bodyPr wrap="square" lIns="0" tIns="0" rIns="0" bIns="0" anchor="t">
            <a:spAutoFit/>
          </a:bodyPr>
          <a:lstStyle/>
          <a:p>
            <a:pPr>
              <a:lnSpc>
                <a:spcPct val="142000"/>
              </a:lnSpc>
              <a:spcBef>
                <a:spcPts val="0"/>
              </a:spcBef>
              <a:spcAft>
                <a:spcPts val="700"/>
              </a:spcAft>
            </a:pPr>
            <a:r>
              <a:rPr sz="1400" b="0" i="0">
                <a:solidFill>
                  <a:srgbClr val="A8C0C8"/>
                </a:solidFill>
                <a:latin typeface="Segoe UI"/>
              </a:rPr>
              <a:t>Correct a confirmed record and the system keeps your version, records the disagreement against your name, and </a:t>
            </a:r>
            <a:r>
              <a:rPr sz="1400" b="1" i="0">
                <a:solidFill>
                  <a:srgbClr val="E9F2F4"/>
                </a:solidFill>
                <a:latin typeface="Segoe UI"/>
              </a:rPr>
              <a:t>marks every downstream record stale</a:t>
            </a:r>
            <a:r>
              <a:rPr sz="1400" b="0" i="0">
                <a:solidFill>
                  <a:srgbClr val="A8C0C8"/>
                </a:solidFill>
                <a:latin typeface="Segoe UI"/>
              </a:rPr>
              <a:t> — then tells you precisely what needs re-running. Not the correction. The consequences of the correction.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57200"/>
            <a:ext cx="10874959" cy="219456"/>
          </a:xfrm>
          <a:prstGeom prst="rect">
            <a:avLst/>
          </a:prstGeom>
          <a:noFill/>
        </p:spPr>
        <p:txBody>
          <a:bodyPr wrap="square" lIns="0" tIns="0" rIns="0" bIns="0" anchor="t">
            <a:spAutoFit/>
          </a:bodyPr>
          <a:lstStyle/>
          <a:p>
            <a:pPr>
              <a:spcBef>
                <a:spcPts val="0"/>
              </a:spcBef>
              <a:spcAft>
                <a:spcPts val="0"/>
              </a:spcAft>
            </a:pPr>
            <a:r>
              <a:rPr sz="900" b="0" i="0" spc="140">
                <a:solidFill>
                  <a:srgbClr val="7A939E"/>
                </a:solidFill>
                <a:latin typeface="Consolas"/>
              </a:rPr>
              <a:t>GOVERNANCE  </a:t>
            </a:r>
            <a:r>
              <a:rPr sz="900" b="1" i="0" spc="140">
                <a:solidFill>
                  <a:srgbClr val="3EDCC2"/>
                </a:solidFill>
                <a:latin typeface="Consolas"/>
              </a:rPr>
              <a:t>09  </a:t>
            </a:r>
            <a:r>
              <a:rPr sz="900" b="0" i="0" spc="140">
                <a:solidFill>
                  <a:srgbClr val="7A939E"/>
                </a:solidFill>
                <a:latin typeface="Consolas"/>
              </a:rPr>
              <a:t>AGENTS PROPOSE, HUMANS DISPOSE</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627632"/>
            <a:ext cx="4846320" cy="1463040"/>
          </a:xfrm>
          <a:prstGeom prst="rect">
            <a:avLst/>
          </a:prstGeom>
          <a:noFill/>
        </p:spPr>
        <p:txBody>
          <a:bodyPr wrap="square" lIns="0" tIns="0" rIns="0" bIns="0" anchor="t">
            <a:spAutoFit/>
          </a:bodyPr>
          <a:lstStyle/>
          <a:p>
            <a:pPr>
              <a:lnSpc>
                <a:spcPct val="112000"/>
              </a:lnSpc>
              <a:spcBef>
                <a:spcPts val="0"/>
              </a:spcBef>
              <a:spcAft>
                <a:spcPts val="0"/>
              </a:spcAft>
            </a:pPr>
            <a:r>
              <a:rPr sz="2600" b="1" i="0">
                <a:solidFill>
                  <a:srgbClr val="E9F2F4"/>
                </a:solidFill>
                <a:latin typeface="Segoe UI"/>
              </a:rPr>
              <a:t>AI does not own authoritative business state.</a:t>
            </a:r>
          </a:p>
        </p:txBody>
      </p:sp>
      <p:sp>
        <p:nvSpPr>
          <p:cNvPr id="6" name="TextBox 5"/>
          <p:cNvSpPr txBox="1"/>
          <p:nvPr/>
        </p:nvSpPr>
        <p:spPr>
          <a:xfrm>
            <a:off x="658368" y="3182112"/>
            <a:ext cx="4846320" cy="914400"/>
          </a:xfrm>
          <a:prstGeom prst="rect">
            <a:avLst/>
          </a:prstGeom>
          <a:noFill/>
        </p:spPr>
        <p:txBody>
          <a:bodyPr wrap="square" lIns="0" tIns="0" rIns="0" bIns="0" anchor="t">
            <a:spAutoFit/>
          </a:bodyPr>
          <a:lstStyle/>
          <a:p>
            <a:pPr>
              <a:lnSpc>
                <a:spcPct val="145000"/>
              </a:lnSpc>
              <a:spcBef>
                <a:spcPts val="0"/>
              </a:spcBef>
              <a:spcAft>
                <a:spcPts val="0"/>
              </a:spcAft>
            </a:pPr>
            <a:r>
              <a:rPr sz="1100" b="0" i="0">
                <a:solidFill>
                  <a:srgbClr val="7A939E"/>
                </a:solidFill>
                <a:latin typeface="Segoe UI"/>
              </a:rPr>
              <a:t>Architecture principle P-02, locked as </a:t>
            </a:r>
            <a:r>
              <a:rPr sz="1100" b="0" i="0">
                <a:solidFill>
                  <a:srgbClr val="A8C0C8"/>
                </a:solidFill>
                <a:latin typeface="Consolas"/>
              </a:rPr>
              <a:t>ADR-003</a:t>
            </a:r>
            <a:r>
              <a:rPr sz="1100" b="0" i="0">
                <a:solidFill>
                  <a:srgbClr val="7A939E"/>
                </a:solidFill>
                <a:latin typeface="Segoe UI"/>
              </a:rPr>
              <a:t>. Not a setting. Not a policy document. A structural property of the ABI.</a:t>
            </a:r>
          </a:p>
        </p:txBody>
      </p:sp>
      <p:sp>
        <p:nvSpPr>
          <p:cNvPr id="7" name="Rounded Rectangle 6"/>
          <p:cNvSpPr/>
          <p:nvPr/>
        </p:nvSpPr>
        <p:spPr>
          <a:xfrm>
            <a:off x="5806440" y="1655064"/>
            <a:ext cx="5724144" cy="141732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5961888" y="1792224"/>
            <a:ext cx="5413248" cy="1143000"/>
          </a:xfrm>
          <a:prstGeom prst="rect">
            <a:avLst/>
          </a:prstGeom>
          <a:noFill/>
        </p:spPr>
        <p:txBody>
          <a:bodyPr wrap="square" lIns="0" tIns="0" rIns="0" bIns="0" anchor="t">
            <a:spAutoFit/>
          </a:bodyPr>
          <a:lstStyle/>
          <a:p>
            <a:pPr>
              <a:spcBef>
                <a:spcPts val="0"/>
              </a:spcBef>
              <a:spcAft>
                <a:spcPts val="600"/>
              </a:spcAft>
            </a:pPr>
            <a:r>
              <a:rPr sz="800" b="0" i="0" spc="130">
                <a:solidFill>
                  <a:srgbClr val="7A939E"/>
                </a:solidFill>
                <a:latin typeface="Consolas"/>
              </a:rPr>
              <a:t>AI PRODUCES</a:t>
            </a:r>
          </a:p>
          <a:p>
            <a:pPr>
              <a:lnSpc>
                <a:spcPct val="138000"/>
              </a:lnSpc>
              <a:spcBef>
                <a:spcPts val="0"/>
              </a:spcBef>
              <a:spcAft>
                <a:spcPts val="0"/>
              </a:spcAft>
            </a:pPr>
            <a:r>
              <a:rPr sz="1150" b="0" i="0">
                <a:solidFill>
                  <a:srgbClr val="A8C0C8"/>
                </a:solidFill>
                <a:latin typeface="Segoe UI"/>
              </a:rPr>
              <a:t>Proposals, extracted facts, classifications, draft artifacts, explanations — each with confidence and provenance attached.</a:t>
            </a:r>
          </a:p>
        </p:txBody>
      </p:sp>
      <p:sp>
        <p:nvSpPr>
          <p:cNvPr id="9" name="Rounded Rectangle 8"/>
          <p:cNvSpPr/>
          <p:nvPr/>
        </p:nvSpPr>
        <p:spPr>
          <a:xfrm>
            <a:off x="5806440" y="3246120"/>
            <a:ext cx="5724144" cy="1417320"/>
          </a:xfrm>
          <a:prstGeom prst="roundRect">
            <a:avLst>
              <a:gd name="adj" fmla="val 4500"/>
            </a:avLst>
          </a:prstGeom>
          <a:solidFill>
            <a:srgbClr val="2C1715"/>
          </a:solidFill>
          <a:ln w="9525">
            <a:solidFill>
              <a:srgbClr val="F0837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5961888" y="3383280"/>
            <a:ext cx="5413248" cy="1143000"/>
          </a:xfrm>
          <a:prstGeom prst="rect">
            <a:avLst/>
          </a:prstGeom>
          <a:noFill/>
        </p:spPr>
        <p:txBody>
          <a:bodyPr wrap="square" lIns="0" tIns="0" rIns="0" bIns="0" anchor="t">
            <a:spAutoFit/>
          </a:bodyPr>
          <a:lstStyle/>
          <a:p>
            <a:pPr>
              <a:spcBef>
                <a:spcPts val="0"/>
              </a:spcBef>
              <a:spcAft>
                <a:spcPts val="600"/>
              </a:spcAft>
            </a:pPr>
            <a:r>
              <a:rPr sz="800" b="0" i="0" spc="130">
                <a:solidFill>
                  <a:srgbClr val="F0837B"/>
                </a:solidFill>
                <a:latin typeface="Consolas"/>
              </a:rPr>
              <a:t>AI CANNOT COMMIT</a:t>
            </a:r>
          </a:p>
          <a:p>
            <a:pPr>
              <a:lnSpc>
                <a:spcPct val="138000"/>
              </a:lnSpc>
              <a:spcBef>
                <a:spcPts val="0"/>
              </a:spcBef>
              <a:spcAft>
                <a:spcPts val="0"/>
              </a:spcAft>
            </a:pPr>
            <a:r>
              <a:rPr sz="1150" b="0" i="0">
                <a:solidFill>
                  <a:srgbClr val="A8C0C8"/>
                </a:solidFill>
                <a:latin typeface="Segoe UI"/>
              </a:rPr>
              <a:t>A BOQ change. A schedule baseline. A contract value. A drawing revision. An approval. Any authoritative transaction.</a:t>
            </a:r>
          </a:p>
        </p:txBody>
      </p:sp>
      <p:sp>
        <p:nvSpPr>
          <p:cNvPr id="11" name="TextBox 10"/>
          <p:cNvSpPr txBox="1"/>
          <p:nvPr/>
        </p:nvSpPr>
        <p:spPr>
          <a:xfrm>
            <a:off x="658368" y="5010912"/>
            <a:ext cx="10515600" cy="731520"/>
          </a:xfrm>
          <a:prstGeom prst="rect">
            <a:avLst/>
          </a:prstGeom>
          <a:noFill/>
        </p:spPr>
        <p:txBody>
          <a:bodyPr wrap="square" lIns="0" tIns="0" rIns="0" bIns="0" anchor="t">
            <a:spAutoFit/>
          </a:bodyPr>
          <a:lstStyle/>
          <a:p>
            <a:pPr>
              <a:lnSpc>
                <a:spcPct val="142000"/>
              </a:lnSpc>
              <a:spcBef>
                <a:spcPts val="0"/>
              </a:spcBef>
              <a:spcAft>
                <a:spcPts val="700"/>
              </a:spcAft>
            </a:pPr>
            <a:r>
              <a:rPr sz="1400" b="0" i="0">
                <a:solidFill>
                  <a:srgbClr val="A8C0C8"/>
                </a:solidFill>
                <a:latin typeface="Segoe UI"/>
              </a:rPr>
              <a:t>Confirming is a </a:t>
            </a:r>
            <a:r>
              <a:rPr sz="1400" b="1" i="0">
                <a:solidFill>
                  <a:srgbClr val="E9F2F4"/>
                </a:solidFill>
                <a:latin typeface="Segoe UI"/>
              </a:rPr>
              <a:t>permission</a:t>
            </a:r>
            <a:r>
              <a:rPr sz="1400" b="0" i="0">
                <a:solidFill>
                  <a:srgbClr val="A8C0C8"/>
                </a:solidFill>
                <a:latin typeface="Segoe UI"/>
              </a:rPr>
              <a:t>, held by a person, checked at a choke point. Every confirmation lands on the tamper-evident audit chain against a name and a 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57200"/>
            <a:ext cx="10874959" cy="219456"/>
          </a:xfrm>
          <a:prstGeom prst="rect">
            <a:avLst/>
          </a:prstGeom>
          <a:noFill/>
        </p:spPr>
        <p:txBody>
          <a:bodyPr wrap="square" lIns="0" tIns="0" rIns="0" bIns="0" anchor="t">
            <a:spAutoFit/>
          </a:bodyPr>
          <a:lstStyle/>
          <a:p>
            <a:pPr>
              <a:spcBef>
                <a:spcPts val="0"/>
              </a:spcBef>
              <a:spcAft>
                <a:spcPts val="0"/>
              </a:spcAft>
            </a:pPr>
            <a:r>
              <a:rPr sz="900" b="0" i="0" spc="140">
                <a:solidFill>
                  <a:srgbClr val="7A939E"/>
                </a:solidFill>
                <a:latin typeface="Consolas"/>
              </a:rPr>
              <a:t>GOVERNANCE  </a:t>
            </a:r>
            <a:r>
              <a:rPr sz="900" b="1" i="0" spc="140">
                <a:solidFill>
                  <a:srgbClr val="3EDCC2"/>
                </a:solidFill>
                <a:latin typeface="Consolas"/>
              </a:rPr>
              <a:t>11  </a:t>
            </a:r>
            <a:r>
              <a:rPr sz="900" b="0" i="0" spc="140">
                <a:solidFill>
                  <a:srgbClr val="7A939E"/>
                </a:solidFill>
                <a:latin typeface="Consolas"/>
              </a:rPr>
              <a:t>TRUST FOUNDATIONS</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58368" y="2560320"/>
            <a:ext cx="2622727" cy="22402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13816" y="2697480"/>
            <a:ext cx="2311831" cy="1965960"/>
          </a:xfrm>
          <a:prstGeom prst="rect">
            <a:avLst/>
          </a:prstGeom>
          <a:noFill/>
        </p:spPr>
        <p:txBody>
          <a:bodyPr wrap="square" lIns="0" tIns="0" rIns="0" bIns="0" anchor="t">
            <a:spAutoFit/>
          </a:bodyPr>
          <a:lstStyle/>
          <a:p>
            <a:pPr>
              <a:spcBef>
                <a:spcPts val="0"/>
              </a:spcBef>
              <a:spcAft>
                <a:spcPts val="600"/>
              </a:spcAft>
            </a:pPr>
            <a:r>
              <a:rPr sz="800" b="0" i="0" spc="130">
                <a:solidFill>
                  <a:srgbClr val="7A939E"/>
                </a:solidFill>
                <a:latin typeface="Consolas"/>
              </a:rPr>
              <a:t>AUDIT</a:t>
            </a:r>
          </a:p>
          <a:p>
            <a:pPr>
              <a:spcBef>
                <a:spcPts val="0"/>
              </a:spcBef>
              <a:spcAft>
                <a:spcPts val="500"/>
              </a:spcAft>
            </a:pPr>
            <a:r>
              <a:rPr sz="1200" b="1" i="0">
                <a:solidFill>
                  <a:srgbClr val="E9F2F4"/>
                </a:solidFill>
                <a:latin typeface="Segoe UI"/>
              </a:rPr>
              <a:t>Hash-chained</a:t>
            </a:r>
          </a:p>
          <a:p>
            <a:pPr>
              <a:lnSpc>
                <a:spcPct val="138000"/>
              </a:lnSpc>
              <a:spcBef>
                <a:spcPts val="0"/>
              </a:spcBef>
              <a:spcAft>
                <a:spcPts val="0"/>
              </a:spcAft>
            </a:pPr>
            <a:r>
              <a:rPr sz="1100" b="0" i="0">
                <a:solidFill>
                  <a:srgbClr val="A8C0C8"/>
                </a:solidFill>
                <a:latin typeface="Segoe UI"/>
              </a:rPr>
              <a:t>Append-only, tamper-evident, and verifiable from the interface — one button, in front of the customer.</a:t>
            </a:r>
          </a:p>
        </p:txBody>
      </p:sp>
      <p:sp>
        <p:nvSpPr>
          <p:cNvPr id="7" name="Rounded Rectangle 6"/>
          <p:cNvSpPr/>
          <p:nvPr/>
        </p:nvSpPr>
        <p:spPr>
          <a:xfrm>
            <a:off x="3409111" y="2560320"/>
            <a:ext cx="2622727" cy="22402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3564559" y="2697480"/>
            <a:ext cx="2311831" cy="1965960"/>
          </a:xfrm>
          <a:prstGeom prst="rect">
            <a:avLst/>
          </a:prstGeom>
          <a:noFill/>
        </p:spPr>
        <p:txBody>
          <a:bodyPr wrap="square" lIns="0" tIns="0" rIns="0" bIns="0" anchor="t">
            <a:spAutoFit/>
          </a:bodyPr>
          <a:lstStyle/>
          <a:p>
            <a:pPr>
              <a:spcBef>
                <a:spcPts val="0"/>
              </a:spcBef>
              <a:spcAft>
                <a:spcPts val="600"/>
              </a:spcAft>
            </a:pPr>
            <a:r>
              <a:rPr sz="800" b="0" i="0" spc="130">
                <a:solidFill>
                  <a:srgbClr val="7A939E"/>
                </a:solidFill>
                <a:latin typeface="Consolas"/>
              </a:rPr>
              <a:t>ISOLATION</a:t>
            </a:r>
          </a:p>
          <a:p>
            <a:pPr>
              <a:spcBef>
                <a:spcPts val="0"/>
              </a:spcBef>
              <a:spcAft>
                <a:spcPts val="500"/>
              </a:spcAft>
            </a:pPr>
            <a:r>
              <a:rPr sz="1200" b="1" i="0">
                <a:solidFill>
                  <a:srgbClr val="E9F2F4"/>
                </a:solidFill>
                <a:latin typeface="Segoe UI"/>
              </a:rPr>
              <a:t>One choke point</a:t>
            </a:r>
          </a:p>
          <a:p>
            <a:pPr>
              <a:lnSpc>
                <a:spcPct val="138000"/>
              </a:lnSpc>
              <a:spcBef>
                <a:spcPts val="0"/>
              </a:spcBef>
              <a:spcAft>
                <a:spcPts val="0"/>
              </a:spcAft>
            </a:pPr>
            <a:r>
              <a:rPr sz="1100" b="0" i="0">
                <a:solidFill>
                  <a:srgbClr val="A8C0C8"/>
                </a:solidFill>
                <a:latin typeface="Segoe UI"/>
              </a:rPr>
              <a:t>Every tenant-scoped query passes a single enforced path. A cross-tenant read returning zero rows is an assertion in the test suite.</a:t>
            </a:r>
          </a:p>
        </p:txBody>
      </p:sp>
      <p:sp>
        <p:nvSpPr>
          <p:cNvPr id="9" name="Rounded Rectangle 8"/>
          <p:cNvSpPr/>
          <p:nvPr/>
        </p:nvSpPr>
        <p:spPr>
          <a:xfrm>
            <a:off x="6159855" y="2560320"/>
            <a:ext cx="2622727" cy="22402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315303" y="2697480"/>
            <a:ext cx="2311831" cy="1965960"/>
          </a:xfrm>
          <a:prstGeom prst="rect">
            <a:avLst/>
          </a:prstGeom>
          <a:noFill/>
        </p:spPr>
        <p:txBody>
          <a:bodyPr wrap="square" lIns="0" tIns="0" rIns="0" bIns="0" anchor="t">
            <a:spAutoFit/>
          </a:bodyPr>
          <a:lstStyle/>
          <a:p>
            <a:pPr>
              <a:spcBef>
                <a:spcPts val="0"/>
              </a:spcBef>
              <a:spcAft>
                <a:spcPts val="600"/>
              </a:spcAft>
            </a:pPr>
            <a:r>
              <a:rPr sz="800" b="0" i="0" spc="130">
                <a:solidFill>
                  <a:srgbClr val="7A939E"/>
                </a:solidFill>
                <a:latin typeface="Consolas"/>
              </a:rPr>
              <a:t>PROVENANCE</a:t>
            </a:r>
          </a:p>
          <a:p>
            <a:pPr>
              <a:spcBef>
                <a:spcPts val="0"/>
              </a:spcBef>
              <a:spcAft>
                <a:spcPts val="500"/>
              </a:spcAft>
            </a:pPr>
            <a:r>
              <a:rPr sz="1200" b="1" i="0">
                <a:solidFill>
                  <a:srgbClr val="E9F2F4"/>
                </a:solidFill>
                <a:latin typeface="Segoe UI"/>
              </a:rPr>
              <a:t>On every derived value</a:t>
            </a:r>
          </a:p>
          <a:p>
            <a:pPr>
              <a:lnSpc>
                <a:spcPct val="138000"/>
              </a:lnSpc>
              <a:spcBef>
                <a:spcPts val="0"/>
              </a:spcBef>
              <a:spcAft>
                <a:spcPts val="0"/>
              </a:spcAft>
            </a:pPr>
            <a:r>
              <a:rPr sz="1100" b="0" i="0">
                <a:solidFill>
                  <a:srgbClr val="A8C0C8"/>
                </a:solidFill>
                <a:latin typeface="Segoe UI"/>
              </a:rPr>
              <a:t>Source, version, rule and model recorded at the moment of derivation, not reconstructed later.</a:t>
            </a:r>
          </a:p>
        </p:txBody>
      </p:sp>
      <p:sp>
        <p:nvSpPr>
          <p:cNvPr id="11" name="Rounded Rectangle 10"/>
          <p:cNvSpPr/>
          <p:nvPr/>
        </p:nvSpPr>
        <p:spPr>
          <a:xfrm>
            <a:off x="8910599" y="2560320"/>
            <a:ext cx="2622727" cy="22402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9066047" y="2697480"/>
            <a:ext cx="2311831" cy="1965960"/>
          </a:xfrm>
          <a:prstGeom prst="rect">
            <a:avLst/>
          </a:prstGeom>
          <a:noFill/>
        </p:spPr>
        <p:txBody>
          <a:bodyPr wrap="square" lIns="0" tIns="0" rIns="0" bIns="0" anchor="t">
            <a:spAutoFit/>
          </a:bodyPr>
          <a:lstStyle/>
          <a:p>
            <a:pPr>
              <a:spcBef>
                <a:spcPts val="0"/>
              </a:spcBef>
              <a:spcAft>
                <a:spcPts val="600"/>
              </a:spcAft>
            </a:pPr>
            <a:r>
              <a:rPr sz="800" b="0" i="0" spc="130">
                <a:solidFill>
                  <a:srgbClr val="7A939E"/>
                </a:solidFill>
                <a:latin typeface="Consolas"/>
              </a:rPr>
              <a:t>DURABILITY</a:t>
            </a:r>
          </a:p>
          <a:p>
            <a:pPr>
              <a:spcBef>
                <a:spcPts val="0"/>
              </a:spcBef>
              <a:spcAft>
                <a:spcPts val="500"/>
              </a:spcAft>
            </a:pPr>
            <a:r>
              <a:rPr sz="1200" b="1" i="0">
                <a:solidFill>
                  <a:srgbClr val="E9F2F4"/>
                </a:solidFill>
                <a:latin typeface="Segoe UI"/>
              </a:rPr>
              <a:t>State in the database</a:t>
            </a:r>
          </a:p>
          <a:p>
            <a:pPr>
              <a:lnSpc>
                <a:spcPct val="138000"/>
              </a:lnSpc>
              <a:spcBef>
                <a:spcPts val="0"/>
              </a:spcBef>
              <a:spcAft>
                <a:spcPts val="0"/>
              </a:spcAft>
            </a:pPr>
            <a:r>
              <a:rPr sz="1100" b="0" i="0">
                <a:solidFill>
                  <a:srgbClr val="A8C0C8"/>
                </a:solidFill>
                <a:latin typeface="Segoe UI"/>
              </a:rPr>
              <a:t>Jobs, gates and re-plans are durable rows, not in-memory queues. A restart resumes; it does not lose the run.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58368" y="493776"/>
            <a:ext cx="82296" cy="82296"/>
          </a:xfrm>
          <a:prstGeom prst="ellipse">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7" y="457200"/>
            <a:ext cx="5486400" cy="219456"/>
          </a:xfrm>
          <a:prstGeom prst="rect">
            <a:avLst/>
          </a:prstGeom>
          <a:noFill/>
        </p:spPr>
        <p:txBody>
          <a:bodyPr wrap="square" lIns="0" tIns="0" rIns="0" bIns="0" anchor="t">
            <a:spAutoFit/>
          </a:bodyPr>
          <a:lstStyle/>
          <a:p>
            <a:r>
              <a:rPr sz="950" b="1" i="0" spc="160">
                <a:solidFill>
                  <a:srgbClr val="3EDCC2"/>
                </a:solidFill>
                <a:latin typeface="Consolas"/>
              </a:rPr>
              <a:t>LIVE WORKSPACE</a:t>
            </a:r>
          </a:p>
        </p:txBody>
      </p:sp>
      <p:sp>
        <p:nvSpPr>
          <p:cNvPr id="5" name="TextBox 4"/>
          <p:cNvSpPr txBox="1"/>
          <p:nvPr/>
        </p:nvSpPr>
        <p:spPr>
          <a:xfrm>
            <a:off x="658368" y="1879092"/>
            <a:ext cx="8686800" cy="1463040"/>
          </a:xfrm>
          <a:prstGeom prst="rect">
            <a:avLst/>
          </a:prstGeom>
          <a:noFill/>
        </p:spPr>
        <p:txBody>
          <a:bodyPr wrap="square" lIns="0" tIns="0" rIns="0" bIns="0" anchor="t">
            <a:spAutoFit/>
          </a:bodyPr>
          <a:lstStyle/>
          <a:p>
            <a:pPr>
              <a:lnSpc>
                <a:spcPct val="112000"/>
              </a:lnSpc>
              <a:spcBef>
                <a:spcPts val="0"/>
              </a:spcBef>
              <a:spcAft>
                <a:spcPts val="0"/>
              </a:spcAft>
            </a:pPr>
            <a:r>
              <a:rPr sz="3400" b="1" i="0">
                <a:solidFill>
                  <a:srgbClr val="E9F2F4"/>
                </a:solidFill>
                <a:latin typeface="Segoe UI"/>
              </a:rPr>
              <a:t>Five minutes on the running system.</a:t>
            </a:r>
          </a:p>
        </p:txBody>
      </p:sp>
      <p:sp>
        <p:nvSpPr>
          <p:cNvPr id="6" name="TextBox 5"/>
          <p:cNvSpPr txBox="1"/>
          <p:nvPr/>
        </p:nvSpPr>
        <p:spPr>
          <a:xfrm>
            <a:off x="658368" y="2747772"/>
            <a:ext cx="8686800" cy="274320"/>
          </a:xfrm>
          <a:prstGeom prst="rect">
            <a:avLst/>
          </a:prstGeom>
          <a:noFill/>
        </p:spPr>
        <p:txBody>
          <a:bodyPr wrap="square" lIns="0" tIns="0" rIns="0" bIns="0" anchor="t">
            <a:spAutoFit/>
          </a:bodyPr>
          <a:lstStyle/>
          <a:p>
            <a:r>
              <a:rPr sz="1050" b="0" i="0">
                <a:solidFill>
                  <a:srgbClr val="7A939E"/>
                </a:solidFill>
                <a:latin typeface="Consolas"/>
              </a:rPr>
              <a:t>app.preckon.com — a real tenant, real documents, nothing pre-rendered</a:t>
            </a:r>
          </a:p>
        </p:txBody>
      </p:sp>
      <p:sp>
        <p:nvSpPr>
          <p:cNvPr id="7" name="Rounded Rectangle 6"/>
          <p:cNvSpPr/>
          <p:nvPr/>
        </p:nvSpPr>
        <p:spPr>
          <a:xfrm>
            <a:off x="658368" y="3525012"/>
            <a:ext cx="2629585" cy="1965960"/>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804672" y="3680460"/>
            <a:ext cx="2336977" cy="1691640"/>
          </a:xfrm>
          <a:prstGeom prst="rect">
            <a:avLst/>
          </a:prstGeom>
          <a:noFill/>
        </p:spPr>
        <p:txBody>
          <a:bodyPr wrap="square" lIns="0" tIns="0" rIns="0" bIns="0" anchor="t">
            <a:spAutoFit/>
          </a:bodyPr>
          <a:lstStyle/>
          <a:p>
            <a:pPr>
              <a:spcBef>
                <a:spcPts val="0"/>
              </a:spcBef>
              <a:spcAft>
                <a:spcPts val="800"/>
              </a:spcAft>
            </a:pPr>
            <a:r>
              <a:rPr sz="850" b="1" i="0" spc="120">
                <a:solidFill>
                  <a:srgbClr val="3EDCC2"/>
                </a:solidFill>
                <a:latin typeface="Consolas"/>
              </a:rPr>
              <a:t>BEAT 01 · 60S</a:t>
            </a:r>
          </a:p>
          <a:p>
            <a:pPr>
              <a:spcBef>
                <a:spcPts val="0"/>
              </a:spcBef>
              <a:spcAft>
                <a:spcPts val="500"/>
              </a:spcAft>
            </a:pPr>
            <a:r>
              <a:rPr sz="1350" b="1" i="0">
                <a:solidFill>
                  <a:srgbClr val="E9F2F4"/>
                </a:solidFill>
                <a:latin typeface="Segoe UI"/>
              </a:rPr>
              <a:t>Propose</a:t>
            </a:r>
          </a:p>
          <a:p>
            <a:pPr>
              <a:lnSpc>
                <a:spcPct val="140000"/>
              </a:lnSpc>
              <a:spcBef>
                <a:spcPts val="0"/>
              </a:spcBef>
              <a:spcAft>
                <a:spcPts val="0"/>
              </a:spcAft>
            </a:pPr>
            <a:r>
              <a:rPr sz="1000" b="0" i="0">
                <a:solidFill>
                  <a:srgbClr val="A8C0C8"/>
                </a:solidFill>
                <a:latin typeface="Segoe UI"/>
              </a:rPr>
              <a:t>Open a live bid. Run a stage. Agents read the tender and the drawings and produce proposals — nothing is committed.</a:t>
            </a:r>
          </a:p>
        </p:txBody>
      </p:sp>
      <p:sp>
        <p:nvSpPr>
          <p:cNvPr id="9" name="Rounded Rectangle 8"/>
          <p:cNvSpPr/>
          <p:nvPr/>
        </p:nvSpPr>
        <p:spPr>
          <a:xfrm>
            <a:off x="3406825" y="3525012"/>
            <a:ext cx="2629585" cy="1965960"/>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3553129" y="3680460"/>
            <a:ext cx="2336977" cy="1691640"/>
          </a:xfrm>
          <a:prstGeom prst="rect">
            <a:avLst/>
          </a:prstGeom>
          <a:noFill/>
        </p:spPr>
        <p:txBody>
          <a:bodyPr wrap="square" lIns="0" tIns="0" rIns="0" bIns="0" anchor="t">
            <a:spAutoFit/>
          </a:bodyPr>
          <a:lstStyle/>
          <a:p>
            <a:pPr>
              <a:spcBef>
                <a:spcPts val="0"/>
              </a:spcBef>
              <a:spcAft>
                <a:spcPts val="800"/>
              </a:spcAft>
            </a:pPr>
            <a:r>
              <a:rPr sz="850" b="1" i="0" spc="120">
                <a:solidFill>
                  <a:srgbClr val="3EDCC2"/>
                </a:solidFill>
                <a:latin typeface="Consolas"/>
              </a:rPr>
              <a:t>BEAT 02 · 60S</a:t>
            </a:r>
          </a:p>
          <a:p>
            <a:pPr>
              <a:spcBef>
                <a:spcPts val="0"/>
              </a:spcBef>
              <a:spcAft>
                <a:spcPts val="500"/>
              </a:spcAft>
            </a:pPr>
            <a:r>
              <a:rPr sz="1350" b="1" i="0">
                <a:solidFill>
                  <a:srgbClr val="E9F2F4"/>
                </a:solidFill>
                <a:latin typeface="Segoe UI"/>
              </a:rPr>
              <a:t>Dispose</a:t>
            </a:r>
          </a:p>
          <a:p>
            <a:pPr>
              <a:lnSpc>
                <a:spcPct val="140000"/>
              </a:lnSpc>
              <a:spcBef>
                <a:spcPts val="0"/>
              </a:spcBef>
              <a:spcAft>
                <a:spcPts val="0"/>
              </a:spcAft>
            </a:pPr>
            <a:r>
              <a:rPr sz="1000" b="0" i="0">
                <a:solidFill>
                  <a:srgbClr val="A8C0C8"/>
                </a:solidFill>
                <a:latin typeface="Segoe UI"/>
              </a:rPr>
              <a:t>The review queue. Confirm one, reject one. Watch the bid pursuit advance because a human decided, not because a card was dragged.</a:t>
            </a:r>
          </a:p>
        </p:txBody>
      </p:sp>
      <p:sp>
        <p:nvSpPr>
          <p:cNvPr id="11" name="Rounded Rectangle 10"/>
          <p:cNvSpPr/>
          <p:nvPr/>
        </p:nvSpPr>
        <p:spPr>
          <a:xfrm>
            <a:off x="6155283" y="3525012"/>
            <a:ext cx="2629585" cy="1965960"/>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301587" y="3680460"/>
            <a:ext cx="2336977" cy="1691640"/>
          </a:xfrm>
          <a:prstGeom prst="rect">
            <a:avLst/>
          </a:prstGeom>
          <a:noFill/>
        </p:spPr>
        <p:txBody>
          <a:bodyPr wrap="square" lIns="0" tIns="0" rIns="0" bIns="0" anchor="t">
            <a:spAutoFit/>
          </a:bodyPr>
          <a:lstStyle/>
          <a:p>
            <a:pPr>
              <a:spcBef>
                <a:spcPts val="0"/>
              </a:spcBef>
              <a:spcAft>
                <a:spcPts val="800"/>
              </a:spcAft>
            </a:pPr>
            <a:r>
              <a:rPr sz="850" b="1" i="0" spc="120">
                <a:solidFill>
                  <a:srgbClr val="3EDCC2"/>
                </a:solidFill>
                <a:latin typeface="Consolas"/>
              </a:rPr>
              <a:t>BEAT 03 · 120S</a:t>
            </a:r>
          </a:p>
          <a:p>
            <a:pPr>
              <a:spcBef>
                <a:spcPts val="0"/>
              </a:spcBef>
              <a:spcAft>
                <a:spcPts val="500"/>
              </a:spcAft>
            </a:pPr>
            <a:r>
              <a:rPr sz="1350" b="1" i="0">
                <a:solidFill>
                  <a:srgbClr val="E9F2F4"/>
                </a:solidFill>
                <a:latin typeface="Segoe UI"/>
              </a:rPr>
              <a:t>Correct</a:t>
            </a:r>
          </a:p>
          <a:p>
            <a:pPr>
              <a:lnSpc>
                <a:spcPct val="140000"/>
              </a:lnSpc>
              <a:spcBef>
                <a:spcPts val="0"/>
              </a:spcBef>
              <a:spcAft>
                <a:spcPts val="0"/>
              </a:spcAft>
            </a:pPr>
            <a:r>
              <a:rPr sz="1000" b="0" i="0">
                <a:solidFill>
                  <a:srgbClr val="A8C0C8"/>
                </a:solidFill>
                <a:latin typeface="Segoe UI"/>
              </a:rPr>
              <a:t>They pick a BOQ line. Trace it to the drawing layer it was measured from. Then disagree with it — and watch the downstream go stale.</a:t>
            </a:r>
          </a:p>
        </p:txBody>
      </p:sp>
      <p:sp>
        <p:nvSpPr>
          <p:cNvPr id="13" name="Rounded Rectangle 12"/>
          <p:cNvSpPr/>
          <p:nvPr/>
        </p:nvSpPr>
        <p:spPr>
          <a:xfrm>
            <a:off x="8903741" y="3525012"/>
            <a:ext cx="2629585" cy="1965960"/>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9050045" y="3680460"/>
            <a:ext cx="2336977" cy="1691640"/>
          </a:xfrm>
          <a:prstGeom prst="rect">
            <a:avLst/>
          </a:prstGeom>
          <a:noFill/>
        </p:spPr>
        <p:txBody>
          <a:bodyPr wrap="square" lIns="0" tIns="0" rIns="0" bIns="0" anchor="t">
            <a:spAutoFit/>
          </a:bodyPr>
          <a:lstStyle/>
          <a:p>
            <a:pPr>
              <a:spcBef>
                <a:spcPts val="0"/>
              </a:spcBef>
              <a:spcAft>
                <a:spcPts val="800"/>
              </a:spcAft>
            </a:pPr>
            <a:r>
              <a:rPr sz="850" b="1" i="0" spc="120">
                <a:solidFill>
                  <a:srgbClr val="3EDCC2"/>
                </a:solidFill>
                <a:latin typeface="Consolas"/>
              </a:rPr>
              <a:t>BEAT 04 · 60S</a:t>
            </a:r>
          </a:p>
          <a:p>
            <a:pPr>
              <a:spcBef>
                <a:spcPts val="0"/>
              </a:spcBef>
              <a:spcAft>
                <a:spcPts val="500"/>
              </a:spcAft>
            </a:pPr>
            <a:r>
              <a:rPr sz="1350" b="1" i="0">
                <a:solidFill>
                  <a:srgbClr val="E9F2F4"/>
                </a:solidFill>
                <a:latin typeface="Segoe UI"/>
              </a:rPr>
              <a:t>Verify</a:t>
            </a:r>
          </a:p>
          <a:p>
            <a:pPr>
              <a:lnSpc>
                <a:spcPct val="140000"/>
              </a:lnSpc>
              <a:spcBef>
                <a:spcPts val="0"/>
              </a:spcBef>
              <a:spcAft>
                <a:spcPts val="0"/>
              </a:spcAft>
            </a:pPr>
            <a:r>
              <a:rPr sz="1000" b="0" i="0">
                <a:solidFill>
                  <a:srgbClr val="A8C0C8"/>
                </a:solidFill>
                <a:latin typeface="Segoe UI"/>
              </a:rPr>
              <a:t>Trace view, then Verify audit chain — live, in front of them. Then switch the workspace to Arabic and leave it for a beat.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658368" y="457200"/>
            <a:ext cx="10874959" cy="219456"/>
          </a:xfrm>
          <a:prstGeom prst="rect">
            <a:avLst/>
          </a:prstGeom>
          <a:noFill/>
        </p:spPr>
        <p:txBody>
          <a:bodyPr wrap="square" lIns="0" tIns="0" rIns="0" bIns="0" anchor="t">
            <a:spAutoFit/>
          </a:bodyPr>
          <a:lstStyle/>
          <a:p>
            <a:pPr>
              <a:spcBef>
                <a:spcPts val="0"/>
              </a:spcBef>
              <a:spcAft>
                <a:spcPts val="0"/>
              </a:spcAft>
            </a:pPr>
            <a:r>
              <a:rPr sz="900" b="0" i="0" spc="140">
                <a:solidFill>
                  <a:srgbClr val="7A939E"/>
                </a:solidFill>
                <a:latin typeface="Consolas"/>
              </a:rPr>
              <a:t>WHERE THE BUILD ACTUALLY IS  </a:t>
            </a:r>
            <a:r>
              <a:rPr sz="900" b="1" i="0" spc="140">
                <a:solidFill>
                  <a:srgbClr val="3EDCC2"/>
                </a:solidFill>
                <a:latin typeface="Consolas"/>
              </a:rPr>
              <a:t>12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732788"/>
            <a:ext cx="1097280" cy="256032"/>
          </a:xfrm>
          <a:prstGeom prst="rect">
            <a:avLst/>
          </a:prstGeom>
          <a:noFill/>
        </p:spPr>
        <p:txBody>
          <a:bodyPr wrap="square" lIns="0" tIns="0" rIns="0" bIns="0" anchor="t">
            <a:spAutoFit/>
          </a:bodyPr>
          <a:lstStyle/>
          <a:p>
            <a:pPr algn="r"/>
            <a:r>
              <a:rPr sz="1050" b="0" i="0">
                <a:solidFill>
                  <a:srgbClr val="A8C0C8"/>
                </a:solidFill>
                <a:latin typeface="Segoe UI"/>
              </a:rPr>
              <a:t>DocLogix</a:t>
            </a:r>
          </a:p>
        </p:txBody>
      </p:sp>
      <p:sp>
        <p:nvSpPr>
          <p:cNvPr id="6" name="Rectangle 5"/>
          <p:cNvSpPr/>
          <p:nvPr/>
        </p:nvSpPr>
        <p:spPr>
          <a:xfrm>
            <a:off x="1847088" y="1769364"/>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1847088" y="1769364"/>
            <a:ext cx="3796451"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6025896" y="1732788"/>
            <a:ext cx="502920" cy="256032"/>
          </a:xfrm>
          <a:prstGeom prst="rect">
            <a:avLst/>
          </a:prstGeom>
          <a:noFill/>
        </p:spPr>
        <p:txBody>
          <a:bodyPr wrap="square" lIns="0" tIns="0" rIns="0" bIns="0" anchor="t">
            <a:spAutoFit/>
          </a:bodyPr>
          <a:lstStyle/>
          <a:p>
            <a:pPr algn="r"/>
            <a:r>
              <a:rPr sz="1050" b="0" i="0">
                <a:solidFill>
                  <a:srgbClr val="A8C0C8"/>
                </a:solidFill>
                <a:latin typeface="Consolas"/>
              </a:rPr>
              <a:t>93%</a:t>
            </a:r>
          </a:p>
        </p:txBody>
      </p:sp>
      <p:sp>
        <p:nvSpPr>
          <p:cNvPr id="9" name="TextBox 8"/>
          <p:cNvSpPr txBox="1"/>
          <p:nvPr/>
        </p:nvSpPr>
        <p:spPr>
          <a:xfrm>
            <a:off x="658368" y="2116836"/>
            <a:ext cx="1097280" cy="256032"/>
          </a:xfrm>
          <a:prstGeom prst="rect">
            <a:avLst/>
          </a:prstGeom>
          <a:noFill/>
        </p:spPr>
        <p:txBody>
          <a:bodyPr wrap="square" lIns="0" tIns="0" rIns="0" bIns="0" anchor="t">
            <a:spAutoFit/>
          </a:bodyPr>
          <a:lstStyle/>
          <a:p>
            <a:pPr algn="r"/>
            <a:r>
              <a:rPr sz="1050" b="0" i="0">
                <a:solidFill>
                  <a:srgbClr val="A8C0C8"/>
                </a:solidFill>
                <a:latin typeface="Segoe UI"/>
              </a:rPr>
              <a:t>ProcureLogix</a:t>
            </a:r>
          </a:p>
        </p:txBody>
      </p:sp>
      <p:sp>
        <p:nvSpPr>
          <p:cNvPr id="10" name="Rectangle 9"/>
          <p:cNvSpPr/>
          <p:nvPr/>
        </p:nvSpPr>
        <p:spPr>
          <a:xfrm>
            <a:off x="1847088" y="2153412"/>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1847088" y="2153412"/>
            <a:ext cx="3731346"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025896" y="2116836"/>
            <a:ext cx="502920" cy="256032"/>
          </a:xfrm>
          <a:prstGeom prst="rect">
            <a:avLst/>
          </a:prstGeom>
          <a:noFill/>
        </p:spPr>
        <p:txBody>
          <a:bodyPr wrap="square" lIns="0" tIns="0" rIns="0" bIns="0" anchor="t">
            <a:spAutoFit/>
          </a:bodyPr>
          <a:lstStyle/>
          <a:p>
            <a:pPr algn="r"/>
            <a:r>
              <a:rPr sz="1050" b="0" i="0">
                <a:solidFill>
                  <a:srgbClr val="A8C0C8"/>
                </a:solidFill>
                <a:latin typeface="Consolas"/>
              </a:rPr>
              <a:t>92%</a:t>
            </a:r>
          </a:p>
        </p:txBody>
      </p:sp>
      <p:sp>
        <p:nvSpPr>
          <p:cNvPr id="13" name="TextBox 12"/>
          <p:cNvSpPr txBox="1"/>
          <p:nvPr/>
        </p:nvSpPr>
        <p:spPr>
          <a:xfrm>
            <a:off x="658368" y="2500884"/>
            <a:ext cx="1097280" cy="256032"/>
          </a:xfrm>
          <a:prstGeom prst="rect">
            <a:avLst/>
          </a:prstGeom>
          <a:noFill/>
        </p:spPr>
        <p:txBody>
          <a:bodyPr wrap="square" lIns="0" tIns="0" rIns="0" bIns="0" anchor="t">
            <a:spAutoFit/>
          </a:bodyPr>
          <a:lstStyle/>
          <a:p>
            <a:pPr algn="r"/>
            <a:r>
              <a:rPr sz="1050" b="0" i="0">
                <a:solidFill>
                  <a:srgbClr val="A8C0C8"/>
                </a:solidFill>
                <a:latin typeface="Segoe UI"/>
              </a:rPr>
              <a:t>CostLogix</a:t>
            </a:r>
          </a:p>
        </p:txBody>
      </p:sp>
      <p:sp>
        <p:nvSpPr>
          <p:cNvPr id="14" name="Rectangle 13"/>
          <p:cNvSpPr/>
          <p:nvPr/>
        </p:nvSpPr>
        <p:spPr>
          <a:xfrm>
            <a:off x="1847088" y="2537460"/>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847088" y="2537460"/>
            <a:ext cx="3560445"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6025896" y="2500884"/>
            <a:ext cx="502920" cy="256032"/>
          </a:xfrm>
          <a:prstGeom prst="rect">
            <a:avLst/>
          </a:prstGeom>
          <a:noFill/>
        </p:spPr>
        <p:txBody>
          <a:bodyPr wrap="square" lIns="0" tIns="0" rIns="0" bIns="0" anchor="t">
            <a:spAutoFit/>
          </a:bodyPr>
          <a:lstStyle/>
          <a:p>
            <a:pPr algn="r"/>
            <a:r>
              <a:rPr sz="1050" b="0" i="0">
                <a:solidFill>
                  <a:srgbClr val="A8C0C8"/>
                </a:solidFill>
                <a:latin typeface="Consolas"/>
              </a:rPr>
              <a:t>88%</a:t>
            </a:r>
          </a:p>
        </p:txBody>
      </p:sp>
      <p:sp>
        <p:nvSpPr>
          <p:cNvPr id="17" name="TextBox 16"/>
          <p:cNvSpPr txBox="1"/>
          <p:nvPr/>
        </p:nvSpPr>
        <p:spPr>
          <a:xfrm>
            <a:off x="658368" y="2884932"/>
            <a:ext cx="1097280" cy="256032"/>
          </a:xfrm>
          <a:prstGeom prst="rect">
            <a:avLst/>
          </a:prstGeom>
          <a:noFill/>
        </p:spPr>
        <p:txBody>
          <a:bodyPr wrap="square" lIns="0" tIns="0" rIns="0" bIns="0" anchor="t">
            <a:spAutoFit/>
          </a:bodyPr>
          <a:lstStyle/>
          <a:p>
            <a:pPr algn="r"/>
            <a:r>
              <a:rPr sz="1050" b="0" i="0">
                <a:solidFill>
                  <a:srgbClr val="A8C0C8"/>
                </a:solidFill>
                <a:latin typeface="Segoe UI"/>
              </a:rPr>
              <a:t>NarrativeLogix</a:t>
            </a:r>
          </a:p>
        </p:txBody>
      </p:sp>
      <p:sp>
        <p:nvSpPr>
          <p:cNvPr id="18" name="Rectangle 17"/>
          <p:cNvSpPr/>
          <p:nvPr/>
        </p:nvSpPr>
        <p:spPr>
          <a:xfrm>
            <a:off x="1847088" y="2921508"/>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1847088" y="2921508"/>
            <a:ext cx="3389543"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6025896" y="2884932"/>
            <a:ext cx="502920" cy="256032"/>
          </a:xfrm>
          <a:prstGeom prst="rect">
            <a:avLst/>
          </a:prstGeom>
          <a:noFill/>
        </p:spPr>
        <p:txBody>
          <a:bodyPr wrap="square" lIns="0" tIns="0" rIns="0" bIns="0" anchor="t">
            <a:spAutoFit/>
          </a:bodyPr>
          <a:lstStyle/>
          <a:p>
            <a:pPr algn="r"/>
            <a:r>
              <a:rPr sz="1050" b="0" i="0">
                <a:solidFill>
                  <a:srgbClr val="A8C0C8"/>
                </a:solidFill>
                <a:latin typeface="Consolas"/>
              </a:rPr>
              <a:t>83%</a:t>
            </a:r>
          </a:p>
        </p:txBody>
      </p:sp>
      <p:sp>
        <p:nvSpPr>
          <p:cNvPr id="21" name="TextBox 20"/>
          <p:cNvSpPr txBox="1"/>
          <p:nvPr/>
        </p:nvSpPr>
        <p:spPr>
          <a:xfrm>
            <a:off x="658368" y="3268980"/>
            <a:ext cx="1097280" cy="256032"/>
          </a:xfrm>
          <a:prstGeom prst="rect">
            <a:avLst/>
          </a:prstGeom>
          <a:noFill/>
        </p:spPr>
        <p:txBody>
          <a:bodyPr wrap="square" lIns="0" tIns="0" rIns="0" bIns="0" anchor="t">
            <a:spAutoFit/>
          </a:bodyPr>
          <a:lstStyle/>
          <a:p>
            <a:pPr algn="r"/>
            <a:r>
              <a:rPr sz="1050" b="0" i="0">
                <a:solidFill>
                  <a:srgbClr val="A8C0C8"/>
                </a:solidFill>
                <a:latin typeface="Segoe UI"/>
              </a:rPr>
              <a:t>QuantLogix</a:t>
            </a:r>
          </a:p>
        </p:txBody>
      </p:sp>
      <p:sp>
        <p:nvSpPr>
          <p:cNvPr id="22" name="Rectangle 21"/>
          <p:cNvSpPr/>
          <p:nvPr/>
        </p:nvSpPr>
        <p:spPr>
          <a:xfrm>
            <a:off x="1847088" y="3305556"/>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Rectangle 22"/>
          <p:cNvSpPr/>
          <p:nvPr/>
        </p:nvSpPr>
        <p:spPr>
          <a:xfrm>
            <a:off x="1847088" y="3305556"/>
            <a:ext cx="3328507"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6025896" y="3268980"/>
            <a:ext cx="502920" cy="256032"/>
          </a:xfrm>
          <a:prstGeom prst="rect">
            <a:avLst/>
          </a:prstGeom>
          <a:noFill/>
        </p:spPr>
        <p:txBody>
          <a:bodyPr wrap="square" lIns="0" tIns="0" rIns="0" bIns="0" anchor="t">
            <a:spAutoFit/>
          </a:bodyPr>
          <a:lstStyle/>
          <a:p>
            <a:pPr algn="r"/>
            <a:r>
              <a:rPr sz="1050" b="0" i="0">
                <a:solidFill>
                  <a:srgbClr val="A8C0C8"/>
                </a:solidFill>
                <a:latin typeface="Consolas"/>
              </a:rPr>
              <a:t>82%</a:t>
            </a:r>
          </a:p>
        </p:txBody>
      </p:sp>
      <p:sp>
        <p:nvSpPr>
          <p:cNvPr id="25" name="TextBox 24"/>
          <p:cNvSpPr txBox="1"/>
          <p:nvPr/>
        </p:nvSpPr>
        <p:spPr>
          <a:xfrm>
            <a:off x="658368" y="3653028"/>
            <a:ext cx="1097280" cy="256032"/>
          </a:xfrm>
          <a:prstGeom prst="rect">
            <a:avLst/>
          </a:prstGeom>
          <a:noFill/>
        </p:spPr>
        <p:txBody>
          <a:bodyPr wrap="square" lIns="0" tIns="0" rIns="0" bIns="0" anchor="t">
            <a:spAutoFit/>
          </a:bodyPr>
          <a:lstStyle/>
          <a:p>
            <a:pPr algn="r"/>
            <a:r>
              <a:rPr sz="1050" b="0" i="0">
                <a:solidFill>
                  <a:srgbClr val="A8C0C8"/>
                </a:solidFill>
                <a:latin typeface="Segoe UI"/>
              </a:rPr>
              <a:t>TenderLogix</a:t>
            </a:r>
          </a:p>
        </p:txBody>
      </p:sp>
      <p:sp>
        <p:nvSpPr>
          <p:cNvPr id="26" name="Rectangle 25"/>
          <p:cNvSpPr/>
          <p:nvPr/>
        </p:nvSpPr>
        <p:spPr>
          <a:xfrm>
            <a:off x="1847088" y="3689604"/>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Rectangle 26"/>
          <p:cNvSpPr/>
          <p:nvPr/>
        </p:nvSpPr>
        <p:spPr>
          <a:xfrm>
            <a:off x="1847088" y="3689604"/>
            <a:ext cx="3279678"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6025896" y="3653028"/>
            <a:ext cx="502920" cy="256032"/>
          </a:xfrm>
          <a:prstGeom prst="rect">
            <a:avLst/>
          </a:prstGeom>
          <a:noFill/>
        </p:spPr>
        <p:txBody>
          <a:bodyPr wrap="square" lIns="0" tIns="0" rIns="0" bIns="0" anchor="t">
            <a:spAutoFit/>
          </a:bodyPr>
          <a:lstStyle/>
          <a:p>
            <a:pPr algn="r"/>
            <a:r>
              <a:rPr sz="1050" b="0" i="0">
                <a:solidFill>
                  <a:srgbClr val="A8C0C8"/>
                </a:solidFill>
                <a:latin typeface="Consolas"/>
              </a:rPr>
              <a:t>81%</a:t>
            </a:r>
          </a:p>
        </p:txBody>
      </p:sp>
      <p:sp>
        <p:nvSpPr>
          <p:cNvPr id="29" name="TextBox 28"/>
          <p:cNvSpPr txBox="1"/>
          <p:nvPr/>
        </p:nvSpPr>
        <p:spPr>
          <a:xfrm>
            <a:off x="658368" y="4037076"/>
            <a:ext cx="1097280" cy="256032"/>
          </a:xfrm>
          <a:prstGeom prst="rect">
            <a:avLst/>
          </a:prstGeom>
          <a:noFill/>
        </p:spPr>
        <p:txBody>
          <a:bodyPr wrap="square" lIns="0" tIns="0" rIns="0" bIns="0" anchor="t">
            <a:spAutoFit/>
          </a:bodyPr>
          <a:lstStyle/>
          <a:p>
            <a:pPr algn="r"/>
            <a:r>
              <a:rPr sz="1050" b="0" i="0">
                <a:solidFill>
                  <a:srgbClr val="A8C0C8"/>
                </a:solidFill>
                <a:latin typeface="Segoe UI"/>
              </a:rPr>
              <a:t>ScheduleLogix</a:t>
            </a:r>
          </a:p>
        </p:txBody>
      </p:sp>
      <p:sp>
        <p:nvSpPr>
          <p:cNvPr id="30" name="Rectangle 29"/>
          <p:cNvSpPr/>
          <p:nvPr/>
        </p:nvSpPr>
        <p:spPr>
          <a:xfrm>
            <a:off x="1847088" y="4073652"/>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Rectangle 30"/>
          <p:cNvSpPr/>
          <p:nvPr/>
        </p:nvSpPr>
        <p:spPr>
          <a:xfrm>
            <a:off x="1847088" y="4073652"/>
            <a:ext cx="3120984" cy="128016"/>
          </a:xfrm>
          <a:prstGeom prst="rect">
            <a:avLst/>
          </a:prstGeom>
          <a:solidFill>
            <a:srgbClr val="E0A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6025896" y="4037076"/>
            <a:ext cx="502920" cy="256032"/>
          </a:xfrm>
          <a:prstGeom prst="rect">
            <a:avLst/>
          </a:prstGeom>
          <a:noFill/>
        </p:spPr>
        <p:txBody>
          <a:bodyPr wrap="square" lIns="0" tIns="0" rIns="0" bIns="0" anchor="t">
            <a:spAutoFit/>
          </a:bodyPr>
          <a:lstStyle/>
          <a:p>
            <a:pPr algn="r"/>
            <a:r>
              <a:rPr sz="1050" b="0" i="0">
                <a:solidFill>
                  <a:srgbClr val="A8C0C8"/>
                </a:solidFill>
                <a:latin typeface="Consolas"/>
              </a:rPr>
              <a:t>77%</a:t>
            </a:r>
          </a:p>
        </p:txBody>
      </p:sp>
      <p:sp>
        <p:nvSpPr>
          <p:cNvPr id="33" name="TextBox 32"/>
          <p:cNvSpPr txBox="1"/>
          <p:nvPr/>
        </p:nvSpPr>
        <p:spPr>
          <a:xfrm>
            <a:off x="658368" y="4421124"/>
            <a:ext cx="1097280" cy="256032"/>
          </a:xfrm>
          <a:prstGeom prst="rect">
            <a:avLst/>
          </a:prstGeom>
          <a:noFill/>
        </p:spPr>
        <p:txBody>
          <a:bodyPr wrap="square" lIns="0" tIns="0" rIns="0" bIns="0" anchor="t">
            <a:spAutoFit/>
          </a:bodyPr>
          <a:lstStyle/>
          <a:p>
            <a:pPr algn="r"/>
            <a:r>
              <a:rPr sz="1050" b="0" i="0">
                <a:solidFill>
                  <a:srgbClr val="A8C0C8"/>
                </a:solidFill>
                <a:latin typeface="Segoe UI"/>
              </a:rPr>
              <a:t>Platform / Core</a:t>
            </a:r>
          </a:p>
        </p:txBody>
      </p:sp>
      <p:sp>
        <p:nvSpPr>
          <p:cNvPr id="34" name="Rectangle 33"/>
          <p:cNvSpPr/>
          <p:nvPr/>
        </p:nvSpPr>
        <p:spPr>
          <a:xfrm>
            <a:off x="1847088" y="4457699"/>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Rectangle 34"/>
          <p:cNvSpPr/>
          <p:nvPr/>
        </p:nvSpPr>
        <p:spPr>
          <a:xfrm>
            <a:off x="1847088" y="4448556"/>
            <a:ext cx="2950083" cy="128016"/>
          </a:xfrm>
          <a:prstGeom prst="rect">
            <a:avLst/>
          </a:prstGeom>
          <a:solidFill>
            <a:srgbClr val="E0A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6025896" y="4421124"/>
            <a:ext cx="502920" cy="256032"/>
          </a:xfrm>
          <a:prstGeom prst="rect">
            <a:avLst/>
          </a:prstGeom>
          <a:noFill/>
        </p:spPr>
        <p:txBody>
          <a:bodyPr wrap="square" lIns="0" tIns="0" rIns="0" bIns="0" anchor="t">
            <a:spAutoFit/>
          </a:bodyPr>
          <a:lstStyle/>
          <a:p>
            <a:pPr algn="r"/>
            <a:r>
              <a:rPr sz="1050" b="0" i="0">
                <a:solidFill>
                  <a:srgbClr val="A8C0C8"/>
                </a:solidFill>
                <a:latin typeface="Consolas"/>
              </a:rPr>
              <a:t>72%</a:t>
            </a:r>
          </a:p>
        </p:txBody>
      </p:sp>
      <p:sp>
        <p:nvSpPr>
          <p:cNvPr id="37" name="TextBox 36"/>
          <p:cNvSpPr txBox="1"/>
          <p:nvPr/>
        </p:nvSpPr>
        <p:spPr>
          <a:xfrm>
            <a:off x="658368" y="4805172"/>
            <a:ext cx="1097280" cy="256032"/>
          </a:xfrm>
          <a:prstGeom prst="rect">
            <a:avLst/>
          </a:prstGeom>
          <a:noFill/>
        </p:spPr>
        <p:txBody>
          <a:bodyPr wrap="square" lIns="0" tIns="0" rIns="0" bIns="0" anchor="t">
            <a:spAutoFit/>
          </a:bodyPr>
          <a:lstStyle/>
          <a:p>
            <a:pPr algn="r"/>
            <a:r>
              <a:rPr sz="1050" b="0" i="0">
                <a:solidFill>
                  <a:srgbClr val="A8C0C8"/>
                </a:solidFill>
                <a:latin typeface="Segoe UI"/>
              </a:rPr>
              <a:t>DrawLogix</a:t>
            </a:r>
          </a:p>
        </p:txBody>
      </p:sp>
      <p:sp>
        <p:nvSpPr>
          <p:cNvPr id="38" name="Rectangle 37"/>
          <p:cNvSpPr/>
          <p:nvPr/>
        </p:nvSpPr>
        <p:spPr>
          <a:xfrm>
            <a:off x="1847088" y="4841748"/>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Rectangle 38"/>
          <p:cNvSpPr/>
          <p:nvPr/>
        </p:nvSpPr>
        <p:spPr>
          <a:xfrm>
            <a:off x="1847088" y="4841748"/>
            <a:ext cx="2925668" cy="128016"/>
          </a:xfrm>
          <a:prstGeom prst="rect">
            <a:avLst/>
          </a:prstGeom>
          <a:solidFill>
            <a:srgbClr val="E0A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39"/>
          <p:cNvSpPr txBox="1"/>
          <p:nvPr/>
        </p:nvSpPr>
        <p:spPr>
          <a:xfrm>
            <a:off x="6025896" y="4805172"/>
            <a:ext cx="502920" cy="256032"/>
          </a:xfrm>
          <a:prstGeom prst="rect">
            <a:avLst/>
          </a:prstGeom>
          <a:noFill/>
        </p:spPr>
        <p:txBody>
          <a:bodyPr wrap="square" lIns="0" tIns="0" rIns="0" bIns="0" anchor="t">
            <a:spAutoFit/>
          </a:bodyPr>
          <a:lstStyle/>
          <a:p>
            <a:pPr algn="r"/>
            <a:r>
              <a:rPr sz="1050" b="0" i="0">
                <a:solidFill>
                  <a:srgbClr val="A8C0C8"/>
                </a:solidFill>
                <a:latin typeface="Consolas"/>
              </a:rPr>
              <a:t>72%</a:t>
            </a:r>
          </a:p>
        </p:txBody>
      </p:sp>
      <p:sp>
        <p:nvSpPr>
          <p:cNvPr id="41" name="Rectangle 40"/>
          <p:cNvSpPr/>
          <p:nvPr/>
        </p:nvSpPr>
        <p:spPr>
          <a:xfrm>
            <a:off x="658368" y="5280660"/>
            <a:ext cx="5870448"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58368" y="5390387"/>
            <a:ext cx="1097280" cy="274320"/>
          </a:xfrm>
          <a:prstGeom prst="rect">
            <a:avLst/>
          </a:prstGeom>
          <a:noFill/>
        </p:spPr>
        <p:txBody>
          <a:bodyPr wrap="square" lIns="0" tIns="0" rIns="0" bIns="0" anchor="t">
            <a:spAutoFit/>
          </a:bodyPr>
          <a:lstStyle/>
          <a:p>
            <a:pPr algn="r"/>
            <a:r>
              <a:rPr sz="1150" b="1" i="0">
                <a:solidFill>
                  <a:srgbClr val="E9F2F4"/>
                </a:solidFill>
                <a:latin typeface="Segoe UI"/>
              </a:rPr>
              <a:t>All modules</a:t>
            </a:r>
          </a:p>
        </p:txBody>
      </p:sp>
      <p:sp>
        <p:nvSpPr>
          <p:cNvPr id="43" name="Rectangle 42"/>
          <p:cNvSpPr/>
          <p:nvPr/>
        </p:nvSpPr>
        <p:spPr>
          <a:xfrm>
            <a:off x="1847088" y="5426963"/>
            <a:ext cx="4069080" cy="17373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Rectangle 43"/>
          <p:cNvSpPr/>
          <p:nvPr/>
        </p:nvSpPr>
        <p:spPr>
          <a:xfrm>
            <a:off x="1847088" y="5426963"/>
            <a:ext cx="3222711" cy="17373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TextBox 44"/>
          <p:cNvSpPr txBox="1"/>
          <p:nvPr/>
        </p:nvSpPr>
        <p:spPr>
          <a:xfrm>
            <a:off x="6025896" y="5390387"/>
            <a:ext cx="502920" cy="274320"/>
          </a:xfrm>
          <a:prstGeom prst="rect">
            <a:avLst/>
          </a:prstGeom>
          <a:noFill/>
        </p:spPr>
        <p:txBody>
          <a:bodyPr wrap="square" lIns="0" tIns="0" rIns="0" bIns="0" anchor="t">
            <a:spAutoFit/>
          </a:bodyPr>
          <a:lstStyle/>
          <a:p>
            <a:pPr algn="r"/>
            <a:r>
              <a:rPr sz="1150" b="1" i="0">
                <a:solidFill>
                  <a:srgbClr val="E9F2F4"/>
                </a:solidFill>
                <a:latin typeface="Consolas"/>
              </a:rPr>
              <a:t>79%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57200"/>
            <a:ext cx="10874959" cy="219456"/>
          </a:xfrm>
          <a:prstGeom prst="rect">
            <a:avLst/>
          </a:prstGeom>
          <a:noFill/>
        </p:spPr>
        <p:txBody>
          <a:bodyPr wrap="square" lIns="0" tIns="0" rIns="0" bIns="0" anchor="t">
            <a:spAutoFit/>
          </a:bodyPr>
          <a:lstStyle/>
          <a:p>
            <a:pPr>
              <a:spcBef>
                <a:spcPts val="0"/>
              </a:spcBef>
              <a:spcAft>
                <a:spcPts val="0"/>
              </a:spcAft>
            </a:pPr>
            <a:r>
              <a:rPr sz="900" b="0" i="0" spc="140">
                <a:solidFill>
                  <a:srgbClr val="7A939E"/>
                </a:solidFill>
                <a:latin typeface="Consolas"/>
              </a:rPr>
              <a:t>ADOPTION  </a:t>
            </a:r>
            <a:r>
              <a:rPr sz="900" b="1" i="0" spc="140">
                <a:solidFill>
                  <a:srgbClr val="3EDCC2"/>
                </a:solidFill>
                <a:latin typeface="Consolas"/>
              </a:rPr>
              <a:t>16  </a:t>
            </a:r>
            <a:r>
              <a:rPr sz="900" b="0" i="0" spc="140">
                <a:solidFill>
                  <a:srgbClr val="7A939E"/>
                </a:solidFill>
                <a:latin typeface="Consolas"/>
              </a:rPr>
              <a:t>NO RIP AND REPLACE</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58368" y="1901952"/>
            <a:ext cx="3515258" cy="21488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13816" y="2039111"/>
            <a:ext cx="3204362" cy="1874520"/>
          </a:xfrm>
          <a:prstGeom prst="rect">
            <a:avLst/>
          </a:prstGeom>
          <a:noFill/>
        </p:spPr>
        <p:txBody>
          <a:bodyPr wrap="square" lIns="0" tIns="0" rIns="0" bIns="0" anchor="t">
            <a:spAutoFit/>
          </a:bodyPr>
          <a:lstStyle/>
          <a:p>
            <a:pPr>
              <a:spcBef>
                <a:spcPts val="0"/>
              </a:spcBef>
              <a:spcAft>
                <a:spcPts val="600"/>
              </a:spcAft>
            </a:pPr>
            <a:r>
              <a:rPr sz="800" b="0" i="0" spc="130">
                <a:solidFill>
                  <a:srgbClr val="7A939E"/>
                </a:solidFill>
                <a:latin typeface="Consolas"/>
              </a:rPr>
              <a:t>PHASE A · NOW</a:t>
            </a:r>
          </a:p>
          <a:p>
            <a:pPr>
              <a:spcBef>
                <a:spcPts val="0"/>
              </a:spcBef>
              <a:spcAft>
                <a:spcPts val="500"/>
              </a:spcAft>
            </a:pPr>
            <a:r>
              <a:rPr sz="1200" b="1" i="0">
                <a:solidFill>
                  <a:srgbClr val="E9F2F4"/>
                </a:solidFill>
                <a:latin typeface="Segoe UI"/>
              </a:rPr>
              <a:t>Coexist</a:t>
            </a:r>
          </a:p>
          <a:p>
            <a:pPr>
              <a:lnSpc>
                <a:spcPct val="138000"/>
              </a:lnSpc>
              <a:spcBef>
                <a:spcPts val="0"/>
              </a:spcBef>
              <a:spcAft>
                <a:spcPts val="0"/>
              </a:spcAft>
            </a:pPr>
            <a:r>
              <a:rPr sz="1150" b="0" i="0">
                <a:solidFill>
                  <a:srgbClr val="A8C0C8"/>
                </a:solidFill>
                <a:latin typeface="Segoe UI"/>
              </a:rPr>
              <a:t>Import and export against the Autodesk ecosystem, IFC, DWG and DXF, PDF, Excel, P6 and your ERP. Preckon adds a layer; nothing is switched off.</a:t>
            </a:r>
          </a:p>
        </p:txBody>
      </p:sp>
      <p:sp>
        <p:nvSpPr>
          <p:cNvPr id="7" name="Rounded Rectangle 6"/>
          <p:cNvSpPr/>
          <p:nvPr/>
        </p:nvSpPr>
        <p:spPr>
          <a:xfrm>
            <a:off x="4338218" y="1901952"/>
            <a:ext cx="3515258" cy="21488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4493666" y="2039111"/>
            <a:ext cx="3204362" cy="1874520"/>
          </a:xfrm>
          <a:prstGeom prst="rect">
            <a:avLst/>
          </a:prstGeom>
          <a:noFill/>
        </p:spPr>
        <p:txBody>
          <a:bodyPr wrap="square" lIns="0" tIns="0" rIns="0" bIns="0" anchor="t">
            <a:spAutoFit/>
          </a:bodyPr>
          <a:lstStyle/>
          <a:p>
            <a:pPr>
              <a:spcBef>
                <a:spcPts val="0"/>
              </a:spcBef>
              <a:spcAft>
                <a:spcPts val="600"/>
              </a:spcAft>
            </a:pPr>
            <a:r>
              <a:rPr sz="800" b="0" i="0" spc="130">
                <a:solidFill>
                  <a:srgbClr val="7A939E"/>
                </a:solidFill>
                <a:latin typeface="Consolas"/>
              </a:rPr>
              <a:t>PHASE B</a:t>
            </a:r>
          </a:p>
          <a:p>
            <a:pPr>
              <a:spcBef>
                <a:spcPts val="0"/>
              </a:spcBef>
              <a:spcAft>
                <a:spcPts val="500"/>
              </a:spcAft>
            </a:pPr>
            <a:r>
              <a:rPr sz="1200" b="1" i="0">
                <a:solidFill>
                  <a:srgbClr val="E9F2F4"/>
                </a:solidFill>
                <a:latin typeface="Segoe UI"/>
              </a:rPr>
              <a:t>Reduce dependency</a:t>
            </a:r>
          </a:p>
          <a:p>
            <a:pPr>
              <a:lnSpc>
                <a:spcPct val="138000"/>
              </a:lnSpc>
              <a:spcBef>
                <a:spcPts val="0"/>
              </a:spcBef>
              <a:spcAft>
                <a:spcPts val="0"/>
              </a:spcAft>
            </a:pPr>
            <a:r>
              <a:rPr sz="1150" b="0" i="0">
                <a:solidFill>
                  <a:srgbClr val="A8C0C8"/>
                </a:solidFill>
                <a:latin typeface="Segoe UI"/>
              </a:rPr>
              <a:t>Takeoff, BOQ, tender workflow, document control and commercial workflows move natively, one at a time, on evidence.</a:t>
            </a:r>
          </a:p>
        </p:txBody>
      </p:sp>
      <p:sp>
        <p:nvSpPr>
          <p:cNvPr id="9" name="Rounded Rectangle 8"/>
          <p:cNvSpPr/>
          <p:nvPr/>
        </p:nvSpPr>
        <p:spPr>
          <a:xfrm>
            <a:off x="8018068" y="1901952"/>
            <a:ext cx="3515258" cy="21488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8173516" y="2039111"/>
            <a:ext cx="3204362" cy="1874520"/>
          </a:xfrm>
          <a:prstGeom prst="rect">
            <a:avLst/>
          </a:prstGeom>
          <a:noFill/>
        </p:spPr>
        <p:txBody>
          <a:bodyPr wrap="square" lIns="0" tIns="0" rIns="0" bIns="0" anchor="t">
            <a:spAutoFit/>
          </a:bodyPr>
          <a:lstStyle/>
          <a:p>
            <a:pPr>
              <a:spcBef>
                <a:spcPts val="0"/>
              </a:spcBef>
              <a:spcAft>
                <a:spcPts val="600"/>
              </a:spcAft>
            </a:pPr>
            <a:r>
              <a:rPr sz="800" b="0" i="0" spc="130">
                <a:solidFill>
                  <a:srgbClr val="7A939E"/>
                </a:solidFill>
                <a:latin typeface="Consolas"/>
              </a:rPr>
              <a:t>PHASE C</a:t>
            </a:r>
          </a:p>
          <a:p>
            <a:pPr>
              <a:spcBef>
                <a:spcPts val="0"/>
              </a:spcBef>
              <a:spcAft>
                <a:spcPts val="500"/>
              </a:spcAft>
            </a:pPr>
            <a:r>
              <a:rPr sz="1200" b="1" i="0">
                <a:solidFill>
                  <a:srgbClr val="E9F2F4"/>
                </a:solidFill>
                <a:latin typeface="Segoe UI"/>
              </a:rPr>
              <a:t>Native</a:t>
            </a:r>
          </a:p>
          <a:p>
            <a:pPr>
              <a:lnSpc>
                <a:spcPct val="138000"/>
              </a:lnSpc>
              <a:spcBef>
                <a:spcPts val="0"/>
              </a:spcBef>
              <a:spcAft>
                <a:spcPts val="0"/>
              </a:spcAft>
            </a:pPr>
            <a:r>
              <a:rPr sz="1150" b="0" i="0">
                <a:solidFill>
                  <a:srgbClr val="A8C0C8"/>
                </a:solidFill>
                <a:latin typeface="Segoe UI"/>
              </a:rPr>
              <a:t>Preckon becomes the system of work from design through handover — while open exchange with consultants and owners is retained permanently.</a:t>
            </a:r>
          </a:p>
        </p:txBody>
      </p:sp>
      <p:sp>
        <p:nvSpPr>
          <p:cNvPr id="11" name="Rectangle 10"/>
          <p:cNvSpPr/>
          <p:nvPr/>
        </p:nvSpPr>
        <p:spPr>
          <a:xfrm>
            <a:off x="658368" y="4553711"/>
            <a:ext cx="22860" cy="566928"/>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4553711"/>
            <a:ext cx="9454896" cy="914400"/>
          </a:xfrm>
          <a:prstGeom prst="rect">
            <a:avLst/>
          </a:prstGeom>
          <a:noFill/>
        </p:spPr>
        <p:txBody>
          <a:bodyPr wrap="square" lIns="0" tIns="0" rIns="0" bIns="0" anchor="t">
            <a:spAutoFit/>
          </a:bodyPr>
          <a:lstStyle/>
          <a:p>
            <a:pPr>
              <a:lnSpc>
                <a:spcPct val="140000"/>
              </a:lnSpc>
              <a:spcBef>
                <a:spcPts val="0"/>
              </a:spcBef>
              <a:spcAft>
                <a:spcPts val="0"/>
              </a:spcAft>
            </a:pPr>
            <a:r>
              <a:rPr sz="1800" b="0" i="1">
                <a:solidFill>
                  <a:srgbClr val="E9F2F4"/>
                </a:solidFill>
                <a:latin typeface="Georgia"/>
              </a:rPr>
              <a:t>We are not asking anyone to migrate. Phase A has to earn Phase B.</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57200"/>
            <a:ext cx="10874959" cy="219456"/>
          </a:xfrm>
          <a:prstGeom prst="rect">
            <a:avLst/>
          </a:prstGeom>
          <a:noFill/>
        </p:spPr>
        <p:txBody>
          <a:bodyPr wrap="square" lIns="0" tIns="0" rIns="0" bIns="0" anchor="t">
            <a:spAutoFit/>
          </a:bodyPr>
          <a:lstStyle/>
          <a:p>
            <a:pPr>
              <a:spcBef>
                <a:spcPts val="0"/>
              </a:spcBef>
              <a:spcAft>
                <a:spcPts val="0"/>
              </a:spcAft>
            </a:pPr>
            <a:r>
              <a:rPr sz="900" b="0" i="0" spc="140">
                <a:solidFill>
                  <a:srgbClr val="7A939E"/>
                </a:solidFill>
                <a:latin typeface="Consolas"/>
              </a:rPr>
              <a:t>THE ASK  </a:t>
            </a:r>
            <a:r>
              <a:rPr sz="900" b="1" i="0" spc="140">
                <a:solidFill>
                  <a:srgbClr val="3EDCC2"/>
                </a:solidFill>
                <a:latin typeface="Consolas"/>
              </a:rPr>
              <a:t>17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385316"/>
            <a:ext cx="8686800" cy="1463040"/>
          </a:xfrm>
          <a:prstGeom prst="rect">
            <a:avLst/>
          </a:prstGeom>
          <a:noFill/>
        </p:spPr>
        <p:txBody>
          <a:bodyPr wrap="square" lIns="0" tIns="0" rIns="0" bIns="0" anchor="t">
            <a:spAutoFit/>
          </a:bodyPr>
          <a:lstStyle/>
          <a:p>
            <a:pPr>
              <a:lnSpc>
                <a:spcPct val="112000"/>
              </a:lnSpc>
              <a:spcBef>
                <a:spcPts val="0"/>
              </a:spcBef>
              <a:spcAft>
                <a:spcPts val="0"/>
              </a:spcAft>
            </a:pPr>
            <a:r>
              <a:rPr sz="3000" b="1" i="0">
                <a:solidFill>
                  <a:srgbClr val="E9F2F4"/>
                </a:solidFill>
                <a:latin typeface="Segoe UI"/>
              </a:rPr>
              <a:t>Three things, six weeks, one live tender.</a:t>
            </a:r>
          </a:p>
        </p:txBody>
      </p:sp>
      <p:sp>
        <p:nvSpPr>
          <p:cNvPr id="6" name="TextBox 5"/>
          <p:cNvSpPr txBox="1"/>
          <p:nvPr/>
        </p:nvSpPr>
        <p:spPr>
          <a:xfrm>
            <a:off x="658368" y="2418588"/>
            <a:ext cx="365760" cy="274320"/>
          </a:xfrm>
          <a:prstGeom prst="rect">
            <a:avLst/>
          </a:prstGeom>
          <a:noFill/>
        </p:spPr>
        <p:txBody>
          <a:bodyPr wrap="square" lIns="0" tIns="0" rIns="0" bIns="0" anchor="t">
            <a:spAutoFit/>
          </a:bodyPr>
          <a:lstStyle/>
          <a:p>
            <a:r>
              <a:rPr sz="900" b="1" i="0" spc="100">
                <a:solidFill>
                  <a:srgbClr val="3EDCC2"/>
                </a:solidFill>
                <a:latin typeface="Consolas"/>
              </a:rPr>
              <a:t>01</a:t>
            </a:r>
          </a:p>
        </p:txBody>
      </p:sp>
      <p:sp>
        <p:nvSpPr>
          <p:cNvPr id="7" name="TextBox 6"/>
          <p:cNvSpPr txBox="1"/>
          <p:nvPr/>
        </p:nvSpPr>
        <p:spPr>
          <a:xfrm>
            <a:off x="1078992" y="2382012"/>
            <a:ext cx="7863840" cy="777240"/>
          </a:xfrm>
          <a:prstGeom prst="rect">
            <a:avLst/>
          </a:prstGeom>
          <a:noFill/>
        </p:spPr>
        <p:txBody>
          <a:bodyPr wrap="square" lIns="0" tIns="0" rIns="0" bIns="0" anchor="t">
            <a:spAutoFit/>
          </a:bodyPr>
          <a:lstStyle/>
          <a:p>
            <a:pPr>
              <a:lnSpc>
                <a:spcPct val="145000"/>
              </a:lnSpc>
              <a:spcBef>
                <a:spcPts val="0"/>
              </a:spcBef>
              <a:spcAft>
                <a:spcPts val="0"/>
              </a:spcAft>
            </a:pPr>
            <a:r>
              <a:rPr sz="1350" b="1" i="0">
                <a:solidFill>
                  <a:srgbClr val="E9F2F4"/>
                </a:solidFill>
                <a:latin typeface="Segoe UI"/>
              </a:rPr>
              <a:t>One real bid, end to end.</a:t>
            </a:r>
            <a:r>
              <a:rPr sz="1350" b="0" i="0">
                <a:solidFill>
                  <a:srgbClr val="A8C0C8"/>
                </a:solidFill>
                <a:latin typeface="Segoe UI"/>
              </a:rPr>
              <a:t> One project, one estimating team, six weeks — measured against a bid you have already priced, so the comparison is yours and not ours.</a:t>
            </a:r>
          </a:p>
        </p:txBody>
      </p:sp>
      <p:sp>
        <p:nvSpPr>
          <p:cNvPr id="8" name="TextBox 7"/>
          <p:cNvSpPr txBox="1"/>
          <p:nvPr/>
        </p:nvSpPr>
        <p:spPr>
          <a:xfrm>
            <a:off x="658368" y="3259836"/>
            <a:ext cx="365760" cy="274320"/>
          </a:xfrm>
          <a:prstGeom prst="rect">
            <a:avLst/>
          </a:prstGeom>
          <a:noFill/>
        </p:spPr>
        <p:txBody>
          <a:bodyPr wrap="square" lIns="0" tIns="0" rIns="0" bIns="0" anchor="t">
            <a:spAutoFit/>
          </a:bodyPr>
          <a:lstStyle/>
          <a:p>
            <a:r>
              <a:rPr sz="900" b="1" i="0" spc="100">
                <a:solidFill>
                  <a:srgbClr val="3EDCC2"/>
                </a:solidFill>
                <a:latin typeface="Consolas"/>
              </a:rPr>
              <a:t>02</a:t>
            </a:r>
          </a:p>
        </p:txBody>
      </p:sp>
      <p:sp>
        <p:nvSpPr>
          <p:cNvPr id="9" name="TextBox 8"/>
          <p:cNvSpPr txBox="1"/>
          <p:nvPr/>
        </p:nvSpPr>
        <p:spPr>
          <a:xfrm>
            <a:off x="1078992" y="3223260"/>
            <a:ext cx="7863840" cy="777240"/>
          </a:xfrm>
          <a:prstGeom prst="rect">
            <a:avLst/>
          </a:prstGeom>
          <a:noFill/>
        </p:spPr>
        <p:txBody>
          <a:bodyPr wrap="square" lIns="0" tIns="0" rIns="0" bIns="0" anchor="t">
            <a:spAutoFit/>
          </a:bodyPr>
          <a:lstStyle/>
          <a:p>
            <a:pPr>
              <a:lnSpc>
                <a:spcPct val="145000"/>
              </a:lnSpc>
              <a:spcBef>
                <a:spcPts val="0"/>
              </a:spcBef>
              <a:spcAft>
                <a:spcPts val="0"/>
              </a:spcAft>
            </a:pPr>
            <a:r>
              <a:rPr sz="1350" b="1" i="0">
                <a:solidFill>
                  <a:srgbClr val="E9F2F4"/>
                </a:solidFill>
                <a:latin typeface="Segoe UI"/>
              </a:rPr>
              <a:t>A golden set.</a:t>
            </a:r>
            <a:r>
              <a:rPr sz="1350" b="0" i="0">
                <a:solidFill>
                  <a:srgbClr val="A8C0C8"/>
                </a:solidFill>
                <a:latin typeface="Segoe UI"/>
              </a:rPr>
              <a:t> One design set paired with its final priced BOQ, which we hold as a regression fixture. Accuracy stops being a claim the moment it has a fixture behind it.</a:t>
            </a:r>
          </a:p>
        </p:txBody>
      </p:sp>
      <p:sp>
        <p:nvSpPr>
          <p:cNvPr id="10" name="TextBox 9"/>
          <p:cNvSpPr txBox="1"/>
          <p:nvPr/>
        </p:nvSpPr>
        <p:spPr>
          <a:xfrm>
            <a:off x="658368" y="4101084"/>
            <a:ext cx="365760" cy="274320"/>
          </a:xfrm>
          <a:prstGeom prst="rect">
            <a:avLst/>
          </a:prstGeom>
          <a:noFill/>
        </p:spPr>
        <p:txBody>
          <a:bodyPr wrap="square" lIns="0" tIns="0" rIns="0" bIns="0" anchor="t">
            <a:spAutoFit/>
          </a:bodyPr>
          <a:lstStyle/>
          <a:p>
            <a:r>
              <a:rPr sz="900" b="1" i="0" spc="100">
                <a:solidFill>
                  <a:srgbClr val="3EDCC2"/>
                </a:solidFill>
                <a:latin typeface="Consolas"/>
              </a:rPr>
              <a:t>03</a:t>
            </a:r>
          </a:p>
        </p:txBody>
      </p:sp>
      <p:sp>
        <p:nvSpPr>
          <p:cNvPr id="11" name="TextBox 10"/>
          <p:cNvSpPr txBox="1"/>
          <p:nvPr/>
        </p:nvSpPr>
        <p:spPr>
          <a:xfrm>
            <a:off x="1078992" y="4064508"/>
            <a:ext cx="7863840" cy="777240"/>
          </a:xfrm>
          <a:prstGeom prst="rect">
            <a:avLst/>
          </a:prstGeom>
          <a:noFill/>
        </p:spPr>
        <p:txBody>
          <a:bodyPr wrap="square" lIns="0" tIns="0" rIns="0" bIns="0" anchor="t">
            <a:spAutoFit/>
          </a:bodyPr>
          <a:lstStyle/>
          <a:p>
            <a:pPr>
              <a:lnSpc>
                <a:spcPct val="145000"/>
              </a:lnSpc>
              <a:spcBef>
                <a:spcPts val="0"/>
              </a:spcBef>
              <a:spcAft>
                <a:spcPts val="0"/>
              </a:spcAft>
            </a:pPr>
            <a:r>
              <a:rPr sz="1350" b="1" i="0">
                <a:solidFill>
                  <a:srgbClr val="E9F2F4"/>
                </a:solidFill>
                <a:latin typeface="Segoe UI"/>
              </a:rPr>
              <a:t>A named security counterpart.</a:t>
            </a:r>
            <a:r>
              <a:rPr sz="1350" b="0" i="0">
                <a:solidFill>
                  <a:srgbClr val="A8C0C8"/>
                </a:solidFill>
                <a:latin typeface="Segoe UI"/>
              </a:rPr>
              <a:t> Someone on your side who closes that P0 list with us inside the same six weeks — SSO, MFA, CI, staging, backups.</a:t>
            </a:r>
          </a:p>
        </p:txBody>
      </p:sp>
      <p:sp>
        <p:nvSpPr>
          <p:cNvPr id="12" name="Rounded Rectangle 11"/>
          <p:cNvSpPr/>
          <p:nvPr/>
        </p:nvSpPr>
        <p:spPr>
          <a:xfrm>
            <a:off x="658368" y="5070348"/>
            <a:ext cx="8284464" cy="91440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13816" y="5207508"/>
            <a:ext cx="7973568" cy="640080"/>
          </a:xfrm>
          <a:prstGeom prst="rect">
            <a:avLst/>
          </a:prstGeom>
          <a:noFill/>
        </p:spPr>
        <p:txBody>
          <a:bodyPr wrap="square" lIns="0" tIns="0" rIns="0" bIns="0" anchor="t">
            <a:spAutoFit/>
          </a:bodyPr>
          <a:lstStyle/>
          <a:p>
            <a:pPr>
              <a:spcBef>
                <a:spcPts val="0"/>
              </a:spcBef>
              <a:spcAft>
                <a:spcPts val="600"/>
              </a:spcAft>
            </a:pPr>
            <a:r>
              <a:rPr sz="800" b="0" i="0" spc="130">
                <a:solidFill>
                  <a:srgbClr val="7A939E"/>
                </a:solidFill>
                <a:latin typeface="Consolas"/>
              </a:rPr>
              <a:t>WHAT WE ARE NOT ASKING FOR</a:t>
            </a:r>
          </a:p>
          <a:p>
            <a:pPr>
              <a:lnSpc>
                <a:spcPct val="138000"/>
              </a:lnSpc>
              <a:spcBef>
                <a:spcPts val="0"/>
              </a:spcBef>
              <a:spcAft>
                <a:spcPts val="0"/>
              </a:spcAft>
            </a:pPr>
            <a:r>
              <a:rPr sz="1250" b="0" i="0">
                <a:solidFill>
                  <a:srgbClr val="E9F2F4"/>
                </a:solidFill>
                <a:latin typeface="Segoe UI"/>
              </a:rPr>
              <a:t>A migration. A system to be switched off. A commitment beyond the pilot. Or a decision today.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2740</Words>
  <Application>Microsoft Office PowerPoint</Application>
  <PresentationFormat>Widescreen</PresentationFormat>
  <Paragraphs>228</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Consolas</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IKIO</cp:lastModifiedBy>
  <cp:revision>3</cp:revision>
  <dcterms:created xsi:type="dcterms:W3CDTF">2013-01-27T09:14:16Z</dcterms:created>
  <dcterms:modified xsi:type="dcterms:W3CDTF">2026-08-21T17:04:23Z</dcterms:modified>
  <cp:category/>
</cp:coreProperties>
</file>