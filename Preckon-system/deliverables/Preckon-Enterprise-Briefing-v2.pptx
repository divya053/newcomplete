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Stand still. Do not touch the mouse.</a:t>
            </a:r>
          </a:p>
          <a:p/>
          <a:p>
            <a:r>
              <a:rPr sz="1200">
                <a:latin typeface="Segoe UI"/>
              </a:rPr>
              <a:t>SAY  —  "Twenty minutes. Nine on how this is built, five showing you the running system, and the last six on where the build actually stands — including what isn't finished. Stop me whenever you want."</a:t>
            </a:r>
          </a:p>
          <a:p/>
          <a:p>
            <a:r>
              <a:rPr sz="1200">
                <a:latin typeface="Segoe UI"/>
              </a:rPr>
              <a:t>CORE SLIDE.  TIME 0:00–0:30</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"Everything else that commits your company at this scale sits in a system with an audit trail. Payroll does. The ledger does. The estimate doesn't."</a:t>
            </a:r>
          </a:p>
          <a:p/>
          <a:p>
            <a:r>
              <a:rPr sz="1200">
                <a:latin typeface="Segoe UI"/>
              </a:rPr>
              <a:t>DO  —  Four clicks on this slide. Let each card land before you trigger the next.</a:t>
            </a:r>
          </a:p>
          <a:p/>
          <a:p>
            <a:r>
              <a:rPr sz="1200">
                <a:latin typeface="Segoe UI"/>
              </a:rPr>
              <a:t>CORE SLIDE.  TIME 0:30–1:15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"Two to six weeks. One person who holds the method. Zero numbers with a trail back to source. And a few hundred pages read by hand, every single time."</a:t>
            </a:r>
          </a:p>
          <a:p/>
          <a:p>
            <a:r>
              <a:rPr sz="1200">
                <a:latin typeface="Segoe UI"/>
              </a:rPr>
              <a:t>DO  —  Land hard on the zero. That is the one they have never been able to fix by hiring better estimators.</a:t>
            </a:r>
          </a:p>
          <a:p/>
          <a:p>
            <a:r>
              <a:rPr sz="1200">
                <a:latin typeface="Segoe UI"/>
              </a:rPr>
              <a:t>CORE SLIDE.  TIME 1:15–1:50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One click per row. The Preckon row lands last and reads as a single unbroken span.</a:t>
            </a:r>
          </a:p>
          <a:p/>
          <a:p>
            <a:r>
              <a:rPr sz="1200">
                <a:latin typeface="Segoe UI"/>
              </a:rPr>
              <a:t>SAY  —  "PM platforms pick up after procurement — they manage what you have already produced. The join between the others is a person retyping into a spreadsheet, and that is exactly where the trail dies."</a:t>
            </a:r>
          </a:p>
          <a:p/>
          <a:p>
            <a:r>
              <a:rPr sz="1200">
                <a:latin typeface="Segoe UI"/>
              </a:rPr>
              <a:t>CORE SLIDE.  TIME 1:50–2:35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Six clicks — one per row. Do NOT read the table. Say two rows out loud and let them read the rest.</a:t>
            </a:r>
          </a:p>
          <a:p/>
          <a:p>
            <a:r>
              <a:rPr sz="1200">
                <a:latin typeface="Segoe UI"/>
              </a:rPr>
              <a:t>SAY  —  "Six things that hurt. The middle column is what each one costs you today. The right-hand column is the part we actually built."</a:t>
            </a:r>
          </a:p>
          <a:p/>
          <a:p>
            <a:r>
              <a:rPr sz="1200">
                <a:latin typeface="Segoe UI"/>
              </a:rPr>
              <a:t>Row five is the one to say out loud — no trail from number to drawing. It is the pain the whole architecture exists to fix.</a:t>
            </a:r>
          </a:p>
          <a:p/>
          <a:p>
            <a:r>
              <a:rPr sz="1200">
                <a:latin typeface="Segoe UI"/>
              </a:rPr>
              <a:t>CORE SLIDE.  TIME 2:35–3:30</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Say the headline, then stop for two full seconds before you click.</a:t>
            </a:r>
          </a:p>
          <a:p/>
          <a:p>
            <a:r>
              <a:rPr sz="1200">
                <a:latin typeface="Segoe UI"/>
              </a:rPr>
              <a:t>YOUR ANCHOR. Every architecture slide later exists to make this survive an audit. Never cut this one.</a:t>
            </a:r>
          </a:p>
          <a:p/>
          <a:p>
            <a:r>
              <a:rPr sz="1200">
                <a:latin typeface="Segoe UI"/>
              </a:rPr>
              <a:t>CORE SLIDE.  TIME 3:30–4:00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"This is the real workspace, not a mock-up. Four requirements pulled straight out of the package. Two-envelope electronic submission. Sixty days left — read from the tender, not typed in by somebody."</a:t>
            </a:r>
          </a:p>
          <a:p/>
          <a:p>
            <a:r>
              <a:rPr sz="1200">
                <a:latin typeface="Segoe UI"/>
              </a:rPr>
              <a:t>DO  —  CUT THIS SLIDE if you are demoing live. The product tour (slides 7–13) and the demo do the same job.</a:t>
            </a:r>
          </a:p>
          <a:p/>
          <a:p>
            <a:r>
              <a:rPr sz="1200">
                <a:latin typeface="Segoe UI"/>
              </a:rPr>
              <a:t>OPTIONAL — product tour.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"Every measurement names its element, its sheet and its location on that sheet. And it tells you how confident it is. Eighty-two per cent is not a failure — it is the software saying 'check this one first'."</a:t>
            </a:r>
          </a:p>
          <a:p/>
          <a:p>
            <a:r>
              <a:rPr sz="1200">
                <a:latin typeface="Segoe UI"/>
              </a:rPr>
              <a:t>OPTIONAL — product tour. Cut if demoing live.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"Look at the column on the right. Every line says Trace, and every line says Accepted — by a person. Those two columns together are the product."</a:t>
            </a:r>
          </a:p>
          <a:p/>
          <a:p>
            <a:r>
              <a:rPr sz="1200">
                <a:latin typeface="Segoe UI"/>
              </a:rPr>
              <a:t>DO  —  If you cut the rest of the product tour, keep this slide.</a:t>
            </a:r>
          </a:p>
          <a:p/>
          <a:p>
            <a:r>
              <a:rPr sz="1200">
                <a:latin typeface="Segoe UI"/>
              </a:rPr>
              <a:t>OPTIONAL — but the strongest of the seven. Keep if you keep only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"A hundred and four thousand of priced work. Fifteen thousand of overhead. Four seven six six of contingency. A hundred and twenty-three nine sixteen as the tender total — and every one of those four numbers can be opened up."</a:t>
            </a:r>
          </a:p>
          <a:p/>
          <a:p>
            <a:r>
              <a:rPr sz="1200">
                <a:latin typeface="Segoe UI"/>
              </a:rPr>
              <a:t>OPTIONAL — product tour.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"Neither of these was typed in. The programme is calculated. The packages are grouped out of bill lines you already accepted. Which means the package, the quantity and the price physically cannot drift apart."</a:t>
            </a:r>
          </a:p>
          <a:p/>
          <a:p>
            <a:r>
              <a:rPr sz="1200">
                <a:latin typeface="Segoe UI"/>
              </a:rPr>
              <a:t>OPTIONAL — product tour.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"AI proposals waiting for a human decision. That subtitle is not marketing — it is a structural property. The assistants have four calls available and none of them writes a business record."</a:t>
            </a:r>
          </a:p>
          <a:p/>
          <a:p>
            <a:r>
              <a:rPr sz="1200">
                <a:latin typeface="Segoe UI"/>
              </a:rPr>
              <a:t>KEEP THIS ONE even if you cut the rest of the tour. It carries the governance argument visually, which is worth more than the architecture slide alone.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Say one line and move. This slide sells itself and does not need explaining.</a:t>
            </a:r>
          </a:p>
          <a:p/>
          <a:p>
            <a:r>
              <a:rPr sz="1200">
                <a:latin typeface="Segoe UI"/>
              </a:rPr>
              <a:t>SAY  —  "Same workspace. Not a translated copy of it."</a:t>
            </a:r>
          </a:p>
          <a:p/>
          <a:p>
            <a:r>
              <a:rPr sz="1200">
                <a:latin typeface="Segoe UI"/>
              </a:rPr>
              <a:t>OPTIONAL — but very strong for GCC-facing partners.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Six clicks. Read the left column flat and the right column with weight — the contrast does the work.</a:t>
            </a:r>
          </a:p>
          <a:p/>
          <a:p>
            <a:r>
              <a:rPr sz="1200">
                <a:latin typeface="Segoe UI"/>
              </a:rPr>
              <a:t>ROW FIVE is the commercial argument. Bidding more without hiring proportionally is the sentence a CFO repeats afterwards.</a:t>
            </a:r>
          </a:p>
          <a:p/>
          <a:p>
            <a:r>
              <a:rPr sz="1200">
                <a:latin typeface="Segoe UI"/>
              </a:rPr>
              <a:t>Substitute measured pilot figures here the moment you have them. Anything from a real bid beats anything on this slide.</a:t>
            </a:r>
          </a:p>
          <a:p/>
          <a:p>
            <a:r>
              <a:rPr sz="1200">
                <a:latin typeface="Segoe UI"/>
              </a:rPr>
              <a:t>CORE SLIDE.  TIME 3:30–4:20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Leave this slide up while you switch to the browser. It is the frame they hold while you drive.</a:t>
            </a:r>
          </a:p>
          <a:p/>
          <a:p>
            <a:r>
              <a:rPr sz="1200">
                <a:latin typeface="Segoe UI"/>
              </a:rPr>
              <a:t>SAY  —  "Pick any line you like. I'd rather you chose it than I did."</a:t>
            </a:r>
          </a:p>
          <a:p/>
          <a:p>
            <a:r>
              <a:rPr sz="1200">
                <a:latin typeface="Segoe UI"/>
              </a:rPr>
              <a:t>BEAT 03 IS THE PEAK. Let them choose the line, then stop talking while they read the trace. If a quantity looks wrong, say 'Good, that's exactly the case this is built for' and correct it live.</a:t>
            </a:r>
          </a:p>
          <a:p/>
          <a:p>
            <a:r>
              <a:rPr sz="1200">
                <a:latin typeface="Segoe UI"/>
              </a:rPr>
              <a:t>CORE SLIDE.  TIME 4:20–9:20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"The only thing that crosses between them is a resolved entitlement set. Your tenant database holds no commercial terms at all — it doesn't know what it costs."</a:t>
            </a:r>
          </a:p>
          <a:p/>
          <a:p>
            <a:r>
              <a:rPr sz="1200">
                <a:latin typeface="Segoe UI"/>
              </a:rPr>
              <a:t>CORE SLIDE.  TIME 9:20–10:15</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"An assistant can do exactly four things. Create a typed record. Read records it's allowed to read. Queue a job. Ask a human to review something. There is no fifth call — it cannot write to a table, approve anything, or reach the network."</a:t>
            </a:r>
          </a:p>
          <a:p/>
          <a:p>
            <a:r>
              <a:rPr sz="1200">
                <a:latin typeface="Segoe UI"/>
              </a:rPr>
              <a:t>This is the extensibility and the moat argument in one slide. Expand here if you are running short.</a:t>
            </a:r>
          </a:p>
          <a:p/>
          <a:p>
            <a:r>
              <a:rPr sz="1200">
                <a:latin typeface="Segoe UI"/>
              </a:rPr>
              <a:t>CORE SLIDE.  TIME 10:15–11:10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"Every estimating tool ever built lets you correct a number. Not one of them tells you what else just became wrong."</a:t>
            </a:r>
          </a:p>
          <a:p/>
          <a:p>
            <a:r>
              <a:rPr sz="1200">
                <a:latin typeface="Segoe UI"/>
              </a:rPr>
              <a:t>CORE SLIDE.  TIME 11:10–12:05</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"Not 'we've configured it not to'. It structurally cannot. So the failure mode here is a bad proposal that somebody rejects — not a bad commit nobody noticed."</a:t>
            </a:r>
          </a:p>
          <a:p/>
          <a:p>
            <a:r>
              <a:rPr sz="1200">
                <a:latin typeface="Segoe UI"/>
              </a:rPr>
              <a:t>STRONGEST SLIDE FOR A RISK-AVERSE CTO. Never cut.</a:t>
            </a:r>
          </a:p>
          <a:p/>
          <a:p>
            <a:r>
              <a:rPr sz="1200">
                <a:latin typeface="Segoe UI"/>
              </a:rPr>
              <a:t>CORE SLIDE.  TIME 12:05–12:50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"A frontier model is the sixth thing we try, not the first. Most of what looks like AI in here is thirty-four deterministic engines doing arithmetic."</a:t>
            </a:r>
          </a:p>
          <a:p/>
          <a:p>
            <a:r>
              <a:rPr sz="1200">
                <a:latin typeface="Segoe UI"/>
              </a:rPr>
              <a:t>DO  —  Six clicks down the ladder, then three for the panels. If short on time, click once to reveal the whole ladder — select all six in the animation pane and set them to With Previous.</a:t>
            </a:r>
          </a:p>
          <a:p/>
          <a:p>
            <a:r>
              <a:rPr sz="1200">
                <a:latin typeface="Segoe UI"/>
              </a:rPr>
              <a:t>Retires three objections at once: accuracy, cost and sovereignty.</a:t>
            </a:r>
          </a:p>
          <a:p/>
          <a:p>
            <a:r>
              <a:rPr sz="1200">
                <a:latin typeface="Segoe UI"/>
              </a:rPr>
              <a:t>CORE SLIDE.  TIME 12:50–13:50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"A log tells you what the application says happened. A hash chain tells you whether anyone changed the record since. In a claim, that's the whole difference."</a:t>
            </a:r>
          </a:p>
          <a:p/>
          <a:p>
            <a:r>
              <a:rPr sz="1200">
                <a:latin typeface="Segoe UI"/>
              </a:rPr>
              <a:t>CORE SLIDE.  TIME 13:50–14:15</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"Four surfaces. Files, systems, the API, and events. The one I'd point at is events — your systems get told when a quantity changes, rather than polling us and hoping."</a:t>
            </a:r>
          </a:p>
          <a:p/>
          <a:p>
            <a:r>
              <a:rPr sz="1200">
                <a:latin typeface="Segoe UI"/>
              </a:rPr>
              <a:t>DO  —  VOLUNTEER THE P6 GAP. An integration slide that admits its weakest connector is worth more than one that lists forty logos.</a:t>
            </a:r>
          </a:p>
          <a:p/>
          <a:p>
            <a:r>
              <a:rPr sz="1200">
                <a:latin typeface="Segoe UI"/>
              </a:rPr>
              <a:t>CORE SLIDE.  TIME 14:15–15:05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Thirty seconds. This defuses the migration objection before the ask — it is not a slide to explore.</a:t>
            </a:r>
          </a:p>
          <a:p/>
          <a:p>
            <a:r>
              <a:rPr sz="1200">
                <a:latin typeface="Segoe UI"/>
              </a:rPr>
              <a:t>CORE SLIDE.  TIME 15:05–15:35</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"Shapes three and four are why the AI fabric exists in the form it does. If a module could call a provider directly, sovereign deployment would be a rewrite."</a:t>
            </a:r>
          </a:p>
          <a:p/>
          <a:p>
            <a:r>
              <a:rPr sz="1200">
                <a:latin typeface="Segoe UI"/>
              </a:rPr>
              <a:t>DO  —  Say the maturity line out loud. Never imply a reference customer you don't have.</a:t>
            </a:r>
          </a:p>
          <a:p/>
          <a:p>
            <a:r>
              <a:rPr sz="1200">
                <a:latin typeface="Segoe UI"/>
              </a:rPr>
              <a:t>CORE SLIDE.  TIME 15:35–16:20</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"Horizon three is the one to sit on with a strategic partner. We didn't build a construction app. We built a kernel and loaded construction into it — and there's a second pack running on that same core today to prove it."</a:t>
            </a:r>
          </a:p>
          <a:p/>
          <a:p>
            <a:r>
              <a:rPr sz="1200">
                <a:latin typeface="Segoe UI"/>
              </a:rPr>
              <a:t>If the partner has verticals of their own, this is the slide where you stop and ask which one they'd want to see running on it.</a:t>
            </a:r>
          </a:p>
          <a:p/>
          <a:p>
            <a:r>
              <a:rPr sz="1200">
                <a:latin typeface="Segoe UI"/>
              </a:rPr>
              <a:t>CORE SLIDE.  TIME 16:20–17:05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"Seventy-nine per cent, and I want to be careful with that number, because a percentage can be made to say almost anything. Partial counts as a half. Missing counts as a zero."</a:t>
            </a:r>
          </a:p>
          <a:p/>
          <a:p>
            <a:r>
              <a:rPr sz="1200">
                <a:latin typeface="Segoe UI"/>
              </a:rPr>
              <a:t>DrawLogix is lowest and also the strongest thing in the demo — because it has the most ambitious spec. Say that; it shows the measure is honest, not flattering.</a:t>
            </a:r>
          </a:p>
          <a:p/>
          <a:p>
            <a:r>
              <a:rPr sz="1200">
                <a:latin typeface="Segoe UI"/>
              </a:rPr>
              <a:t>CORE SLIDE.  TIME 17:05–17:50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Do not read the grid. Say the last sentence only.</a:t>
            </a:r>
          </a:p>
          <a:p/>
          <a:p>
            <a:r>
              <a:rPr sz="1200">
                <a:latin typeface="Segoe UI"/>
              </a:rPr>
              <a:t>SAY  —  "If any of them matter to your diligence, we'll run the query in front of you rather than send you a spreadsheet."</a:t>
            </a:r>
          </a:p>
          <a:p/>
          <a:p>
            <a:r>
              <a:rPr sz="1200">
                <a:latin typeface="Segoe UI"/>
              </a:rPr>
              <a:t>Safe to compress if running long.  TIME 17:50–18:20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"There are sixteen open P0s. These eight are the ones that matter to you specifically. And notice what they are, and what they aren't — none of them is 'the chain doesn't work'. They're the operations layer."</a:t>
            </a:r>
          </a:p>
          <a:p/>
          <a:p>
            <a:r>
              <a:rPr sz="1200">
                <a:latin typeface="Segoe UI"/>
              </a:rPr>
              <a:t>DO  —  CRITICAL — the public website still shows SSO, encryption at rest and row-level security as live. They are not. Correct it yourself before anyone raises it: 'our marketing site is ahead of the build on three of these and we're fixing the copy.'</a:t>
            </a:r>
          </a:p>
          <a:p/>
          <a:p>
            <a:r>
              <a:rPr sz="1200">
                <a:latin typeface="Segoe UI"/>
              </a:rPr>
              <a:t>DO  —  IF ASKED — the deployed database is MySQL, so tenant isolation is enforced in the repository layer rather than by Postgres row-level security. Deliberate, tested and documented.</a:t>
            </a:r>
          </a:p>
          <a:p/>
          <a:p>
            <a:r>
              <a:rPr sz="1200">
                <a:latin typeface="Segoe UI"/>
              </a:rPr>
              <a:t>NEVER CUT. This slide is why the meeting works.  TIME 18:20–19:10</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SAY  —  "The third one tells you how serious we are. We're not asking you to wait while we build SSO. We're asking you to close that list with us."</a:t>
            </a:r>
          </a:p>
          <a:p/>
          <a:p>
            <a:r>
              <a:rPr sz="1200">
                <a:latin typeface="Segoe UI"/>
              </a:rPr>
              <a:t>THE GOLDEN SET IS THE HIGHEST-LEVERAGE ASK IN THE DECK. A design set paired with its final priced bill is the most valuable thing a construction AI company can be given. Ask directly; do not soften it.</a:t>
            </a:r>
          </a:p>
          <a:p/>
          <a:p>
            <a:r>
              <a:rPr sz="1200">
                <a:latin typeface="Segoe UI"/>
              </a:rPr>
              <a:t>CORE SLIDE.  TIME 19:10–19:40</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200">
                <a:latin typeface="Segoe UI"/>
              </a:rPr>
              <a:t>DO  —  No animation here on purpose. Say the last three lines slowly, then stop talking. Do not offer next steps. Let them ask the first question.</a:t>
            </a:r>
          </a:p>
          <a:p/>
          <a:p>
            <a:r>
              <a:rPr sz="1200">
                <a:latin typeface="Segoe UI"/>
              </a:rPr>
              <a:t>If the silence runs past ten seconds, the only line that works is: 'What would you want to test first?'</a:t>
            </a:r>
          </a:p>
          <a:p/>
          <a:p>
            <a:r>
              <a:rPr sz="1200">
                <a:latin typeface="Segoe UI"/>
              </a:rPr>
              <a:t>CORE SLIDE.  TIME 19:40–20:00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502920"/>
            <a:ext cx="10874959" cy="274320"/>
          </a:xfrm>
          <a:prstGeom prst="rect">
            <a:avLst/>
          </a:prstGeom>
          <a:noFill/>
        </p:spPr>
        <p:txBody>
          <a:bodyPr wrap="square" anchor="t" lIns="0" rIns="0" tIns="0" bIns="0">
            <a:spAutoFit/>
          </a:bodyPr>
          <a:lstStyle/>
          <a:p>
            <a:pPr>
              <a:spcBef>
                <a:spcPts val="0"/>
              </a:spcBef>
              <a:spcAft>
                <a:spcPts val="0"/>
              </a:spcAft>
            </a:pPr>
            <a:r>
              <a:rPr sz="900" b="0" i="0" spc="160">
                <a:solidFill>
                  <a:srgbClr val="7A939E"/>
                </a:solidFill>
                <a:latin typeface="Consolas"/>
              </a:rPr>
              <a:t>ENTERPRISE TECHNICAL BRIEFING  </a:t>
            </a:r>
            <a:r>
              <a:rPr sz="900" b="1" i="0" spc="160">
                <a:solidFill>
                  <a:srgbClr val="3EDCC2"/>
                </a:solidFill>
                <a:latin typeface="Consolas"/>
              </a:rPr>
              <a:t>·  CONFIDENTIAL</a:t>
            </a:r>
          </a:p>
        </p:txBody>
      </p:sp>
      <p:sp>
        <p:nvSpPr>
          <p:cNvPr id="4" name="TextBox 3"/>
          <p:cNvSpPr txBox="1"/>
          <p:nvPr/>
        </p:nvSpPr>
        <p:spPr>
          <a:xfrm>
            <a:off x="658368" y="1874519"/>
            <a:ext cx="10874959" cy="1188720"/>
          </a:xfrm>
          <a:prstGeom prst="rect">
            <a:avLst/>
          </a:prstGeom>
          <a:noFill/>
        </p:spPr>
        <p:txBody>
          <a:bodyPr wrap="square" anchor="t" lIns="0" rIns="0" tIns="0" bIns="0">
            <a:spAutoFit/>
          </a:bodyPr>
          <a:lstStyle/>
          <a:p>
            <a:pPr>
              <a:lnSpc>
                <a:spcPct val="100000"/>
              </a:lnSpc>
              <a:spcBef>
                <a:spcPts val="0"/>
              </a:spcBef>
              <a:spcAft>
                <a:spcPts val="0"/>
              </a:spcAft>
            </a:pPr>
            <a:r>
              <a:rPr sz="6600" b="1" i="0">
                <a:solidFill>
                  <a:srgbClr val="E9F2F4"/>
                </a:solidFill>
                <a:latin typeface="Segoe UI"/>
              </a:rPr>
              <a:t>Preck</a:t>
            </a:r>
            <a:r>
              <a:rPr sz="6600" b="1" i="0">
                <a:solidFill>
                  <a:srgbClr val="3EDCC2"/>
                </a:solidFill>
                <a:latin typeface="Segoe UI"/>
              </a:rPr>
              <a:t>o</a:t>
            </a:r>
            <a:r>
              <a:rPr sz="6600" b="1" i="0">
                <a:solidFill>
                  <a:srgbClr val="E9F2F4"/>
                </a:solidFill>
                <a:latin typeface="Segoe UI"/>
              </a:rPr>
              <a:t>n</a:t>
            </a:r>
          </a:p>
        </p:txBody>
      </p:sp>
      <p:sp>
        <p:nvSpPr>
          <p:cNvPr id="5" name="TextBox 4"/>
          <p:cNvSpPr txBox="1"/>
          <p:nvPr/>
        </p:nvSpPr>
        <p:spPr>
          <a:xfrm>
            <a:off x="658368" y="3246120"/>
            <a:ext cx="7132320" cy="1280160"/>
          </a:xfrm>
          <a:prstGeom prst="rect">
            <a:avLst/>
          </a:prstGeom>
          <a:noFill/>
        </p:spPr>
        <p:txBody>
          <a:bodyPr wrap="square" anchor="t" lIns="0" rIns="0" tIns="0" bIns="0">
            <a:spAutoFit/>
          </a:bodyPr>
          <a:lstStyle/>
          <a:p>
            <a:pPr>
              <a:lnSpc>
                <a:spcPct val="142000"/>
              </a:lnSpc>
              <a:spcBef>
                <a:spcPts val="0"/>
              </a:spcBef>
              <a:spcAft>
                <a:spcPts val="0"/>
              </a:spcAft>
            </a:pPr>
            <a:r>
              <a:rPr sz="1700" b="0" i="0">
                <a:solidFill>
                  <a:srgbClr val="A8C0C8"/>
                </a:solidFill>
                <a:latin typeface="Segoe UI"/>
              </a:rPr>
              <a:t>An AI-native construction operating system where every number can name the document, the drawing layer, or the person it came from.</a:t>
            </a:r>
          </a:p>
        </p:txBody>
      </p:sp>
      <p:sp>
        <p:nvSpPr>
          <p:cNvPr id="6" name="Rectangle 5"/>
          <p:cNvSpPr/>
          <p:nvPr/>
        </p:nvSpPr>
        <p:spPr>
          <a:xfrm>
            <a:off x="658368" y="58978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8368" y="6080760"/>
            <a:ext cx="5029200" cy="274320"/>
          </a:xfrm>
          <a:prstGeom prst="rect">
            <a:avLst/>
          </a:prstGeom>
          <a:noFill/>
        </p:spPr>
        <p:txBody>
          <a:bodyPr wrap="square" anchor="t" lIns="0" rIns="0" tIns="0" bIns="0">
            <a:spAutoFit/>
          </a:bodyPr>
          <a:lstStyle/>
          <a:p>
            <a:pPr>
              <a:spcBef>
                <a:spcPts val="0"/>
              </a:spcBef>
              <a:spcAft>
                <a:spcPts val="0"/>
              </a:spcAft>
            </a:pPr>
            <a:r>
              <a:rPr sz="900" b="0" i="0" spc="120">
                <a:solidFill>
                  <a:srgbClr val="7A939E"/>
                </a:solidFill>
                <a:latin typeface="Consolas"/>
              </a:rPr>
              <a:t>TECHSME  ·  CANADA · US · INDIA</a:t>
            </a:r>
          </a:p>
        </p:txBody>
      </p:sp>
      <p:sp>
        <p:nvSpPr>
          <p:cNvPr id="8" name="TextBox 7"/>
          <p:cNvSpPr txBox="1"/>
          <p:nvPr/>
        </p:nvSpPr>
        <p:spPr>
          <a:xfrm>
            <a:off x="6504127" y="6080760"/>
            <a:ext cx="5029200" cy="274320"/>
          </a:xfrm>
          <a:prstGeom prst="rect">
            <a:avLst/>
          </a:prstGeom>
          <a:noFill/>
        </p:spPr>
        <p:txBody>
          <a:bodyPr wrap="square" anchor="t" lIns="0" rIns="0" tIns="0" bIns="0">
            <a:spAutoFit/>
          </a:bodyPr>
          <a:lstStyle/>
          <a:p>
            <a:pPr algn="r">
              <a:spcBef>
                <a:spcPts val="0"/>
              </a:spcBef>
              <a:spcAft>
                <a:spcPts val="0"/>
              </a:spcAft>
            </a:pPr>
            <a:r>
              <a:rPr sz="900" b="0" i="0" spc="120">
                <a:solidFill>
                  <a:srgbClr val="7A939E"/>
                </a:solidFill>
                <a:latin typeface="Consolas"/>
              </a:rPr>
              <a:t>20 MINUTES  ·  LIVE WORKSPACE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PROBLEM  </a:t>
            </a:r>
            <a:r>
              <a:rPr sz="900" b="1" i="0" spc="140">
                <a:solidFill>
                  <a:srgbClr val="3EDCC2"/>
                </a:solidFill>
                <a:latin typeface="Consolas"/>
              </a:rPr>
              <a:t>01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869948"/>
            <a:ext cx="411480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The most consequential number your business produces is the least governed one.</a:t>
            </a:r>
          </a:p>
        </p:txBody>
      </p:sp>
      <p:sp>
        <p:nvSpPr>
          <p:cNvPr id="6" name="TextBox 5"/>
          <p:cNvSpPr txBox="1"/>
          <p:nvPr/>
        </p:nvSpPr>
        <p:spPr>
          <a:xfrm>
            <a:off x="5074920" y="1869948"/>
            <a:ext cx="6455664" cy="1280160"/>
          </a:xfrm>
          <a:prstGeom prst="rect">
            <a:avLst/>
          </a:prstGeom>
          <a:noFill/>
        </p:spPr>
        <p:txBody>
          <a:bodyPr wrap="square" anchor="t" lIns="0" rIns="0" tIns="0" bIns="0">
            <a:spAutoFit/>
          </a:bodyPr>
          <a:lstStyle/>
          <a:p>
            <a:pPr>
              <a:lnSpc>
                <a:spcPct val="145000"/>
              </a:lnSpc>
              <a:spcBef>
                <a:spcPts val="0"/>
              </a:spcBef>
              <a:spcAft>
                <a:spcPts val="800"/>
              </a:spcAft>
            </a:pPr>
            <a:r>
              <a:rPr sz="1350" b="0" i="0">
                <a:solidFill>
                  <a:srgbClr val="A8C0C8"/>
                </a:solidFill>
                <a:latin typeface="Segoe UI"/>
              </a:rPr>
              <a:t>A tender price commits the company for years. It is produced in </a:t>
            </a:r>
            <a:r>
              <a:rPr sz="1350" b="1" i="0">
                <a:solidFill>
                  <a:srgbClr val="E9F2F4"/>
                </a:solidFill>
                <a:latin typeface="Segoe UI"/>
              </a:rPr>
              <a:t>two to six weeks</a:t>
            </a:r>
            <a:r>
              <a:rPr sz="1350" b="0" i="0">
                <a:solidFill>
                  <a:srgbClr val="A8C0C8"/>
                </a:solidFill>
                <a:latin typeface="Segoe UI"/>
              </a:rPr>
              <a:t>, by one senior estimator, in spreadsheets, from marked-up PDFs — and when it is questioned in a post-tender meeting, the answer comes from memory.</a:t>
            </a:r>
          </a:p>
        </p:txBody>
      </p:sp>
      <p:sp>
        <p:nvSpPr>
          <p:cNvPr id="7" name="Rounded Rectangle 6"/>
          <p:cNvSpPr/>
          <p:nvPr/>
        </p:nvSpPr>
        <p:spPr>
          <a:xfrm>
            <a:off x="5074920" y="3515868"/>
            <a:ext cx="2066543" cy="12344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230368" y="3653027"/>
            <a:ext cx="1755647" cy="96012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CONCENTRATION</a:t>
            </a:r>
          </a:p>
          <a:p>
            <a:pPr>
              <a:lnSpc>
                <a:spcPct val="140000"/>
              </a:lnSpc>
              <a:spcBef>
                <a:spcPts val="0"/>
              </a:spcBef>
              <a:spcAft>
                <a:spcPts val="0"/>
              </a:spcAft>
            </a:pPr>
            <a:r>
              <a:rPr sz="1050" b="0" i="0">
                <a:solidFill>
                  <a:srgbClr val="A8C0C8"/>
                </a:solidFill>
                <a:latin typeface="Segoe UI"/>
              </a:rPr>
              <a:t>The method lives in one person's head. It leaves when they do.</a:t>
            </a:r>
          </a:p>
        </p:txBody>
      </p:sp>
      <p:sp>
        <p:nvSpPr>
          <p:cNvPr id="9" name="Rounded Rectangle 8"/>
          <p:cNvSpPr/>
          <p:nvPr/>
        </p:nvSpPr>
        <p:spPr>
          <a:xfrm>
            <a:off x="7269479" y="3515868"/>
            <a:ext cx="2066543" cy="12344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424927" y="3653027"/>
            <a:ext cx="1755647" cy="96012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OPACITY</a:t>
            </a:r>
          </a:p>
          <a:p>
            <a:pPr>
              <a:lnSpc>
                <a:spcPct val="140000"/>
              </a:lnSpc>
              <a:spcBef>
                <a:spcPts val="0"/>
              </a:spcBef>
              <a:spcAft>
                <a:spcPts val="0"/>
              </a:spcAft>
            </a:pPr>
            <a:r>
              <a:rPr sz="1050" b="0" i="0">
                <a:solidFill>
                  <a:srgbClr val="A8C0C8"/>
                </a:solidFill>
                <a:latin typeface="Segoe UI"/>
              </a:rPr>
              <a:t>No trail from a number back to the drawing it was measured off.</a:t>
            </a:r>
          </a:p>
        </p:txBody>
      </p:sp>
      <p:sp>
        <p:nvSpPr>
          <p:cNvPr id="11" name="Rounded Rectangle 10"/>
          <p:cNvSpPr/>
          <p:nvPr/>
        </p:nvSpPr>
        <p:spPr>
          <a:xfrm>
            <a:off x="9464040" y="3515868"/>
            <a:ext cx="2066543" cy="12344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619488" y="3653027"/>
            <a:ext cx="1755647" cy="96012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LATENCY</a:t>
            </a:r>
          </a:p>
          <a:p>
            <a:pPr>
              <a:lnSpc>
                <a:spcPct val="140000"/>
              </a:lnSpc>
              <a:spcBef>
                <a:spcPts val="0"/>
              </a:spcBef>
              <a:spcAft>
                <a:spcPts val="0"/>
              </a:spcAft>
            </a:pPr>
            <a:r>
              <a:rPr sz="1050" b="0" i="0">
                <a:solidFill>
                  <a:srgbClr val="A8C0C8"/>
                </a:solidFill>
                <a:latin typeface="Segoe UI"/>
              </a:rPr>
              <a:t>The cycle is longer than the bid window, so scope gets thinner.</a:t>
            </a:r>
          </a:p>
        </p:txBody>
      </p:sp>
      <p:sp>
        <p:nvSpPr>
          <p:cNvPr id="13" name="TextBox 12"/>
          <p:cNvSpPr txBox="1"/>
          <p:nvPr/>
        </p:nvSpPr>
        <p:spPr>
          <a:xfrm>
            <a:off x="5074920" y="4951476"/>
            <a:ext cx="6455664" cy="548640"/>
          </a:xfrm>
          <a:prstGeom prst="rect">
            <a:avLst/>
          </a:prstGeom>
          <a:noFill/>
        </p:spPr>
        <p:txBody>
          <a:bodyPr wrap="square" anchor="t" lIns="0" rIns="0" tIns="0" bIns="0">
            <a:spAutoFit/>
          </a:bodyPr>
          <a:lstStyle/>
          <a:p>
            <a:pPr>
              <a:lnSpc>
                <a:spcPct val="145000"/>
              </a:lnSpc>
              <a:spcBef>
                <a:spcPts val="0"/>
              </a:spcBef>
              <a:spcAft>
                <a:spcPts val="800"/>
              </a:spcAft>
            </a:pPr>
            <a:r>
              <a:rPr sz="1100" b="0" i="0">
                <a:solidFill>
                  <a:srgbClr val="7A939E"/>
                </a:solidFill>
                <a:latin typeface="Segoe UI"/>
              </a:rPr>
              <a:t>Every other business-critical number you hold — payroll, ledger, inventory — sits in a system with an audit trail. The estimate does not.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0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00"/>
                                        <p:tgtEl>
                                          <p:spTgt spid="1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WHAT IT COSTS TODAY  </a:t>
            </a:r>
            <a:r>
              <a:rPr sz="900" b="1" i="0" spc="140">
                <a:solidFill>
                  <a:srgbClr val="3EDCC2"/>
                </a:solidFill>
                <a:latin typeface="Consolas"/>
              </a:rPr>
              <a:t>02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96796"/>
            <a:ext cx="7315200" cy="1463040"/>
          </a:xfrm>
          <a:prstGeom prst="rect">
            <a:avLst/>
          </a:prstGeom>
          <a:noFill/>
        </p:spPr>
        <p:txBody>
          <a:bodyPr wrap="square" anchor="t" lIns="0" rIns="0" tIns="0" bIns="0">
            <a:spAutoFit/>
          </a:bodyPr>
          <a:lstStyle/>
          <a:p>
            <a:pPr>
              <a:lnSpc>
                <a:spcPct val="112000"/>
              </a:lnSpc>
              <a:spcBef>
                <a:spcPts val="0"/>
              </a:spcBef>
              <a:spcAft>
                <a:spcPts val="0"/>
              </a:spcAft>
            </a:pPr>
            <a:r>
              <a:rPr sz="2800" b="1" i="0">
                <a:solidFill>
                  <a:srgbClr val="E9F2F4"/>
                </a:solidFill>
                <a:latin typeface="Segoe UI"/>
              </a:rPr>
              <a:t>The numbers behind a manual bid.</a:t>
            </a:r>
          </a:p>
        </p:txBody>
      </p:sp>
      <p:sp>
        <p:nvSpPr>
          <p:cNvPr id="6" name="Rounded Rectangle 5"/>
          <p:cNvSpPr/>
          <p:nvPr/>
        </p:nvSpPr>
        <p:spPr>
          <a:xfrm>
            <a:off x="658368" y="3012948"/>
            <a:ext cx="2636443" cy="137160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04672" y="3159252"/>
            <a:ext cx="2343835" cy="1078992"/>
          </a:xfrm>
          <a:prstGeom prst="rect">
            <a:avLst/>
          </a:prstGeom>
          <a:noFill/>
        </p:spPr>
        <p:txBody>
          <a:bodyPr wrap="square" anchor="t" lIns="0" rIns="0" tIns="0" bIns="0">
            <a:spAutoFit/>
          </a:bodyPr>
          <a:lstStyle/>
          <a:p>
            <a:pPr>
              <a:spcBef>
                <a:spcPts val="0"/>
              </a:spcBef>
              <a:spcAft>
                <a:spcPts val="600"/>
              </a:spcAft>
            </a:pPr>
            <a:r>
              <a:rPr sz="3400" b="0" i="0">
                <a:solidFill>
                  <a:srgbClr val="E0A85A"/>
                </a:solidFill>
                <a:latin typeface="Consolas"/>
              </a:rPr>
              <a:t>2–6</a:t>
            </a:r>
          </a:p>
          <a:p>
            <a:pPr>
              <a:lnSpc>
                <a:spcPct val="132000"/>
              </a:lnSpc>
              <a:spcBef>
                <a:spcPts val="0"/>
              </a:spcBef>
              <a:spcAft>
                <a:spcPts val="0"/>
              </a:spcAft>
            </a:pPr>
            <a:r>
              <a:rPr sz="1000" b="0" i="0">
                <a:solidFill>
                  <a:srgbClr val="7A939E"/>
                </a:solidFill>
                <a:latin typeface="Segoe UI"/>
              </a:rPr>
              <a:t>weeks for one bid, start to finish</a:t>
            </a:r>
          </a:p>
        </p:txBody>
      </p:sp>
      <p:sp>
        <p:nvSpPr>
          <p:cNvPr id="8" name="Rounded Rectangle 7"/>
          <p:cNvSpPr/>
          <p:nvPr/>
        </p:nvSpPr>
        <p:spPr>
          <a:xfrm>
            <a:off x="3404539" y="3012948"/>
            <a:ext cx="2636443" cy="137160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550843" y="3159252"/>
            <a:ext cx="2343835" cy="1078992"/>
          </a:xfrm>
          <a:prstGeom prst="rect">
            <a:avLst/>
          </a:prstGeom>
          <a:noFill/>
        </p:spPr>
        <p:txBody>
          <a:bodyPr wrap="square" anchor="t" lIns="0" rIns="0" tIns="0" bIns="0">
            <a:spAutoFit/>
          </a:bodyPr>
          <a:lstStyle/>
          <a:p>
            <a:pPr>
              <a:spcBef>
                <a:spcPts val="0"/>
              </a:spcBef>
              <a:spcAft>
                <a:spcPts val="600"/>
              </a:spcAft>
            </a:pPr>
            <a:r>
              <a:rPr sz="3400" b="0" i="0">
                <a:solidFill>
                  <a:srgbClr val="E0A85A"/>
                </a:solidFill>
                <a:latin typeface="Consolas"/>
              </a:rPr>
              <a:t>1</a:t>
            </a:r>
          </a:p>
          <a:p>
            <a:pPr>
              <a:lnSpc>
                <a:spcPct val="132000"/>
              </a:lnSpc>
              <a:spcBef>
                <a:spcPts val="0"/>
              </a:spcBef>
              <a:spcAft>
                <a:spcPts val="0"/>
              </a:spcAft>
            </a:pPr>
            <a:r>
              <a:rPr sz="1000" b="0" i="0">
                <a:solidFill>
                  <a:srgbClr val="7A939E"/>
                </a:solidFill>
                <a:latin typeface="Segoe UI"/>
              </a:rPr>
              <a:t>person holds the method behind it</a:t>
            </a:r>
          </a:p>
        </p:txBody>
      </p:sp>
      <p:sp>
        <p:nvSpPr>
          <p:cNvPr id="10" name="Rounded Rectangle 9"/>
          <p:cNvSpPr/>
          <p:nvPr/>
        </p:nvSpPr>
        <p:spPr>
          <a:xfrm>
            <a:off x="6150711" y="3012948"/>
            <a:ext cx="2636443" cy="137160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297015" y="3159252"/>
            <a:ext cx="2343835" cy="1078992"/>
          </a:xfrm>
          <a:prstGeom prst="rect">
            <a:avLst/>
          </a:prstGeom>
          <a:noFill/>
        </p:spPr>
        <p:txBody>
          <a:bodyPr wrap="square" anchor="t" lIns="0" rIns="0" tIns="0" bIns="0">
            <a:spAutoFit/>
          </a:bodyPr>
          <a:lstStyle/>
          <a:p>
            <a:pPr>
              <a:spcBef>
                <a:spcPts val="0"/>
              </a:spcBef>
              <a:spcAft>
                <a:spcPts val="600"/>
              </a:spcAft>
            </a:pPr>
            <a:r>
              <a:rPr sz="3400" b="0" i="0">
                <a:solidFill>
                  <a:srgbClr val="F0837B"/>
                </a:solidFill>
                <a:latin typeface="Consolas"/>
              </a:rPr>
              <a:t>0</a:t>
            </a:r>
          </a:p>
          <a:p>
            <a:pPr>
              <a:lnSpc>
                <a:spcPct val="132000"/>
              </a:lnSpc>
              <a:spcBef>
                <a:spcPts val="0"/>
              </a:spcBef>
              <a:spcAft>
                <a:spcPts val="0"/>
              </a:spcAft>
            </a:pPr>
            <a:r>
              <a:rPr sz="1000" b="0" i="0">
                <a:solidFill>
                  <a:srgbClr val="7A939E"/>
                </a:solidFill>
                <a:latin typeface="Segoe UI"/>
              </a:rPr>
              <a:t>numbers with a trail back to the drawing</a:t>
            </a:r>
          </a:p>
        </p:txBody>
      </p:sp>
      <p:sp>
        <p:nvSpPr>
          <p:cNvPr id="12" name="Rounded Rectangle 11"/>
          <p:cNvSpPr/>
          <p:nvPr/>
        </p:nvSpPr>
        <p:spPr>
          <a:xfrm>
            <a:off x="8896883" y="3012948"/>
            <a:ext cx="2636443" cy="137160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043187" y="3159252"/>
            <a:ext cx="2343835" cy="1078992"/>
          </a:xfrm>
          <a:prstGeom prst="rect">
            <a:avLst/>
          </a:prstGeom>
          <a:noFill/>
        </p:spPr>
        <p:txBody>
          <a:bodyPr wrap="square" anchor="t" lIns="0" rIns="0" tIns="0" bIns="0">
            <a:spAutoFit/>
          </a:bodyPr>
          <a:lstStyle/>
          <a:p>
            <a:pPr>
              <a:spcBef>
                <a:spcPts val="0"/>
              </a:spcBef>
              <a:spcAft>
                <a:spcPts val="600"/>
              </a:spcAft>
            </a:pPr>
            <a:r>
              <a:rPr sz="3400" b="0" i="0">
                <a:solidFill>
                  <a:srgbClr val="E0A85A"/>
                </a:solidFill>
                <a:latin typeface="Consolas"/>
              </a:rPr>
              <a:t>100s</a:t>
            </a:r>
          </a:p>
          <a:p>
            <a:pPr>
              <a:lnSpc>
                <a:spcPct val="132000"/>
              </a:lnSpc>
              <a:spcBef>
                <a:spcPts val="0"/>
              </a:spcBef>
              <a:spcAft>
                <a:spcPts val="0"/>
              </a:spcAft>
            </a:pPr>
            <a:r>
              <a:rPr sz="1000" b="0" i="0">
                <a:solidFill>
                  <a:srgbClr val="7A939E"/>
                </a:solidFill>
                <a:latin typeface="Segoe UI"/>
              </a:rPr>
              <a:t>pages of tender read by hand, every time</a:t>
            </a:r>
          </a:p>
        </p:txBody>
      </p:sp>
      <p:sp>
        <p:nvSpPr>
          <p:cNvPr id="14" name="TextBox 13"/>
          <p:cNvSpPr txBox="1"/>
          <p:nvPr/>
        </p:nvSpPr>
        <p:spPr>
          <a:xfrm>
            <a:off x="658368" y="4658867"/>
            <a:ext cx="9875520" cy="914400"/>
          </a:xfrm>
          <a:prstGeom prst="rect">
            <a:avLst/>
          </a:prstGeom>
          <a:noFill/>
        </p:spPr>
        <p:txBody>
          <a:bodyPr wrap="square" anchor="t" lIns="0" rIns="0" tIns="0" bIns="0">
            <a:spAutoFit/>
          </a:bodyPr>
          <a:lstStyle/>
          <a:p>
            <a:pPr>
              <a:lnSpc>
                <a:spcPct val="145000"/>
              </a:lnSpc>
              <a:spcBef>
                <a:spcPts val="0"/>
              </a:spcBef>
              <a:spcAft>
                <a:spcPts val="800"/>
              </a:spcAft>
            </a:pPr>
            <a:r>
              <a:rPr sz="1400" b="0" i="0">
                <a:solidFill>
                  <a:srgbClr val="A8C0C8"/>
                </a:solidFill>
                <a:latin typeface="Segoe UI"/>
              </a:rPr>
              <a:t>And the bid window does not move. So the estimator either narrows the scope they price properly, or pads the number to cover what they could not check. Both are expensive, and neither is visible until the job is running.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WHERE EVERYONE ELSE STOPS  </a:t>
            </a:r>
            <a:r>
              <a:rPr sz="900" b="1" i="0" spc="140">
                <a:solidFill>
                  <a:srgbClr val="3EDCC2"/>
                </a:solidFill>
                <a:latin typeface="Consolas"/>
              </a:rPr>
              <a:t>03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156716"/>
            <a:ext cx="987552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The preconstruction chain has five stages. Almost every tool owns one.</a:t>
            </a:r>
          </a:p>
        </p:txBody>
      </p:sp>
      <p:sp>
        <p:nvSpPr>
          <p:cNvPr id="6" name="TextBox 5"/>
          <p:cNvSpPr txBox="1"/>
          <p:nvPr/>
        </p:nvSpPr>
        <p:spPr>
          <a:xfrm>
            <a:off x="2532887" y="2436876"/>
            <a:ext cx="1745223" cy="219456"/>
          </a:xfrm>
          <a:prstGeom prst="rect">
            <a:avLst/>
          </a:prstGeom>
          <a:noFill/>
        </p:spPr>
        <p:txBody>
          <a:bodyPr wrap="square" anchor="t" lIns="0" rIns="0" tIns="0" bIns="0">
            <a:spAutoFit/>
          </a:bodyPr>
          <a:lstStyle/>
          <a:p>
            <a:pPr algn="ctr">
              <a:spcBef>
                <a:spcPts val="0"/>
              </a:spcBef>
              <a:spcAft>
                <a:spcPts val="0"/>
              </a:spcAft>
            </a:pPr>
            <a:r>
              <a:rPr sz="850" b="0" i="0" spc="110">
                <a:solidFill>
                  <a:srgbClr val="7A939E"/>
                </a:solidFill>
                <a:latin typeface="Consolas"/>
              </a:rPr>
              <a:t>DOCUMENTS</a:t>
            </a:r>
          </a:p>
        </p:txBody>
      </p:sp>
      <p:sp>
        <p:nvSpPr>
          <p:cNvPr id="7" name="TextBox 6"/>
          <p:cNvSpPr txBox="1"/>
          <p:nvPr/>
        </p:nvSpPr>
        <p:spPr>
          <a:xfrm>
            <a:off x="4332975" y="2436876"/>
            <a:ext cx="1745223" cy="219456"/>
          </a:xfrm>
          <a:prstGeom prst="rect">
            <a:avLst/>
          </a:prstGeom>
          <a:noFill/>
        </p:spPr>
        <p:txBody>
          <a:bodyPr wrap="square" anchor="t" lIns="0" rIns="0" tIns="0" bIns="0">
            <a:spAutoFit/>
          </a:bodyPr>
          <a:lstStyle/>
          <a:p>
            <a:pPr algn="ctr">
              <a:spcBef>
                <a:spcPts val="0"/>
              </a:spcBef>
              <a:spcAft>
                <a:spcPts val="0"/>
              </a:spcAft>
            </a:pPr>
            <a:r>
              <a:rPr sz="850" b="0" i="0" spc="110">
                <a:solidFill>
                  <a:srgbClr val="7A939E"/>
                </a:solidFill>
                <a:latin typeface="Consolas"/>
              </a:rPr>
              <a:t>TAKEOFF</a:t>
            </a:r>
          </a:p>
        </p:txBody>
      </p:sp>
      <p:sp>
        <p:nvSpPr>
          <p:cNvPr id="8" name="TextBox 7"/>
          <p:cNvSpPr txBox="1"/>
          <p:nvPr/>
        </p:nvSpPr>
        <p:spPr>
          <a:xfrm>
            <a:off x="6133063" y="2436876"/>
            <a:ext cx="1745223" cy="219456"/>
          </a:xfrm>
          <a:prstGeom prst="rect">
            <a:avLst/>
          </a:prstGeom>
          <a:noFill/>
        </p:spPr>
        <p:txBody>
          <a:bodyPr wrap="square" anchor="t" lIns="0" rIns="0" tIns="0" bIns="0">
            <a:spAutoFit/>
          </a:bodyPr>
          <a:lstStyle/>
          <a:p>
            <a:pPr algn="ctr">
              <a:spcBef>
                <a:spcPts val="0"/>
              </a:spcBef>
              <a:spcAft>
                <a:spcPts val="0"/>
              </a:spcAft>
            </a:pPr>
            <a:r>
              <a:rPr sz="850" b="0" i="0" spc="110">
                <a:solidFill>
                  <a:srgbClr val="7A939E"/>
                </a:solidFill>
                <a:latin typeface="Consolas"/>
              </a:rPr>
              <a:t>BOQ</a:t>
            </a:r>
          </a:p>
        </p:txBody>
      </p:sp>
      <p:sp>
        <p:nvSpPr>
          <p:cNvPr id="9" name="TextBox 8"/>
          <p:cNvSpPr txBox="1"/>
          <p:nvPr/>
        </p:nvSpPr>
        <p:spPr>
          <a:xfrm>
            <a:off x="7933151" y="2436876"/>
            <a:ext cx="1745223" cy="219456"/>
          </a:xfrm>
          <a:prstGeom prst="rect">
            <a:avLst/>
          </a:prstGeom>
          <a:noFill/>
        </p:spPr>
        <p:txBody>
          <a:bodyPr wrap="square" anchor="t" lIns="0" rIns="0" tIns="0" bIns="0">
            <a:spAutoFit/>
          </a:bodyPr>
          <a:lstStyle/>
          <a:p>
            <a:pPr algn="ctr">
              <a:spcBef>
                <a:spcPts val="0"/>
              </a:spcBef>
              <a:spcAft>
                <a:spcPts val="0"/>
              </a:spcAft>
            </a:pPr>
            <a:r>
              <a:rPr sz="850" b="0" i="0" spc="110">
                <a:solidFill>
                  <a:srgbClr val="7A939E"/>
                </a:solidFill>
                <a:latin typeface="Consolas"/>
              </a:rPr>
              <a:t>ESTIMATE</a:t>
            </a:r>
          </a:p>
        </p:txBody>
      </p:sp>
      <p:sp>
        <p:nvSpPr>
          <p:cNvPr id="10" name="TextBox 9"/>
          <p:cNvSpPr txBox="1"/>
          <p:nvPr/>
        </p:nvSpPr>
        <p:spPr>
          <a:xfrm>
            <a:off x="9733239" y="2436876"/>
            <a:ext cx="1745223" cy="219456"/>
          </a:xfrm>
          <a:prstGeom prst="rect">
            <a:avLst/>
          </a:prstGeom>
          <a:noFill/>
        </p:spPr>
        <p:txBody>
          <a:bodyPr wrap="square" anchor="t" lIns="0" rIns="0" tIns="0" bIns="0">
            <a:spAutoFit/>
          </a:bodyPr>
          <a:lstStyle/>
          <a:p>
            <a:pPr algn="ctr">
              <a:spcBef>
                <a:spcPts val="0"/>
              </a:spcBef>
              <a:spcAft>
                <a:spcPts val="0"/>
              </a:spcAft>
            </a:pPr>
            <a:r>
              <a:rPr sz="850" b="0" i="0" spc="110">
                <a:solidFill>
                  <a:srgbClr val="7A939E"/>
                </a:solidFill>
                <a:latin typeface="Consolas"/>
              </a:rPr>
              <a:t>PROCUREMENT</a:t>
            </a:r>
          </a:p>
        </p:txBody>
      </p:sp>
      <p:sp>
        <p:nvSpPr>
          <p:cNvPr id="11" name="TextBox 10"/>
          <p:cNvSpPr txBox="1"/>
          <p:nvPr/>
        </p:nvSpPr>
        <p:spPr>
          <a:xfrm>
            <a:off x="658368" y="2729484"/>
            <a:ext cx="1783080" cy="402336"/>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Segoe UI"/>
              </a:rPr>
              <a:t>Takeoff tools</a:t>
            </a:r>
          </a:p>
          <a:p>
            <a:pPr algn="r">
              <a:spcBef>
                <a:spcPts val="100"/>
              </a:spcBef>
              <a:spcAft>
                <a:spcPts val="0"/>
              </a:spcAft>
            </a:pPr>
            <a:r>
              <a:rPr sz="800" b="0" i="0">
                <a:solidFill>
                  <a:srgbClr val="556E79"/>
                </a:solidFill>
                <a:latin typeface="Consolas"/>
              </a:rPr>
              <a:t>Togal · Kreo · Beam</a:t>
            </a:r>
          </a:p>
        </p:txBody>
      </p:sp>
      <p:sp>
        <p:nvSpPr>
          <p:cNvPr id="12" name="Rounded Rectangle 11"/>
          <p:cNvSpPr/>
          <p:nvPr/>
        </p:nvSpPr>
        <p:spPr>
          <a:xfrm>
            <a:off x="2532887" y="2711196"/>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Rounded Rectangle 12"/>
          <p:cNvSpPr/>
          <p:nvPr/>
        </p:nvSpPr>
        <p:spPr>
          <a:xfrm>
            <a:off x="4332975" y="2711196"/>
            <a:ext cx="1745223" cy="292608"/>
          </a:xfrm>
          <a:prstGeom prst="roundRect">
            <a:avLst>
              <a:gd name="adj" fmla="val 9000"/>
            </a:avLst>
          </a:prstGeom>
          <a:solidFill>
            <a:srgbClr val="2A4C58"/>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ounded Rectangle 13"/>
          <p:cNvSpPr/>
          <p:nvPr/>
        </p:nvSpPr>
        <p:spPr>
          <a:xfrm>
            <a:off x="6133063" y="2711196"/>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ounded Rectangle 14"/>
          <p:cNvSpPr/>
          <p:nvPr/>
        </p:nvSpPr>
        <p:spPr>
          <a:xfrm>
            <a:off x="7933151" y="2711196"/>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Rounded Rectangle 15"/>
          <p:cNvSpPr/>
          <p:nvPr/>
        </p:nvSpPr>
        <p:spPr>
          <a:xfrm>
            <a:off x="9733239" y="2711196"/>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658368" y="3204972"/>
            <a:ext cx="1783080" cy="402336"/>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Segoe UI"/>
              </a:rPr>
              <a:t>Estimating</a:t>
            </a:r>
          </a:p>
          <a:p>
            <a:pPr algn="r">
              <a:spcBef>
                <a:spcPts val="100"/>
              </a:spcBef>
              <a:spcAft>
                <a:spcPts val="0"/>
              </a:spcAft>
            </a:pPr>
            <a:r>
              <a:rPr sz="800" b="0" i="0">
                <a:solidFill>
                  <a:srgbClr val="556E79"/>
                </a:solidFill>
                <a:latin typeface="Consolas"/>
              </a:rPr>
              <a:t>CostX and peers</a:t>
            </a:r>
          </a:p>
        </p:txBody>
      </p:sp>
      <p:sp>
        <p:nvSpPr>
          <p:cNvPr id="18" name="Rounded Rectangle 17"/>
          <p:cNvSpPr/>
          <p:nvPr/>
        </p:nvSpPr>
        <p:spPr>
          <a:xfrm>
            <a:off x="2532887" y="3186684"/>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4332975" y="3186684"/>
            <a:ext cx="1745223" cy="292608"/>
          </a:xfrm>
          <a:prstGeom prst="roundRect">
            <a:avLst>
              <a:gd name="adj" fmla="val 9000"/>
            </a:avLst>
          </a:prstGeom>
          <a:solidFill>
            <a:srgbClr val="0F2831"/>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ounded Rectangle 19"/>
          <p:cNvSpPr/>
          <p:nvPr/>
        </p:nvSpPr>
        <p:spPr>
          <a:xfrm>
            <a:off x="6133063" y="3186684"/>
            <a:ext cx="1745223" cy="292608"/>
          </a:xfrm>
          <a:prstGeom prst="roundRect">
            <a:avLst>
              <a:gd name="adj" fmla="val 9000"/>
            </a:avLst>
          </a:prstGeom>
          <a:solidFill>
            <a:srgbClr val="0F2831"/>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Rounded Rectangle 20"/>
          <p:cNvSpPr/>
          <p:nvPr/>
        </p:nvSpPr>
        <p:spPr>
          <a:xfrm>
            <a:off x="7933151" y="3186684"/>
            <a:ext cx="1745223" cy="292608"/>
          </a:xfrm>
          <a:prstGeom prst="roundRect">
            <a:avLst>
              <a:gd name="adj" fmla="val 9000"/>
            </a:avLst>
          </a:prstGeom>
          <a:solidFill>
            <a:srgbClr val="2A4C58"/>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Rounded Rectangle 21"/>
          <p:cNvSpPr/>
          <p:nvPr/>
        </p:nvSpPr>
        <p:spPr>
          <a:xfrm>
            <a:off x="9733239" y="3186684"/>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58368" y="3680460"/>
            <a:ext cx="1783080" cy="402336"/>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Segoe UI"/>
              </a:rPr>
              <a:t>PM platforms</a:t>
            </a:r>
          </a:p>
          <a:p>
            <a:pPr algn="r">
              <a:spcBef>
                <a:spcPts val="100"/>
              </a:spcBef>
              <a:spcAft>
                <a:spcPts val="0"/>
              </a:spcAft>
            </a:pPr>
            <a:r>
              <a:rPr sz="800" b="0" i="0">
                <a:solidFill>
                  <a:srgbClr val="556E79"/>
                </a:solidFill>
                <a:latin typeface="Consolas"/>
              </a:rPr>
              <a:t>Procore · RDash</a:t>
            </a:r>
          </a:p>
        </p:txBody>
      </p:sp>
      <p:sp>
        <p:nvSpPr>
          <p:cNvPr id="24" name="Rounded Rectangle 23"/>
          <p:cNvSpPr/>
          <p:nvPr/>
        </p:nvSpPr>
        <p:spPr>
          <a:xfrm>
            <a:off x="2532887" y="3662172"/>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ounded Rectangle 24"/>
          <p:cNvSpPr/>
          <p:nvPr/>
        </p:nvSpPr>
        <p:spPr>
          <a:xfrm>
            <a:off x="4332975" y="3662172"/>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Rounded Rectangle 25"/>
          <p:cNvSpPr/>
          <p:nvPr/>
        </p:nvSpPr>
        <p:spPr>
          <a:xfrm>
            <a:off x="6133063" y="3662172"/>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ounded Rectangle 26"/>
          <p:cNvSpPr/>
          <p:nvPr/>
        </p:nvSpPr>
        <p:spPr>
          <a:xfrm>
            <a:off x="7933151" y="3662172"/>
            <a:ext cx="1745223" cy="292608"/>
          </a:xfrm>
          <a:prstGeom prst="roundRect">
            <a:avLst>
              <a:gd name="adj" fmla="val 9000"/>
            </a:avLst>
          </a:prstGeom>
          <a:solidFill>
            <a:srgbClr val="071319"/>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Rounded Rectangle 27"/>
          <p:cNvSpPr/>
          <p:nvPr/>
        </p:nvSpPr>
        <p:spPr>
          <a:xfrm>
            <a:off x="9733239" y="3662172"/>
            <a:ext cx="1745223" cy="292608"/>
          </a:xfrm>
          <a:prstGeom prst="roundRect">
            <a:avLst>
              <a:gd name="adj" fmla="val 9000"/>
            </a:avLst>
          </a:prstGeom>
          <a:solidFill>
            <a:srgbClr val="0F2831"/>
          </a:solidFill>
          <a:ln w="9525">
            <a:solidFill>
              <a:srgbClr val="2A4C5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658368" y="4155948"/>
            <a:ext cx="1783080" cy="402336"/>
          </a:xfrm>
          <a:prstGeom prst="rect">
            <a:avLst/>
          </a:prstGeom>
          <a:noFill/>
        </p:spPr>
        <p:txBody>
          <a:bodyPr wrap="square" anchor="t" lIns="0" rIns="0" tIns="0" bIns="0">
            <a:spAutoFit/>
          </a:bodyPr>
          <a:lstStyle/>
          <a:p>
            <a:pPr algn="r">
              <a:spcBef>
                <a:spcPts val="0"/>
              </a:spcBef>
              <a:spcAft>
                <a:spcPts val="0"/>
              </a:spcAft>
            </a:pPr>
            <a:r>
              <a:rPr sz="1200" b="1" i="0">
                <a:solidFill>
                  <a:srgbClr val="E9F2F4"/>
                </a:solidFill>
                <a:latin typeface="Segoe UI"/>
              </a:rPr>
              <a:t>Preckon</a:t>
            </a:r>
          </a:p>
        </p:txBody>
      </p:sp>
      <p:sp>
        <p:nvSpPr>
          <p:cNvPr id="30" name="Rounded Rectangle 29"/>
          <p:cNvSpPr/>
          <p:nvPr/>
        </p:nvSpPr>
        <p:spPr>
          <a:xfrm>
            <a:off x="2532887"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ounded Rectangle 30"/>
          <p:cNvSpPr/>
          <p:nvPr/>
        </p:nvSpPr>
        <p:spPr>
          <a:xfrm>
            <a:off x="4332975"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Rounded Rectangle 31"/>
          <p:cNvSpPr/>
          <p:nvPr/>
        </p:nvSpPr>
        <p:spPr>
          <a:xfrm>
            <a:off x="6133063"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Rounded Rectangle 32"/>
          <p:cNvSpPr/>
          <p:nvPr/>
        </p:nvSpPr>
        <p:spPr>
          <a:xfrm>
            <a:off x="7933151"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ounded Rectangle 33"/>
          <p:cNvSpPr/>
          <p:nvPr/>
        </p:nvSpPr>
        <p:spPr>
          <a:xfrm>
            <a:off x="9733239" y="4137660"/>
            <a:ext cx="1745223" cy="292608"/>
          </a:xfrm>
          <a:prstGeom prst="roundRect">
            <a:avLst>
              <a:gd name="adj" fmla="val 9000"/>
            </a:avLst>
          </a:prstGeom>
          <a:solidFill>
            <a:srgbClr val="3EDCC2"/>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658368" y="4978908"/>
            <a:ext cx="22860" cy="566928"/>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4978908"/>
            <a:ext cx="8631936" cy="914400"/>
          </a:xfrm>
          <a:prstGeom prst="rect">
            <a:avLst/>
          </a:prstGeom>
          <a:noFill/>
        </p:spPr>
        <p:txBody>
          <a:bodyPr wrap="square" anchor="t" lIns="0" rIns="0" tIns="0" bIns="0">
            <a:spAutoFit/>
          </a:bodyPr>
          <a:lstStyle/>
          <a:p>
            <a:pPr>
              <a:lnSpc>
                <a:spcPct val="140000"/>
              </a:lnSpc>
              <a:spcBef>
                <a:spcPts val="0"/>
              </a:spcBef>
              <a:spcAft>
                <a:spcPts val="0"/>
              </a:spcAft>
            </a:pPr>
            <a:r>
              <a:rPr sz="1600" b="0" i="1">
                <a:solidFill>
                  <a:srgbClr val="E9F2F4"/>
                </a:solidFill>
                <a:latin typeface="Georgia"/>
              </a:rPr>
              <a:t>Everyone sells a stage. The cost, the delay and the lost provenance are all in the joins between them.</a:t>
            </a:r>
          </a:p>
        </p:txBody>
      </p:sp>
      <p:sp>
        <p:nvSpPr>
          <p:cNvPr id="37" name="TextBox 36"/>
          <p:cNvSpPr txBox="1"/>
          <p:nvPr/>
        </p:nvSpPr>
        <p:spPr>
          <a:xfrm>
            <a:off x="658368" y="5939028"/>
            <a:ext cx="10874959" cy="274320"/>
          </a:xfrm>
          <a:prstGeom prst="rect">
            <a:avLst/>
          </a:prstGeom>
          <a:noFill/>
        </p:spPr>
        <p:txBody>
          <a:bodyPr wrap="square" anchor="t" lIns="0" rIns="0" tIns="0" bIns="0">
            <a:spAutoFit/>
          </a:bodyPr>
          <a:lstStyle/>
          <a:p>
            <a:pPr>
              <a:spcBef>
                <a:spcPts val="0"/>
              </a:spcBef>
              <a:spcAft>
                <a:spcPts val="0"/>
              </a:spcAft>
            </a:pPr>
            <a:r>
              <a:rPr sz="900" b="0" i="0" spc="80">
                <a:solidFill>
                  <a:srgbClr val="556E79"/>
                </a:solidFill>
                <a:latin typeface="Consolas"/>
              </a:rPr>
              <a:t>SOLID = OWNS THE STAGE    ·    MID-TONE = DOES IT, BUT MANUALLY    ·    OUTLINE = DOESN'T REACH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4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4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4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400"/>
                                        <p:tgtEl>
                                          <p:spTgt spid="14"/>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400"/>
                                        <p:tgtEl>
                                          <p:spTgt spid="15"/>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400"/>
                                        <p:tgtEl>
                                          <p:spTgt spid="16"/>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4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400"/>
                                        <p:tgtEl>
                                          <p:spTgt spid="18"/>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fade">
                                      <p:cBhvr>
                                        <p:cTn id="33" dur="400"/>
                                        <p:tgtEl>
                                          <p:spTgt spid="19"/>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fade">
                                      <p:cBhvr>
                                        <p:cTn id="36" dur="400"/>
                                        <p:tgtEl>
                                          <p:spTgt spid="20"/>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fade">
                                      <p:cBhvr>
                                        <p:cTn id="39" dur="400"/>
                                        <p:tgtEl>
                                          <p:spTgt spid="21"/>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fade">
                                      <p:cBhvr>
                                        <p:cTn id="42" dur="400"/>
                                        <p:tgtEl>
                                          <p:spTgt spid="22"/>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fade">
                                      <p:cBhvr>
                                        <p:cTn id="47" dur="400"/>
                                        <p:tgtEl>
                                          <p:spTgt spid="2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4"/>
                                        </p:tgtEl>
                                        <p:attrNameLst>
                                          <p:attrName>style.visibility</p:attrName>
                                        </p:attrNameLst>
                                      </p:cBhvr>
                                      <p:to>
                                        <p:strVal val="visible"/>
                                      </p:to>
                                    </p:set>
                                    <p:animEffect transition="in" filter="fade">
                                      <p:cBhvr>
                                        <p:cTn id="50" dur="400"/>
                                        <p:tgtEl>
                                          <p:spTgt spid="2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5"/>
                                        </p:tgtEl>
                                        <p:attrNameLst>
                                          <p:attrName>style.visibility</p:attrName>
                                        </p:attrNameLst>
                                      </p:cBhvr>
                                      <p:to>
                                        <p:strVal val="visible"/>
                                      </p:to>
                                    </p:set>
                                    <p:animEffect transition="in" filter="fade">
                                      <p:cBhvr>
                                        <p:cTn id="53" dur="400"/>
                                        <p:tgtEl>
                                          <p:spTgt spid="2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6"/>
                                        </p:tgtEl>
                                        <p:attrNameLst>
                                          <p:attrName>style.visibility</p:attrName>
                                        </p:attrNameLst>
                                      </p:cBhvr>
                                      <p:to>
                                        <p:strVal val="visible"/>
                                      </p:to>
                                    </p:set>
                                    <p:animEffect transition="in" filter="fade">
                                      <p:cBhvr>
                                        <p:cTn id="56" dur="400"/>
                                        <p:tgtEl>
                                          <p:spTgt spid="2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7"/>
                                        </p:tgtEl>
                                        <p:attrNameLst>
                                          <p:attrName>style.visibility</p:attrName>
                                        </p:attrNameLst>
                                      </p:cBhvr>
                                      <p:to>
                                        <p:strVal val="visible"/>
                                      </p:to>
                                    </p:set>
                                    <p:animEffect transition="in" filter="fade">
                                      <p:cBhvr>
                                        <p:cTn id="59" dur="400"/>
                                        <p:tgtEl>
                                          <p:spTgt spid="2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8"/>
                                        </p:tgtEl>
                                        <p:attrNameLst>
                                          <p:attrName>style.visibility</p:attrName>
                                        </p:attrNameLst>
                                      </p:cBhvr>
                                      <p:to>
                                        <p:strVal val="visible"/>
                                      </p:to>
                                    </p:set>
                                    <p:animEffect transition="in" filter="fade">
                                      <p:cBhvr>
                                        <p:cTn id="62" dur="400"/>
                                        <p:tgtEl>
                                          <p:spTgt spid="28"/>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childTnLst>
                          </p:cTn>
                        </p:par>
                      </p:childTnLst>
                    </p:cTn>
                  </p:par>
                  <p:par>
                    <p:cTn id="83" fill="hold">
                      <p:stCondLst>
                        <p:cond delay="indefinite"/>
                      </p:stCondLst>
                      <p:childTnLst>
                        <p:par>
                          <p:cTn id="84" fill="hold">
                            <p:stCondLst>
                              <p:cond delay="0"/>
                            </p:stCondLst>
                            <p:childTnLst>
                              <p:par>
                                <p:cTn id="85" presetID="10" presetClass="entr" presetSubtype="0" fill="hold" grpId="0" nodeType="clickEffect">
                                  <p:stCondLst>
                                    <p:cond delay="0"/>
                                  </p:stCondLst>
                                  <p:childTnLst>
                                    <p:set>
                                      <p:cBhvr>
                                        <p:cTn id="86" dur="1" fill="hold">
                                          <p:stCondLst>
                                            <p:cond delay="0"/>
                                          </p:stCondLst>
                                        </p:cTn>
                                        <p:tgtEl>
                                          <p:spTgt spid="35"/>
                                        </p:tgtEl>
                                        <p:attrNameLst>
                                          <p:attrName>style.visibility</p:attrName>
                                        </p:attrNameLst>
                                      </p:cBhvr>
                                      <p:to>
                                        <p:strVal val="visible"/>
                                      </p:to>
                                    </p:set>
                                    <p:animEffect transition="in" filter="fade">
                                      <p:cBhvr>
                                        <p:cTn id="87" dur="400"/>
                                        <p:tgtEl>
                                          <p:spTgt spid="35"/>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6"/>
                                        </p:tgtEl>
                                        <p:attrNameLst>
                                          <p:attrName>style.visibility</p:attrName>
                                        </p:attrNameLst>
                                      </p:cBhvr>
                                      <p:to>
                                        <p:strVal val="visible"/>
                                      </p:to>
                                    </p:set>
                                    <p:animEffect transition="in" filter="fade">
                                      <p:cBhvr>
                                        <p:cTn id="90"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HOW WE SOLVE IT  </a:t>
            </a:r>
            <a:r>
              <a:rPr sz="900" b="1" i="0" spc="140">
                <a:solidFill>
                  <a:srgbClr val="3EDCC2"/>
                </a:solidFill>
                <a:latin typeface="Consolas"/>
              </a:rPr>
              <a:t>04  </a:t>
            </a:r>
            <a:r>
              <a:rPr sz="900" b="0" i="0" spc="140">
                <a:solidFill>
                  <a:srgbClr val="7A939E"/>
                </a:solidFill>
                <a:latin typeface="Consolas"/>
              </a:rPr>
              <a:t>PAIN BY PAIN</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12557"/>
            <a:ext cx="9144000" cy="1463040"/>
          </a:xfrm>
          <a:prstGeom prst="rect">
            <a:avLst/>
          </a:prstGeom>
          <a:noFill/>
        </p:spPr>
        <p:txBody>
          <a:bodyPr wrap="square" anchor="t" lIns="0" rIns="0" tIns="0" bIns="0">
            <a:spAutoFit/>
          </a:bodyPr>
          <a:lstStyle/>
          <a:p>
            <a:pPr>
              <a:lnSpc>
                <a:spcPct val="112000"/>
              </a:lnSpc>
              <a:spcBef>
                <a:spcPts val="0"/>
              </a:spcBef>
              <a:spcAft>
                <a:spcPts val="0"/>
              </a:spcAft>
            </a:pPr>
            <a:r>
              <a:rPr sz="2500" b="1" i="0">
                <a:solidFill>
                  <a:srgbClr val="E9F2F4"/>
                </a:solidFill>
                <a:latin typeface="Segoe UI"/>
              </a:rPr>
              <a:t>Six things that hurt, and what the platform does about each.</a:t>
            </a:r>
          </a:p>
        </p:txBody>
      </p:sp>
      <p:sp>
        <p:nvSpPr>
          <p:cNvPr id="6" name="TextBox 5"/>
          <p:cNvSpPr txBox="1"/>
          <p:nvPr/>
        </p:nvSpPr>
        <p:spPr>
          <a:xfrm>
            <a:off x="658368" y="2235517"/>
            <a:ext cx="3063240" cy="219456"/>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THE PAIN TODAY</a:t>
            </a:r>
          </a:p>
        </p:txBody>
      </p:sp>
      <p:sp>
        <p:nvSpPr>
          <p:cNvPr id="7" name="TextBox 6"/>
          <p:cNvSpPr txBox="1"/>
          <p:nvPr/>
        </p:nvSpPr>
        <p:spPr>
          <a:xfrm>
            <a:off x="3858768" y="2235517"/>
            <a:ext cx="2514600" cy="219456"/>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WHAT IT COSTS YOU</a:t>
            </a:r>
          </a:p>
        </p:txBody>
      </p:sp>
      <p:sp>
        <p:nvSpPr>
          <p:cNvPr id="8" name="TextBox 7"/>
          <p:cNvSpPr txBox="1"/>
          <p:nvPr/>
        </p:nvSpPr>
        <p:spPr>
          <a:xfrm>
            <a:off x="6556248" y="2235517"/>
            <a:ext cx="4974336" cy="219456"/>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WHAT PRECKON DOES</a:t>
            </a:r>
          </a:p>
        </p:txBody>
      </p:sp>
      <p:sp>
        <p:nvSpPr>
          <p:cNvPr id="9" name="Rectangle 8"/>
          <p:cNvSpPr/>
          <p:nvPr/>
        </p:nvSpPr>
        <p:spPr>
          <a:xfrm>
            <a:off x="658368" y="2473261"/>
            <a:ext cx="10874959" cy="9525"/>
          </a:xfrm>
          <a:prstGeom prst="rect">
            <a:avLst/>
          </a:prstGeom>
          <a:solidFill>
            <a:srgbClr val="2A4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2674429"/>
            <a:ext cx="3017520" cy="411480"/>
          </a:xfrm>
          <a:prstGeom prst="rect">
            <a:avLst/>
          </a:prstGeom>
          <a:noFill/>
        </p:spPr>
        <p:txBody>
          <a:bodyPr wrap="square" anchor="t" lIns="0" rIns="0" tIns="0" bIns="0">
            <a:spAutoFit/>
          </a:bodyPr>
          <a:lstStyle/>
          <a:p>
            <a:pPr>
              <a:lnSpc>
                <a:spcPct val="130000"/>
              </a:lnSpc>
              <a:spcBef>
                <a:spcPts val="0"/>
              </a:spcBef>
              <a:spcAft>
                <a:spcPts val="0"/>
              </a:spcAft>
            </a:pPr>
            <a:r>
              <a:rPr sz="1200" b="0" i="0">
                <a:solidFill>
                  <a:srgbClr val="E9F2F4"/>
                </a:solidFill>
                <a:latin typeface="Segoe UI"/>
              </a:rPr>
              <a:t>Reading the tender by hand</a:t>
            </a:r>
          </a:p>
        </p:txBody>
      </p:sp>
      <p:sp>
        <p:nvSpPr>
          <p:cNvPr id="11" name="TextBox 10"/>
          <p:cNvSpPr txBox="1"/>
          <p:nvPr/>
        </p:nvSpPr>
        <p:spPr>
          <a:xfrm>
            <a:off x="3858768" y="2674429"/>
            <a:ext cx="2468880" cy="411480"/>
          </a:xfrm>
          <a:prstGeom prst="rect">
            <a:avLst/>
          </a:prstGeom>
          <a:noFill/>
        </p:spPr>
        <p:txBody>
          <a:bodyPr wrap="square" anchor="t" lIns="0" rIns="0" tIns="0" bIns="0">
            <a:spAutoFit/>
          </a:bodyPr>
          <a:lstStyle/>
          <a:p>
            <a:pPr>
              <a:lnSpc>
                <a:spcPct val="130000"/>
              </a:lnSpc>
              <a:spcBef>
                <a:spcPts val="0"/>
              </a:spcBef>
              <a:spcAft>
                <a:spcPts val="0"/>
              </a:spcAft>
            </a:pPr>
            <a:r>
              <a:rPr sz="1050" b="0" i="0">
                <a:solidFill>
                  <a:srgbClr val="E0A85A"/>
                </a:solidFill>
                <a:latin typeface="Segoe UI"/>
              </a:rPr>
              <a:t>Days before real work starts</a:t>
            </a:r>
          </a:p>
        </p:txBody>
      </p:sp>
      <p:sp>
        <p:nvSpPr>
          <p:cNvPr id="12" name="Right Arrow 11"/>
          <p:cNvSpPr/>
          <p:nvPr/>
        </p:nvSpPr>
        <p:spPr>
          <a:xfrm>
            <a:off x="6236207" y="2765869"/>
            <a:ext cx="201168" cy="146304"/>
          </a:xfrm>
          <a:prstGeom prst="rightArrow">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6248" y="2674429"/>
            <a:ext cx="4937760" cy="411480"/>
          </a:xfrm>
          <a:prstGeom prst="rect">
            <a:avLst/>
          </a:prstGeom>
          <a:noFill/>
        </p:spPr>
        <p:txBody>
          <a:bodyPr wrap="square" anchor="t" lIns="0" rIns="0" tIns="0" bIns="0">
            <a:spAutoFit/>
          </a:bodyPr>
          <a:lstStyle/>
          <a:p>
            <a:pPr>
              <a:lnSpc>
                <a:spcPct val="130000"/>
              </a:lnSpc>
              <a:spcBef>
                <a:spcPts val="0"/>
              </a:spcBef>
              <a:spcAft>
                <a:spcPts val="0"/>
              </a:spcAft>
            </a:pPr>
            <a:r>
              <a:rPr sz="1150" b="0" i="0">
                <a:solidFill>
                  <a:srgbClr val="A8C0C8"/>
                </a:solidFill>
                <a:latin typeface="Segoe UI"/>
              </a:rPr>
              <a:t>Extracts requirements and clauses, and structures the bid</a:t>
            </a:r>
          </a:p>
        </p:txBody>
      </p:sp>
      <p:sp>
        <p:nvSpPr>
          <p:cNvPr id="14" name="Rectangle 13"/>
          <p:cNvSpPr/>
          <p:nvPr/>
        </p:nvSpPr>
        <p:spPr>
          <a:xfrm>
            <a:off x="658368" y="3113341"/>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 y="3241357"/>
            <a:ext cx="3017520" cy="411480"/>
          </a:xfrm>
          <a:prstGeom prst="rect">
            <a:avLst/>
          </a:prstGeom>
          <a:noFill/>
        </p:spPr>
        <p:txBody>
          <a:bodyPr wrap="square" anchor="t" lIns="0" rIns="0" tIns="0" bIns="0">
            <a:spAutoFit/>
          </a:bodyPr>
          <a:lstStyle/>
          <a:p>
            <a:pPr>
              <a:lnSpc>
                <a:spcPct val="130000"/>
              </a:lnSpc>
              <a:spcBef>
                <a:spcPts val="0"/>
              </a:spcBef>
              <a:spcAft>
                <a:spcPts val="0"/>
              </a:spcAft>
            </a:pPr>
            <a:r>
              <a:rPr sz="1200" b="0" i="0">
                <a:solidFill>
                  <a:srgbClr val="E9F2F4"/>
                </a:solidFill>
                <a:latin typeface="Segoe UI"/>
              </a:rPr>
              <a:t>Measuring off drawings manually</a:t>
            </a:r>
          </a:p>
        </p:txBody>
      </p:sp>
      <p:sp>
        <p:nvSpPr>
          <p:cNvPr id="16" name="TextBox 15"/>
          <p:cNvSpPr txBox="1"/>
          <p:nvPr/>
        </p:nvSpPr>
        <p:spPr>
          <a:xfrm>
            <a:off x="3858768" y="3241357"/>
            <a:ext cx="2468880" cy="411480"/>
          </a:xfrm>
          <a:prstGeom prst="rect">
            <a:avLst/>
          </a:prstGeom>
          <a:noFill/>
        </p:spPr>
        <p:txBody>
          <a:bodyPr wrap="square" anchor="t" lIns="0" rIns="0" tIns="0" bIns="0">
            <a:spAutoFit/>
          </a:bodyPr>
          <a:lstStyle/>
          <a:p>
            <a:pPr>
              <a:lnSpc>
                <a:spcPct val="130000"/>
              </a:lnSpc>
              <a:spcBef>
                <a:spcPts val="0"/>
              </a:spcBef>
              <a:spcAft>
                <a:spcPts val="0"/>
              </a:spcAft>
            </a:pPr>
            <a:r>
              <a:rPr sz="1050" b="0" i="0">
                <a:solidFill>
                  <a:srgbClr val="E0A85A"/>
                </a:solidFill>
                <a:latin typeface="Segoe UI"/>
              </a:rPr>
              <a:t>The single longest task in the cycle</a:t>
            </a:r>
          </a:p>
        </p:txBody>
      </p:sp>
      <p:sp>
        <p:nvSpPr>
          <p:cNvPr id="17" name="Right Arrow 16"/>
          <p:cNvSpPr/>
          <p:nvPr/>
        </p:nvSpPr>
        <p:spPr>
          <a:xfrm>
            <a:off x="6236207" y="3332797"/>
            <a:ext cx="201168" cy="146304"/>
          </a:xfrm>
          <a:prstGeom prst="rightArrow">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56248" y="3241357"/>
            <a:ext cx="4937760" cy="411480"/>
          </a:xfrm>
          <a:prstGeom prst="rect">
            <a:avLst/>
          </a:prstGeom>
          <a:noFill/>
        </p:spPr>
        <p:txBody>
          <a:bodyPr wrap="square" anchor="t" lIns="0" rIns="0" tIns="0" bIns="0">
            <a:spAutoFit/>
          </a:bodyPr>
          <a:lstStyle/>
          <a:p>
            <a:pPr>
              <a:lnSpc>
                <a:spcPct val="130000"/>
              </a:lnSpc>
              <a:spcBef>
                <a:spcPts val="0"/>
              </a:spcBef>
              <a:spcAft>
                <a:spcPts val="0"/>
              </a:spcAft>
            </a:pPr>
            <a:r>
              <a:rPr sz="1150" b="0" i="0">
                <a:solidFill>
                  <a:srgbClr val="A8C0C8"/>
                </a:solidFill>
                <a:latin typeface="Segoe UI"/>
              </a:rPr>
              <a:t>Reads PDF and CAD, measures elements, records a confidence</a:t>
            </a:r>
          </a:p>
        </p:txBody>
      </p:sp>
      <p:sp>
        <p:nvSpPr>
          <p:cNvPr id="19" name="Rectangle 18"/>
          <p:cNvSpPr/>
          <p:nvPr/>
        </p:nvSpPr>
        <p:spPr>
          <a:xfrm>
            <a:off x="658368" y="3680269"/>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8368" y="3808285"/>
            <a:ext cx="3017520" cy="411480"/>
          </a:xfrm>
          <a:prstGeom prst="rect">
            <a:avLst/>
          </a:prstGeom>
          <a:noFill/>
        </p:spPr>
        <p:txBody>
          <a:bodyPr wrap="square" anchor="t" lIns="0" rIns="0" tIns="0" bIns="0">
            <a:spAutoFit/>
          </a:bodyPr>
          <a:lstStyle/>
          <a:p>
            <a:pPr>
              <a:lnSpc>
                <a:spcPct val="130000"/>
              </a:lnSpc>
              <a:spcBef>
                <a:spcPts val="0"/>
              </a:spcBef>
              <a:spcAft>
                <a:spcPts val="0"/>
              </a:spcAft>
            </a:pPr>
            <a:r>
              <a:rPr sz="1200" b="0" i="0">
                <a:solidFill>
                  <a:srgbClr val="E9F2F4"/>
                </a:solidFill>
                <a:latin typeface="Segoe UI"/>
              </a:rPr>
              <a:t>Rebuilding the bill in spreadsheets</a:t>
            </a:r>
          </a:p>
        </p:txBody>
      </p:sp>
      <p:sp>
        <p:nvSpPr>
          <p:cNvPr id="21" name="TextBox 20"/>
          <p:cNvSpPr txBox="1"/>
          <p:nvPr/>
        </p:nvSpPr>
        <p:spPr>
          <a:xfrm>
            <a:off x="3858768" y="3808285"/>
            <a:ext cx="2468880" cy="411480"/>
          </a:xfrm>
          <a:prstGeom prst="rect">
            <a:avLst/>
          </a:prstGeom>
          <a:noFill/>
        </p:spPr>
        <p:txBody>
          <a:bodyPr wrap="square" anchor="t" lIns="0" rIns="0" tIns="0" bIns="0">
            <a:spAutoFit/>
          </a:bodyPr>
          <a:lstStyle/>
          <a:p>
            <a:pPr>
              <a:lnSpc>
                <a:spcPct val="130000"/>
              </a:lnSpc>
              <a:spcBef>
                <a:spcPts val="0"/>
              </a:spcBef>
              <a:spcAft>
                <a:spcPts val="0"/>
              </a:spcAft>
            </a:pPr>
            <a:r>
              <a:rPr sz="1050" b="0" i="0">
                <a:solidFill>
                  <a:srgbClr val="E0A85A"/>
                </a:solidFill>
                <a:latin typeface="Segoe UI"/>
              </a:rPr>
              <a:t>The same rework on every bid</a:t>
            </a:r>
          </a:p>
        </p:txBody>
      </p:sp>
      <p:sp>
        <p:nvSpPr>
          <p:cNvPr id="22" name="Right Arrow 21"/>
          <p:cNvSpPr/>
          <p:nvPr/>
        </p:nvSpPr>
        <p:spPr>
          <a:xfrm>
            <a:off x="6236207" y="3899725"/>
            <a:ext cx="201168" cy="146304"/>
          </a:xfrm>
          <a:prstGeom prst="rightArrow">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56248" y="3808285"/>
            <a:ext cx="4937760" cy="411480"/>
          </a:xfrm>
          <a:prstGeom prst="rect">
            <a:avLst/>
          </a:prstGeom>
          <a:noFill/>
        </p:spPr>
        <p:txBody>
          <a:bodyPr wrap="square" anchor="t" lIns="0" rIns="0" tIns="0" bIns="0">
            <a:spAutoFit/>
          </a:bodyPr>
          <a:lstStyle/>
          <a:p>
            <a:pPr>
              <a:lnSpc>
                <a:spcPct val="130000"/>
              </a:lnSpc>
              <a:spcBef>
                <a:spcPts val="0"/>
              </a:spcBef>
              <a:spcAft>
                <a:spcPts val="0"/>
              </a:spcAft>
            </a:pPr>
            <a:r>
              <a:rPr sz="1150" b="0" i="0">
                <a:solidFill>
                  <a:srgbClr val="A8C0C8"/>
                </a:solidFill>
                <a:latin typeface="Segoe UI"/>
              </a:rPr>
              <a:t>Generates the bill from those measurements, already structured</a:t>
            </a:r>
          </a:p>
        </p:txBody>
      </p:sp>
      <p:sp>
        <p:nvSpPr>
          <p:cNvPr id="24" name="Rectangle 23"/>
          <p:cNvSpPr/>
          <p:nvPr/>
        </p:nvSpPr>
        <p:spPr>
          <a:xfrm>
            <a:off x="658368" y="4247197"/>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4375212"/>
            <a:ext cx="3017520" cy="411480"/>
          </a:xfrm>
          <a:prstGeom prst="rect">
            <a:avLst/>
          </a:prstGeom>
          <a:noFill/>
        </p:spPr>
        <p:txBody>
          <a:bodyPr wrap="square" anchor="t" lIns="0" rIns="0" tIns="0" bIns="0">
            <a:spAutoFit/>
          </a:bodyPr>
          <a:lstStyle/>
          <a:p>
            <a:pPr>
              <a:lnSpc>
                <a:spcPct val="130000"/>
              </a:lnSpc>
              <a:spcBef>
                <a:spcPts val="0"/>
              </a:spcBef>
              <a:spcAft>
                <a:spcPts val="0"/>
              </a:spcAft>
            </a:pPr>
            <a:r>
              <a:rPr sz="1200" b="0" i="0">
                <a:solidFill>
                  <a:srgbClr val="E9F2F4"/>
                </a:solidFill>
                <a:latin typeface="Segoe UI"/>
              </a:rPr>
              <a:t>Chasing rates across email</a:t>
            </a:r>
          </a:p>
        </p:txBody>
      </p:sp>
      <p:sp>
        <p:nvSpPr>
          <p:cNvPr id="26" name="TextBox 25"/>
          <p:cNvSpPr txBox="1"/>
          <p:nvPr/>
        </p:nvSpPr>
        <p:spPr>
          <a:xfrm>
            <a:off x="3858768" y="4375212"/>
            <a:ext cx="2468880" cy="411480"/>
          </a:xfrm>
          <a:prstGeom prst="rect">
            <a:avLst/>
          </a:prstGeom>
          <a:noFill/>
        </p:spPr>
        <p:txBody>
          <a:bodyPr wrap="square" anchor="t" lIns="0" rIns="0" tIns="0" bIns="0">
            <a:spAutoFit/>
          </a:bodyPr>
          <a:lstStyle/>
          <a:p>
            <a:pPr>
              <a:lnSpc>
                <a:spcPct val="130000"/>
              </a:lnSpc>
              <a:spcBef>
                <a:spcPts val="0"/>
              </a:spcBef>
              <a:spcAft>
                <a:spcPts val="0"/>
              </a:spcAft>
            </a:pPr>
            <a:r>
              <a:rPr sz="1050" b="0" i="0">
                <a:solidFill>
                  <a:srgbClr val="E0A85A"/>
                </a:solidFill>
                <a:latin typeface="Segoe UI"/>
              </a:rPr>
              <a:t>Inconsistent pricing between bids</a:t>
            </a:r>
          </a:p>
        </p:txBody>
      </p:sp>
      <p:sp>
        <p:nvSpPr>
          <p:cNvPr id="27" name="Right Arrow 26"/>
          <p:cNvSpPr/>
          <p:nvPr/>
        </p:nvSpPr>
        <p:spPr>
          <a:xfrm>
            <a:off x="6236207" y="4466653"/>
            <a:ext cx="201168" cy="146304"/>
          </a:xfrm>
          <a:prstGeom prst="rightArrow">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556248" y="4375212"/>
            <a:ext cx="4937760" cy="411480"/>
          </a:xfrm>
          <a:prstGeom prst="rect">
            <a:avLst/>
          </a:prstGeom>
          <a:noFill/>
        </p:spPr>
        <p:txBody>
          <a:bodyPr wrap="square" anchor="t" lIns="0" rIns="0" tIns="0" bIns="0">
            <a:spAutoFit/>
          </a:bodyPr>
          <a:lstStyle/>
          <a:p>
            <a:pPr>
              <a:lnSpc>
                <a:spcPct val="130000"/>
              </a:lnSpc>
              <a:spcBef>
                <a:spcPts val="0"/>
              </a:spcBef>
              <a:spcAft>
                <a:spcPts val="0"/>
              </a:spcAft>
            </a:pPr>
            <a:r>
              <a:rPr sz="1150" b="0" i="0">
                <a:solidFill>
                  <a:srgbClr val="A8C0C8"/>
                </a:solidFill>
                <a:latin typeface="Segoe UI"/>
              </a:rPr>
              <a:t>Prices from your rate library — every rate names its origin</a:t>
            </a:r>
          </a:p>
        </p:txBody>
      </p:sp>
      <p:sp>
        <p:nvSpPr>
          <p:cNvPr id="29" name="Rectangle 28"/>
          <p:cNvSpPr/>
          <p:nvPr/>
        </p:nvSpPr>
        <p:spPr>
          <a:xfrm>
            <a:off x="658368" y="4814125"/>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4942141"/>
            <a:ext cx="3017520" cy="411480"/>
          </a:xfrm>
          <a:prstGeom prst="rect">
            <a:avLst/>
          </a:prstGeom>
          <a:noFill/>
        </p:spPr>
        <p:txBody>
          <a:bodyPr wrap="square" anchor="t" lIns="0" rIns="0" tIns="0" bIns="0">
            <a:spAutoFit/>
          </a:bodyPr>
          <a:lstStyle/>
          <a:p>
            <a:pPr>
              <a:lnSpc>
                <a:spcPct val="130000"/>
              </a:lnSpc>
              <a:spcBef>
                <a:spcPts val="0"/>
              </a:spcBef>
              <a:spcAft>
                <a:spcPts val="0"/>
              </a:spcAft>
            </a:pPr>
            <a:r>
              <a:rPr sz="1200" b="0" i="0">
                <a:solidFill>
                  <a:srgbClr val="E9F2F4"/>
                </a:solidFill>
                <a:latin typeface="Segoe UI"/>
              </a:rPr>
              <a:t>No trail from number to drawing</a:t>
            </a:r>
          </a:p>
        </p:txBody>
      </p:sp>
      <p:sp>
        <p:nvSpPr>
          <p:cNvPr id="31" name="TextBox 30"/>
          <p:cNvSpPr txBox="1"/>
          <p:nvPr/>
        </p:nvSpPr>
        <p:spPr>
          <a:xfrm>
            <a:off x="3858768" y="4942141"/>
            <a:ext cx="2468880" cy="411480"/>
          </a:xfrm>
          <a:prstGeom prst="rect">
            <a:avLst/>
          </a:prstGeom>
          <a:noFill/>
        </p:spPr>
        <p:txBody>
          <a:bodyPr wrap="square" anchor="t" lIns="0" rIns="0" tIns="0" bIns="0">
            <a:spAutoFit/>
          </a:bodyPr>
          <a:lstStyle/>
          <a:p>
            <a:pPr>
              <a:lnSpc>
                <a:spcPct val="130000"/>
              </a:lnSpc>
              <a:spcBef>
                <a:spcPts val="0"/>
              </a:spcBef>
              <a:spcAft>
                <a:spcPts val="0"/>
              </a:spcAft>
            </a:pPr>
            <a:r>
              <a:rPr sz="1050" b="0" i="0">
                <a:solidFill>
                  <a:srgbClr val="E0A85A"/>
                </a:solidFill>
                <a:latin typeface="Segoe UI"/>
              </a:rPr>
              <a:t>Indefensible in a post-tender meeting</a:t>
            </a:r>
          </a:p>
        </p:txBody>
      </p:sp>
      <p:sp>
        <p:nvSpPr>
          <p:cNvPr id="32" name="Right Arrow 31"/>
          <p:cNvSpPr/>
          <p:nvPr/>
        </p:nvSpPr>
        <p:spPr>
          <a:xfrm>
            <a:off x="6236207" y="5033581"/>
            <a:ext cx="201168" cy="146304"/>
          </a:xfrm>
          <a:prstGeom prst="rightArrow">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556248" y="4942141"/>
            <a:ext cx="4937760" cy="411480"/>
          </a:xfrm>
          <a:prstGeom prst="rect">
            <a:avLst/>
          </a:prstGeom>
          <a:noFill/>
        </p:spPr>
        <p:txBody>
          <a:bodyPr wrap="square" anchor="t" lIns="0" rIns="0" tIns="0" bIns="0">
            <a:spAutoFit/>
          </a:bodyPr>
          <a:lstStyle/>
          <a:p>
            <a:pPr>
              <a:lnSpc>
                <a:spcPct val="130000"/>
              </a:lnSpc>
              <a:spcBef>
                <a:spcPts val="0"/>
              </a:spcBef>
              <a:spcAft>
                <a:spcPts val="0"/>
              </a:spcAft>
            </a:pPr>
            <a:r>
              <a:rPr sz="1150" b="0" i="0">
                <a:solidFill>
                  <a:srgbClr val="A8C0C8"/>
                </a:solidFill>
                <a:latin typeface="Segoe UI"/>
              </a:rPr>
              <a:t>Every line carries its source region and who confirmed it</a:t>
            </a:r>
          </a:p>
        </p:txBody>
      </p:sp>
      <p:sp>
        <p:nvSpPr>
          <p:cNvPr id="34" name="Rectangle 33"/>
          <p:cNvSpPr/>
          <p:nvPr/>
        </p:nvSpPr>
        <p:spPr>
          <a:xfrm>
            <a:off x="658368" y="5381053"/>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8368" y="5509069"/>
            <a:ext cx="3017520" cy="411480"/>
          </a:xfrm>
          <a:prstGeom prst="rect">
            <a:avLst/>
          </a:prstGeom>
          <a:noFill/>
        </p:spPr>
        <p:txBody>
          <a:bodyPr wrap="square" anchor="t" lIns="0" rIns="0" tIns="0" bIns="0">
            <a:spAutoFit/>
          </a:bodyPr>
          <a:lstStyle/>
          <a:p>
            <a:pPr>
              <a:lnSpc>
                <a:spcPct val="130000"/>
              </a:lnSpc>
              <a:spcBef>
                <a:spcPts val="0"/>
              </a:spcBef>
              <a:spcAft>
                <a:spcPts val="0"/>
              </a:spcAft>
            </a:pPr>
            <a:r>
              <a:rPr sz="1200" b="0" i="0">
                <a:solidFill>
                  <a:srgbClr val="E9F2F4"/>
                </a:solidFill>
                <a:latin typeface="Segoe UI"/>
              </a:rPr>
              <a:t>The programme built separately, late</a:t>
            </a:r>
          </a:p>
        </p:txBody>
      </p:sp>
      <p:sp>
        <p:nvSpPr>
          <p:cNvPr id="36" name="TextBox 35"/>
          <p:cNvSpPr txBox="1"/>
          <p:nvPr/>
        </p:nvSpPr>
        <p:spPr>
          <a:xfrm>
            <a:off x="3858768" y="5509069"/>
            <a:ext cx="2468880" cy="411480"/>
          </a:xfrm>
          <a:prstGeom prst="rect">
            <a:avLst/>
          </a:prstGeom>
          <a:noFill/>
        </p:spPr>
        <p:txBody>
          <a:bodyPr wrap="square" anchor="t" lIns="0" rIns="0" tIns="0" bIns="0">
            <a:spAutoFit/>
          </a:bodyPr>
          <a:lstStyle/>
          <a:p>
            <a:pPr>
              <a:lnSpc>
                <a:spcPct val="130000"/>
              </a:lnSpc>
              <a:spcBef>
                <a:spcPts val="0"/>
              </a:spcBef>
              <a:spcAft>
                <a:spcPts val="0"/>
              </a:spcAft>
            </a:pPr>
            <a:r>
              <a:rPr sz="1050" b="0" i="0">
                <a:solidFill>
                  <a:srgbClr val="E0A85A"/>
                </a:solidFill>
                <a:latin typeface="Segoe UI"/>
              </a:rPr>
              <a:t>Cost and schedule disagree</a:t>
            </a:r>
          </a:p>
        </p:txBody>
      </p:sp>
      <p:sp>
        <p:nvSpPr>
          <p:cNvPr id="37" name="Right Arrow 36"/>
          <p:cNvSpPr/>
          <p:nvPr/>
        </p:nvSpPr>
        <p:spPr>
          <a:xfrm>
            <a:off x="6236207" y="5600509"/>
            <a:ext cx="201168" cy="146304"/>
          </a:xfrm>
          <a:prstGeom prst="rightArrow">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56248" y="5509069"/>
            <a:ext cx="4937760" cy="411480"/>
          </a:xfrm>
          <a:prstGeom prst="rect">
            <a:avLst/>
          </a:prstGeom>
          <a:noFill/>
        </p:spPr>
        <p:txBody>
          <a:bodyPr wrap="square" anchor="t" lIns="0" rIns="0" tIns="0" bIns="0">
            <a:spAutoFit/>
          </a:bodyPr>
          <a:lstStyle/>
          <a:p>
            <a:pPr>
              <a:lnSpc>
                <a:spcPct val="130000"/>
              </a:lnSpc>
              <a:spcBef>
                <a:spcPts val="0"/>
              </a:spcBef>
              <a:spcAft>
                <a:spcPts val="0"/>
              </a:spcAft>
            </a:pPr>
            <a:r>
              <a:rPr sz="1150" b="0" i="0">
                <a:solidFill>
                  <a:srgbClr val="A8C0C8"/>
                </a:solidFill>
                <a:latin typeface="Segoe UI"/>
              </a:rPr>
              <a:t>Derives the programme from the same bill, deterministically</a:t>
            </a:r>
          </a:p>
        </p:txBody>
      </p:sp>
      <p:sp>
        <p:nvSpPr>
          <p:cNvPr id="39" name="Rectangle 38"/>
          <p:cNvSpPr/>
          <p:nvPr/>
        </p:nvSpPr>
        <p:spPr>
          <a:xfrm>
            <a:off x="658368" y="5947981"/>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4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4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4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4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400"/>
                                        <p:tgtEl>
                                          <p:spTgt spid="16"/>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00"/>
                                        <p:tgtEl>
                                          <p:spTgt spid="17"/>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400"/>
                                        <p:tgtEl>
                                          <p:spTgt spid="18"/>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9"/>
                                        </p:tgtEl>
                                        <p:attrNameLst>
                                          <p:attrName>style.visibility</p:attrName>
                                        </p:attrNameLst>
                                      </p:cBhvr>
                                      <p:to>
                                        <p:strVal val="visible"/>
                                      </p:to>
                                    </p:set>
                                    <p:animEffect transition="in" filter="fade">
                                      <p:cBhvr>
                                        <p:cTn id="36" dur="400"/>
                                        <p:tgtEl>
                                          <p:spTgt spid="19"/>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20"/>
                                        </p:tgtEl>
                                        <p:attrNameLst>
                                          <p:attrName>style.visibility</p:attrName>
                                        </p:attrNameLst>
                                      </p:cBhvr>
                                      <p:to>
                                        <p:strVal val="visible"/>
                                      </p:to>
                                    </p:set>
                                    <p:animEffect transition="in" filter="fade">
                                      <p:cBhvr>
                                        <p:cTn id="41" dur="400"/>
                                        <p:tgtEl>
                                          <p:spTgt spid="20"/>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fade">
                                      <p:cBhvr>
                                        <p:cTn id="44" dur="400"/>
                                        <p:tgtEl>
                                          <p:spTgt spid="21"/>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22"/>
                                        </p:tgtEl>
                                        <p:attrNameLst>
                                          <p:attrName>style.visibility</p:attrName>
                                        </p:attrNameLst>
                                      </p:cBhvr>
                                      <p:to>
                                        <p:strVal val="visible"/>
                                      </p:to>
                                    </p:set>
                                    <p:animEffect transition="in" filter="fade">
                                      <p:cBhvr>
                                        <p:cTn id="47" dur="400"/>
                                        <p:tgtEl>
                                          <p:spTgt spid="22"/>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400"/>
                                        <p:tgtEl>
                                          <p:spTgt spid="23"/>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4"/>
                                        </p:tgtEl>
                                        <p:attrNameLst>
                                          <p:attrName>style.visibility</p:attrName>
                                        </p:attrNameLst>
                                      </p:cBhvr>
                                      <p:to>
                                        <p:strVal val="visible"/>
                                      </p:to>
                                    </p:set>
                                    <p:animEffect transition="in" filter="fade">
                                      <p:cBhvr>
                                        <p:cTn id="53" dur="400"/>
                                        <p:tgtEl>
                                          <p:spTgt spid="24"/>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5"/>
                                        </p:tgtEl>
                                        <p:attrNameLst>
                                          <p:attrName>style.visibility</p:attrName>
                                        </p:attrNameLst>
                                      </p:cBhvr>
                                      <p:to>
                                        <p:strVal val="visible"/>
                                      </p:to>
                                    </p:set>
                                    <p:animEffect transition="in" filter="fade">
                                      <p:cBhvr>
                                        <p:cTn id="58" dur="400"/>
                                        <p:tgtEl>
                                          <p:spTgt spid="25"/>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6"/>
                                        </p:tgtEl>
                                        <p:attrNameLst>
                                          <p:attrName>style.visibility</p:attrName>
                                        </p:attrNameLst>
                                      </p:cBhvr>
                                      <p:to>
                                        <p:strVal val="visible"/>
                                      </p:to>
                                    </p:set>
                                    <p:animEffect transition="in" filter="fade">
                                      <p:cBhvr>
                                        <p:cTn id="61" dur="400"/>
                                        <p:tgtEl>
                                          <p:spTgt spid="26"/>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fade">
                                      <p:cBhvr>
                                        <p:cTn id="64" dur="400"/>
                                        <p:tgtEl>
                                          <p:spTgt spid="27"/>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8"/>
                                        </p:tgtEl>
                                        <p:attrNameLst>
                                          <p:attrName>style.visibility</p:attrName>
                                        </p:attrNameLst>
                                      </p:cBhvr>
                                      <p:to>
                                        <p:strVal val="visible"/>
                                      </p:to>
                                    </p:set>
                                    <p:animEffect transition="in" filter="fade">
                                      <p:cBhvr>
                                        <p:cTn id="67" dur="400"/>
                                        <p:tgtEl>
                                          <p:spTgt spid="28"/>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9"/>
                                        </p:tgtEl>
                                        <p:attrNameLst>
                                          <p:attrName>style.visibility</p:attrName>
                                        </p:attrNameLst>
                                      </p:cBhvr>
                                      <p:to>
                                        <p:strVal val="visible"/>
                                      </p:to>
                                    </p:set>
                                    <p:animEffect transition="in" filter="fade">
                                      <p:cBhvr>
                                        <p:cTn id="70" dur="400"/>
                                        <p:tgtEl>
                                          <p:spTgt spid="29"/>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0"/>
                                        </p:tgtEl>
                                        <p:attrNameLst>
                                          <p:attrName>style.visibility</p:attrName>
                                        </p:attrNameLst>
                                      </p:cBhvr>
                                      <p:to>
                                        <p:strVal val="visible"/>
                                      </p:to>
                                    </p:set>
                                    <p:animEffect transition="in" filter="fade">
                                      <p:cBhvr>
                                        <p:cTn id="75" dur="400"/>
                                        <p:tgtEl>
                                          <p:spTgt spid="30"/>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visible"/>
                                      </p:to>
                                    </p:set>
                                    <p:animEffect transition="in" filter="fade">
                                      <p:cBhvr>
                                        <p:cTn id="78" dur="400"/>
                                        <p:tgtEl>
                                          <p:spTgt spid="31"/>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2"/>
                                        </p:tgtEl>
                                        <p:attrNameLst>
                                          <p:attrName>style.visibility</p:attrName>
                                        </p:attrNameLst>
                                      </p:cBhvr>
                                      <p:to>
                                        <p:strVal val="visible"/>
                                      </p:to>
                                    </p:set>
                                    <p:animEffect transition="in" filter="fade">
                                      <p:cBhvr>
                                        <p:cTn id="81" dur="400"/>
                                        <p:tgtEl>
                                          <p:spTgt spid="32"/>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3"/>
                                        </p:tgtEl>
                                        <p:attrNameLst>
                                          <p:attrName>style.visibility</p:attrName>
                                        </p:attrNameLst>
                                      </p:cBhvr>
                                      <p:to>
                                        <p:strVal val="visible"/>
                                      </p:to>
                                    </p:set>
                                    <p:animEffect transition="in" filter="fade">
                                      <p:cBhvr>
                                        <p:cTn id="84" dur="400"/>
                                        <p:tgtEl>
                                          <p:spTgt spid="33"/>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4"/>
                                        </p:tgtEl>
                                        <p:attrNameLst>
                                          <p:attrName>style.visibility</p:attrName>
                                        </p:attrNameLst>
                                      </p:cBhvr>
                                      <p:to>
                                        <p:strVal val="visible"/>
                                      </p:to>
                                    </p:set>
                                    <p:animEffect transition="in" filter="fade">
                                      <p:cBhvr>
                                        <p:cTn id="87" dur="400"/>
                                        <p:tgtEl>
                                          <p:spTgt spid="34"/>
                                        </p:tgtEl>
                                      </p:cBhvr>
                                    </p:animEffect>
                                  </p:childTnLst>
                                </p:cTn>
                              </p:par>
                            </p:childTnLst>
                          </p:cTn>
                        </p:par>
                      </p:childTnLst>
                    </p:cTn>
                  </p:par>
                  <p:par>
                    <p:cTn id="88" fill="hold">
                      <p:stCondLst>
                        <p:cond delay="indefinite"/>
                      </p:stCondLst>
                      <p:childTnLst>
                        <p:par>
                          <p:cTn id="89" fill="hold">
                            <p:stCondLst>
                              <p:cond delay="0"/>
                            </p:stCondLst>
                            <p:childTnLst>
                              <p:par>
                                <p:cTn id="90" presetID="10" presetClass="entr" presetSubtype="0" fill="hold" grpId="0" nodeType="clickEffect">
                                  <p:stCondLst>
                                    <p:cond delay="0"/>
                                  </p:stCondLst>
                                  <p:childTnLst>
                                    <p:set>
                                      <p:cBhvr>
                                        <p:cTn id="91" dur="1" fill="hold">
                                          <p:stCondLst>
                                            <p:cond delay="0"/>
                                          </p:stCondLst>
                                        </p:cTn>
                                        <p:tgtEl>
                                          <p:spTgt spid="35"/>
                                        </p:tgtEl>
                                        <p:attrNameLst>
                                          <p:attrName>style.visibility</p:attrName>
                                        </p:attrNameLst>
                                      </p:cBhvr>
                                      <p:to>
                                        <p:strVal val="visible"/>
                                      </p:to>
                                    </p:set>
                                    <p:animEffect transition="in" filter="fade">
                                      <p:cBhvr>
                                        <p:cTn id="92" dur="400"/>
                                        <p:tgtEl>
                                          <p:spTgt spid="3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6"/>
                                        </p:tgtEl>
                                        <p:attrNameLst>
                                          <p:attrName>style.visibility</p:attrName>
                                        </p:attrNameLst>
                                      </p:cBhvr>
                                      <p:to>
                                        <p:strVal val="visible"/>
                                      </p:to>
                                    </p:set>
                                    <p:animEffect transition="in" filter="fade">
                                      <p:cBhvr>
                                        <p:cTn id="95" dur="400"/>
                                        <p:tgtEl>
                                          <p:spTgt spid="3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7"/>
                                        </p:tgtEl>
                                        <p:attrNameLst>
                                          <p:attrName>style.visibility</p:attrName>
                                        </p:attrNameLst>
                                      </p:cBhvr>
                                      <p:to>
                                        <p:strVal val="visible"/>
                                      </p:to>
                                    </p:set>
                                    <p:animEffect transition="in" filter="fade">
                                      <p:cBhvr>
                                        <p:cTn id="98" dur="400"/>
                                        <p:tgtEl>
                                          <p:spTgt spid="3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38"/>
                                        </p:tgtEl>
                                        <p:attrNameLst>
                                          <p:attrName>style.visibility</p:attrName>
                                        </p:attrNameLst>
                                      </p:cBhvr>
                                      <p:to>
                                        <p:strVal val="visible"/>
                                      </p:to>
                                    </p:set>
                                    <p:animEffect transition="in" filter="fade">
                                      <p:cBhvr>
                                        <p:cTn id="101" dur="400"/>
                                        <p:tgtEl>
                                          <p:spTgt spid="3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39"/>
                                        </p:tgtEl>
                                        <p:attrNameLst>
                                          <p:attrName>style.visibility</p:attrName>
                                        </p:attrNameLst>
                                      </p:cBhvr>
                                      <p:to>
                                        <p:strVal val="visible"/>
                                      </p:to>
                                    </p:set>
                                    <p:animEffect transition="in" filter="fade">
                                      <p:cBhvr>
                                        <p:cTn id="104" dur="4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SINGLE CLAIM  </a:t>
            </a:r>
            <a:r>
              <a:rPr sz="900" b="1" i="0" spc="140">
                <a:solidFill>
                  <a:srgbClr val="3EDCC2"/>
                </a:solidFill>
                <a:latin typeface="Consolas"/>
              </a:rPr>
              <a:t>05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856232"/>
            <a:ext cx="8046720" cy="1463040"/>
          </a:xfrm>
          <a:prstGeom prst="rect">
            <a:avLst/>
          </a:prstGeom>
          <a:noFill/>
        </p:spPr>
        <p:txBody>
          <a:bodyPr wrap="square" anchor="t" lIns="0" rIns="0" tIns="0" bIns="0">
            <a:spAutoFit/>
          </a:bodyPr>
          <a:lstStyle/>
          <a:p>
            <a:pPr>
              <a:lnSpc>
                <a:spcPct val="112000"/>
              </a:lnSpc>
              <a:spcBef>
                <a:spcPts val="0"/>
              </a:spcBef>
              <a:spcAft>
                <a:spcPts val="0"/>
              </a:spcAft>
            </a:pPr>
            <a:r>
              <a:rPr sz="3800" b="1" i="0">
                <a:solidFill>
                  <a:srgbClr val="E9F2F4"/>
                </a:solidFill>
                <a:latin typeface="Segoe UI"/>
              </a:rPr>
              <a:t>Every number on screen can tell you where it came from.</a:t>
            </a:r>
          </a:p>
        </p:txBody>
      </p:sp>
      <p:sp>
        <p:nvSpPr>
          <p:cNvPr id="6" name="TextBox 5"/>
          <p:cNvSpPr txBox="1"/>
          <p:nvPr/>
        </p:nvSpPr>
        <p:spPr>
          <a:xfrm>
            <a:off x="658368" y="3410712"/>
            <a:ext cx="7315200" cy="822960"/>
          </a:xfrm>
          <a:prstGeom prst="rect">
            <a:avLst/>
          </a:prstGeom>
          <a:noFill/>
        </p:spPr>
        <p:txBody>
          <a:bodyPr wrap="square" anchor="t" lIns="0" rIns="0" tIns="0" bIns="0">
            <a:spAutoFit/>
          </a:bodyPr>
          <a:lstStyle/>
          <a:p>
            <a:pPr>
              <a:lnSpc>
                <a:spcPct val="145000"/>
              </a:lnSpc>
              <a:spcBef>
                <a:spcPts val="0"/>
              </a:spcBef>
              <a:spcAft>
                <a:spcPts val="800"/>
              </a:spcAft>
            </a:pPr>
            <a:r>
              <a:rPr sz="1700" b="0" i="0">
                <a:solidFill>
                  <a:srgbClr val="A8C0C8"/>
                </a:solidFill>
                <a:latin typeface="Segoe UI"/>
              </a:rPr>
              <a:t>Which page of which document. Which layer of which drawing. Or which person typed it, and when they signed for it.</a:t>
            </a:r>
          </a:p>
        </p:txBody>
      </p:sp>
      <p:sp>
        <p:nvSpPr>
          <p:cNvPr id="7" name="Rectangle 6"/>
          <p:cNvSpPr/>
          <p:nvPr/>
        </p:nvSpPr>
        <p:spPr>
          <a:xfrm>
            <a:off x="658368" y="4599432"/>
            <a:ext cx="22860" cy="566928"/>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4599432"/>
            <a:ext cx="8266175" cy="914400"/>
          </a:xfrm>
          <a:prstGeom prst="rect">
            <a:avLst/>
          </a:prstGeom>
          <a:noFill/>
        </p:spPr>
        <p:txBody>
          <a:bodyPr wrap="square" anchor="t" lIns="0" rIns="0" tIns="0" bIns="0">
            <a:spAutoFit/>
          </a:bodyPr>
          <a:lstStyle/>
          <a:p>
            <a:pPr>
              <a:lnSpc>
                <a:spcPct val="140000"/>
              </a:lnSpc>
              <a:spcBef>
                <a:spcPts val="0"/>
              </a:spcBef>
              <a:spcAft>
                <a:spcPts val="0"/>
              </a:spcAft>
            </a:pPr>
            <a:r>
              <a:rPr sz="1700" b="0" i="1">
                <a:solidFill>
                  <a:srgbClr val="E9F2F4"/>
                </a:solidFill>
                <a:latin typeface="Georgia"/>
              </a:rPr>
              <a:t>That is the product. The speed is a consequence of it, not the point of it.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0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PRODUCT  </a:t>
            </a:r>
            <a:r>
              <a:rPr sz="900" b="1" i="0" spc="140">
                <a:solidFill>
                  <a:srgbClr val="3EDCC2"/>
                </a:solidFill>
                <a:latin typeface="Consolas"/>
              </a:rPr>
              <a:t>06  </a:t>
            </a:r>
            <a:r>
              <a:rPr sz="900" b="0" i="0" spc="140">
                <a:solidFill>
                  <a:srgbClr val="7A939E"/>
                </a:solidFill>
                <a:latin typeface="Consolas"/>
              </a:rPr>
              <a:t>TENDER INTAKE</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268580"/>
            <a:ext cx="384048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It reads the tender first.</a:t>
            </a:r>
          </a:p>
        </p:txBody>
      </p:sp>
      <p:sp>
        <p:nvSpPr>
          <p:cNvPr id="6" name="TextBox 5"/>
          <p:cNvSpPr txBox="1"/>
          <p:nvPr/>
        </p:nvSpPr>
        <p:spPr>
          <a:xfrm>
            <a:off x="658368" y="2228700"/>
            <a:ext cx="3840480" cy="2377440"/>
          </a:xfrm>
          <a:prstGeom prst="rect">
            <a:avLst/>
          </a:prstGeom>
          <a:noFill/>
        </p:spPr>
        <p:txBody>
          <a:bodyPr wrap="square" anchor="t" lIns="0" rIns="0" tIns="0" bIns="0">
            <a:spAutoFit/>
          </a:bodyPr>
          <a:lstStyle/>
          <a:p>
            <a:pPr>
              <a:lnSpc>
                <a:spcPct val="145000"/>
              </a:lnSpc>
              <a:spcBef>
                <a:spcPts val="0"/>
              </a:spcBef>
              <a:spcAft>
                <a:spcPts val="800"/>
              </a:spcAft>
            </a:pPr>
            <a:r>
              <a:rPr sz="1250" b="0" i="0">
                <a:solidFill>
                  <a:srgbClr val="A8C0C8"/>
                </a:solidFill>
                <a:latin typeface="Segoe UI"/>
              </a:rPr>
              <a:t>Requirements pulled out of the package and tracked as objects — not highlighter marks on a PDF.</a:t>
            </a:r>
          </a:p>
          <a:p>
            <a:pPr>
              <a:lnSpc>
                <a:spcPct val="145000"/>
              </a:lnSpc>
              <a:spcBef>
                <a:spcPts val="0"/>
              </a:spcBef>
              <a:spcAft>
                <a:spcPts val="800"/>
              </a:spcAft>
            </a:pPr>
            <a:r>
              <a:rPr sz="1250" b="0" i="0">
                <a:solidFill>
                  <a:srgbClr val="A8C0C8"/>
                </a:solidFill>
                <a:latin typeface="Segoe UI"/>
              </a:rPr>
              <a:t>The submission format, the deadline and the days remaining are read from the documents, then held as project facts every later stage can use.</a:t>
            </a:r>
          </a:p>
          <a:p>
            <a:pPr>
              <a:lnSpc>
                <a:spcPct val="145000"/>
              </a:lnSpc>
              <a:spcBef>
                <a:spcPts val="0"/>
              </a:spcBef>
              <a:spcAft>
                <a:spcPts val="800"/>
              </a:spcAft>
            </a:pPr>
            <a:r>
              <a:rPr sz="1100" b="0" i="0">
                <a:solidFill>
                  <a:srgbClr val="7A939E"/>
                </a:solidFill>
                <a:latin typeface="Segoe UI"/>
              </a:rPr>
              <a:t>Bid decisions — margin, resourcing, health and safety record — sit against the requirements that drove them.</a:t>
            </a:r>
          </a:p>
        </p:txBody>
      </p:sp>
      <p:pic>
        <p:nvPicPr>
          <p:cNvPr id="7" name="Picture 6" descr="tender.png"/>
          <p:cNvPicPr>
            <a:picLocks noChangeAspect="1"/>
          </p:cNvPicPr>
          <p:nvPr/>
        </p:nvPicPr>
        <p:blipFill>
          <a:blip r:embed="rId2"/>
          <a:stretch>
            <a:fillRect/>
          </a:stretch>
        </p:blipFill>
        <p:spPr>
          <a:xfrm>
            <a:off x="4892040" y="1296012"/>
            <a:ext cx="6656832" cy="5015784"/>
          </a:xfrm>
          <a:prstGeom prst="rect">
            <a:avLst/>
          </a:prstGeom>
          <a:ln w="12700">
            <a:solidFill>
              <a:srgbClr val="2A4C58"/>
            </a:solidFill>
          </a:ln>
          <a:effectLst/>
        </p:spPr>
      </p:pic>
      <p:sp>
        <p:nvSpPr>
          <p:cNvPr id="8" name="TextBox 7"/>
          <p:cNvSpPr txBox="1"/>
          <p:nvPr/>
        </p:nvSpPr>
        <p:spPr>
          <a:xfrm>
            <a:off x="4892040" y="1058268"/>
            <a:ext cx="5486400" cy="201168"/>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TENDERLOGIX · LIVE WORKSPACE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PRODUCT  </a:t>
            </a:r>
            <a:r>
              <a:rPr sz="900" b="1" i="0" spc="140">
                <a:solidFill>
                  <a:srgbClr val="3EDCC2"/>
                </a:solidFill>
                <a:latin typeface="Consolas"/>
              </a:rPr>
              <a:t>07  </a:t>
            </a:r>
            <a:r>
              <a:rPr sz="900" b="0" i="0" spc="140">
                <a:solidFill>
                  <a:srgbClr val="7A939E"/>
                </a:solidFill>
                <a:latin typeface="Consolas"/>
              </a:rPr>
              <a:t>DRAWINGS TO QUANTITIES</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44704"/>
            <a:ext cx="384048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It measures, and it shows its working.</a:t>
            </a:r>
          </a:p>
        </p:txBody>
      </p:sp>
      <p:sp>
        <p:nvSpPr>
          <p:cNvPr id="6" name="TextBox 5"/>
          <p:cNvSpPr txBox="1"/>
          <p:nvPr/>
        </p:nvSpPr>
        <p:spPr>
          <a:xfrm>
            <a:off x="658368" y="2704824"/>
            <a:ext cx="3840480" cy="2560320"/>
          </a:xfrm>
          <a:prstGeom prst="rect">
            <a:avLst/>
          </a:prstGeom>
          <a:noFill/>
        </p:spPr>
        <p:txBody>
          <a:bodyPr wrap="square" anchor="t" lIns="0" rIns="0" tIns="0" bIns="0">
            <a:spAutoFit/>
          </a:bodyPr>
          <a:lstStyle/>
          <a:p>
            <a:pPr>
              <a:lnSpc>
                <a:spcPct val="145000"/>
              </a:lnSpc>
              <a:spcBef>
                <a:spcPts val="0"/>
              </a:spcBef>
              <a:spcAft>
                <a:spcPts val="800"/>
              </a:spcAft>
            </a:pPr>
            <a:r>
              <a:rPr sz="1250" b="0" i="0">
                <a:solidFill>
                  <a:srgbClr val="A8C0C8"/>
                </a:solidFill>
                <a:latin typeface="Segoe UI"/>
              </a:rPr>
              <a:t>Every measurement names the element, the sheet it came off and the location on it — </a:t>
            </a:r>
            <a:r>
              <a:rPr sz="1100" b="0" i="0">
                <a:solidFill>
                  <a:srgbClr val="E9F2F4"/>
                </a:solidFill>
                <a:latin typeface="Consolas"/>
              </a:rPr>
              <a:t>A-101, Grid A–D</a:t>
            </a:r>
            <a:r>
              <a:rPr sz="1250" b="0" i="0">
                <a:solidFill>
                  <a:srgbClr val="A8C0C8"/>
                </a:solidFill>
                <a:latin typeface="Segoe UI"/>
              </a:rPr>
              <a:t>.</a:t>
            </a:r>
          </a:p>
          <a:p>
            <a:pPr>
              <a:lnSpc>
                <a:spcPct val="145000"/>
              </a:lnSpc>
              <a:spcBef>
                <a:spcPts val="0"/>
              </a:spcBef>
              <a:spcAft>
                <a:spcPts val="800"/>
              </a:spcAft>
            </a:pPr>
            <a:r>
              <a:rPr sz="1250" b="0" i="0">
                <a:solidFill>
                  <a:srgbClr val="A8C0C8"/>
                </a:solidFill>
                <a:latin typeface="Segoe UI"/>
              </a:rPr>
              <a:t>And every one carries a confidence figure. The low ones are the ones you look at; that is the whole point of showing it.</a:t>
            </a:r>
          </a:p>
          <a:p>
            <a:pPr>
              <a:lnSpc>
                <a:spcPct val="145000"/>
              </a:lnSpc>
              <a:spcBef>
                <a:spcPts val="0"/>
              </a:spcBef>
              <a:spcAft>
                <a:spcPts val="800"/>
              </a:spcAft>
            </a:pPr>
            <a:r>
              <a:rPr sz="1100" b="0" i="0">
                <a:solidFill>
                  <a:srgbClr val="7A939E"/>
                </a:solidFill>
                <a:latin typeface="Segoe UI"/>
              </a:rPr>
              <a:t>Nothing here is committed. Each row waits on a person to accept the measure.</a:t>
            </a:r>
          </a:p>
        </p:txBody>
      </p:sp>
      <p:pic>
        <p:nvPicPr>
          <p:cNvPr id="7" name="Picture 6" descr="takeoff.png"/>
          <p:cNvPicPr>
            <a:picLocks noChangeAspect="1"/>
          </p:cNvPicPr>
          <p:nvPr/>
        </p:nvPicPr>
        <p:blipFill>
          <a:blip r:embed="rId2"/>
          <a:stretch>
            <a:fillRect/>
          </a:stretch>
        </p:blipFill>
        <p:spPr>
          <a:xfrm>
            <a:off x="4892040" y="2019024"/>
            <a:ext cx="6656832" cy="3606335"/>
          </a:xfrm>
          <a:prstGeom prst="rect">
            <a:avLst/>
          </a:prstGeom>
          <a:ln w="12700">
            <a:solidFill>
              <a:srgbClr val="2A4C58"/>
            </a:solidFill>
          </a:ln>
          <a:effectLst/>
        </p:spPr>
      </p:pic>
      <p:sp>
        <p:nvSpPr>
          <p:cNvPr id="8" name="TextBox 7"/>
          <p:cNvSpPr txBox="1"/>
          <p:nvPr/>
        </p:nvSpPr>
        <p:spPr>
          <a:xfrm>
            <a:off x="4892040" y="1781280"/>
            <a:ext cx="5486400" cy="201168"/>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DRAWLOGIX · TAKEOFF REGISTER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PRODUCT  </a:t>
            </a:r>
            <a:r>
              <a:rPr sz="900" b="1" i="0" spc="140">
                <a:solidFill>
                  <a:srgbClr val="3EDCC2"/>
                </a:solidFill>
                <a:latin typeface="Consolas"/>
              </a:rPr>
              <a:t>08  </a:t>
            </a:r>
            <a:r>
              <a:rPr sz="900" b="0" i="0" spc="140">
                <a:solidFill>
                  <a:srgbClr val="7A939E"/>
                </a:solidFill>
                <a:latin typeface="Consolas"/>
              </a:rPr>
              <a:t>THE BILL OF QUANTITIES</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97146"/>
            <a:ext cx="384048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Every line has a Trace button.</a:t>
            </a:r>
          </a:p>
        </p:txBody>
      </p:sp>
      <p:sp>
        <p:nvSpPr>
          <p:cNvPr id="6" name="TextBox 5"/>
          <p:cNvSpPr txBox="1"/>
          <p:nvPr/>
        </p:nvSpPr>
        <p:spPr>
          <a:xfrm>
            <a:off x="658368" y="2557266"/>
            <a:ext cx="3840480" cy="2560320"/>
          </a:xfrm>
          <a:prstGeom prst="rect">
            <a:avLst/>
          </a:prstGeom>
          <a:noFill/>
        </p:spPr>
        <p:txBody>
          <a:bodyPr wrap="square" anchor="t" lIns="0" rIns="0" tIns="0" bIns="0">
            <a:spAutoFit/>
          </a:bodyPr>
          <a:lstStyle/>
          <a:p>
            <a:pPr>
              <a:lnSpc>
                <a:spcPct val="145000"/>
              </a:lnSpc>
              <a:spcBef>
                <a:spcPts val="0"/>
              </a:spcBef>
              <a:spcAft>
                <a:spcPts val="800"/>
              </a:spcAft>
            </a:pPr>
            <a:r>
              <a:rPr sz="1250" b="1" i="0">
                <a:solidFill>
                  <a:srgbClr val="E9F2F4"/>
                </a:solidFill>
                <a:latin typeface="Segoe UI"/>
              </a:rPr>
              <a:t>This is the screen the whole product is built around.</a:t>
            </a:r>
          </a:p>
          <a:p>
            <a:pPr>
              <a:lnSpc>
                <a:spcPct val="145000"/>
              </a:lnSpc>
              <a:spcBef>
                <a:spcPts val="0"/>
              </a:spcBef>
              <a:spcAft>
                <a:spcPts val="800"/>
              </a:spcAft>
            </a:pPr>
            <a:r>
              <a:rPr sz="1250" b="0" i="0">
                <a:solidFill>
                  <a:srgbClr val="A8C0C8"/>
                </a:solidFill>
                <a:latin typeface="Segoe UI"/>
              </a:rPr>
              <a:t>A priced bill, grouped by division, units normalised. And on every single line, a button that answers the question estimators normally answer from memory.</a:t>
            </a:r>
          </a:p>
          <a:p>
            <a:pPr>
              <a:lnSpc>
                <a:spcPct val="145000"/>
              </a:lnSpc>
              <a:spcBef>
                <a:spcPts val="0"/>
              </a:spcBef>
              <a:spcAft>
                <a:spcPts val="800"/>
              </a:spcAft>
            </a:pPr>
            <a:r>
              <a:rPr sz="1250" b="0" i="0">
                <a:solidFill>
                  <a:srgbClr val="A8C0C8"/>
                </a:solidFill>
                <a:latin typeface="Segoe UI"/>
              </a:rPr>
              <a:t>Press it and you land on the measurement, the sheet and the layer that produced that quantity.</a:t>
            </a:r>
          </a:p>
        </p:txBody>
      </p:sp>
      <p:pic>
        <p:nvPicPr>
          <p:cNvPr id="7" name="Picture 6" descr="boq-trace.png"/>
          <p:cNvPicPr>
            <a:picLocks noChangeAspect="1"/>
          </p:cNvPicPr>
          <p:nvPr/>
        </p:nvPicPr>
        <p:blipFill>
          <a:blip r:embed="rId2"/>
          <a:stretch>
            <a:fillRect/>
          </a:stretch>
        </p:blipFill>
        <p:spPr>
          <a:xfrm>
            <a:off x="4892040" y="1752594"/>
            <a:ext cx="6656832" cy="4102620"/>
          </a:xfrm>
          <a:prstGeom prst="rect">
            <a:avLst/>
          </a:prstGeom>
          <a:ln w="12700">
            <a:solidFill>
              <a:srgbClr val="2A4C58"/>
            </a:solidFill>
          </a:ln>
          <a:effectLst/>
        </p:spPr>
      </p:pic>
      <p:sp>
        <p:nvSpPr>
          <p:cNvPr id="8" name="TextBox 7"/>
          <p:cNvSpPr txBox="1"/>
          <p:nvPr/>
        </p:nvSpPr>
        <p:spPr>
          <a:xfrm>
            <a:off x="4892040" y="1514850"/>
            <a:ext cx="5486400" cy="201168"/>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QUANTLOGIX · PRICED BILL WITH PROVENANCE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PRODUCT  </a:t>
            </a:r>
            <a:r>
              <a:rPr sz="900" b="1" i="0" spc="140">
                <a:solidFill>
                  <a:srgbClr val="3EDCC2"/>
                </a:solidFill>
                <a:latin typeface="Consolas"/>
              </a:rPr>
              <a:t>09  </a:t>
            </a:r>
            <a:r>
              <a:rPr sz="900" b="0" i="0" spc="140">
                <a:solidFill>
                  <a:srgbClr val="7A939E"/>
                </a:solidFill>
                <a:latin typeface="Consolas"/>
              </a:rPr>
              <a:t>THE ESTIMATE</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234858"/>
            <a:ext cx="384048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The build-up, not just the total.</a:t>
            </a:r>
          </a:p>
        </p:txBody>
      </p:sp>
      <p:sp>
        <p:nvSpPr>
          <p:cNvPr id="6" name="TextBox 5"/>
          <p:cNvSpPr txBox="1"/>
          <p:nvPr/>
        </p:nvSpPr>
        <p:spPr>
          <a:xfrm>
            <a:off x="658368" y="2194978"/>
            <a:ext cx="3840480" cy="2560320"/>
          </a:xfrm>
          <a:prstGeom prst="rect">
            <a:avLst/>
          </a:prstGeom>
          <a:noFill/>
        </p:spPr>
        <p:txBody>
          <a:bodyPr wrap="square" anchor="t" lIns="0" rIns="0" tIns="0" bIns="0">
            <a:spAutoFit/>
          </a:bodyPr>
          <a:lstStyle/>
          <a:p>
            <a:pPr>
              <a:lnSpc>
                <a:spcPct val="145000"/>
              </a:lnSpc>
              <a:spcBef>
                <a:spcPts val="0"/>
              </a:spcBef>
              <a:spcAft>
                <a:spcPts val="800"/>
              </a:spcAft>
            </a:pPr>
            <a:r>
              <a:rPr sz="1250" b="0" i="0">
                <a:solidFill>
                  <a:srgbClr val="A8C0C8"/>
                </a:solidFill>
                <a:latin typeface="Segoe UI"/>
              </a:rPr>
              <a:t>Priced bill, overheads, contingency, tender total — each one adjustable, each one showing what it did to the number above it.</a:t>
            </a:r>
          </a:p>
          <a:p>
            <a:pPr>
              <a:lnSpc>
                <a:spcPct val="145000"/>
              </a:lnSpc>
              <a:spcBef>
                <a:spcPts val="0"/>
              </a:spcBef>
              <a:spcAft>
                <a:spcPts val="800"/>
              </a:spcAft>
            </a:pPr>
            <a:r>
              <a:rPr sz="1250" b="0" i="0">
                <a:solidFill>
                  <a:srgbClr val="A8C0C8"/>
                </a:solidFill>
                <a:latin typeface="Segoe UI"/>
              </a:rPr>
              <a:t>Rate times quantity equals amount, on every line. And each rate says where it came from: your rate book, history, or a person who typed it.</a:t>
            </a:r>
          </a:p>
          <a:p>
            <a:pPr>
              <a:lnSpc>
                <a:spcPct val="145000"/>
              </a:lnSpc>
              <a:spcBef>
                <a:spcPts val="0"/>
              </a:spcBef>
              <a:spcAft>
                <a:spcPts val="800"/>
              </a:spcAft>
            </a:pPr>
            <a:r>
              <a:rPr sz="1250" b="1" i="0">
                <a:solidFill>
                  <a:srgbClr val="E9F2F4"/>
                </a:solidFill>
                <a:latin typeface="Segoe UI"/>
              </a:rPr>
              <a:t>There is no third category where a number simply appears.</a:t>
            </a:r>
          </a:p>
        </p:txBody>
      </p:sp>
      <p:pic>
        <p:nvPicPr>
          <p:cNvPr id="7" name="Picture 6" descr="estimate.png"/>
          <p:cNvPicPr>
            <a:picLocks noChangeAspect="1"/>
          </p:cNvPicPr>
          <p:nvPr/>
        </p:nvPicPr>
        <p:blipFill>
          <a:blip r:embed="rId2"/>
          <a:stretch>
            <a:fillRect/>
          </a:stretch>
        </p:blipFill>
        <p:spPr>
          <a:xfrm>
            <a:off x="5074920" y="1326298"/>
            <a:ext cx="6473952" cy="4955212"/>
          </a:xfrm>
          <a:prstGeom prst="rect">
            <a:avLst/>
          </a:prstGeom>
          <a:ln w="12700">
            <a:solidFill>
              <a:srgbClr val="2A4C58"/>
            </a:solidFill>
          </a:ln>
          <a:effectLst/>
        </p:spPr>
      </p:pic>
      <p:sp>
        <p:nvSpPr>
          <p:cNvPr id="8" name="TextBox 7"/>
          <p:cNvSpPr txBox="1"/>
          <p:nvPr/>
        </p:nvSpPr>
        <p:spPr>
          <a:xfrm>
            <a:off x="5074920" y="1088554"/>
            <a:ext cx="5486400" cy="201168"/>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COSTLOGIX · ESTIMATE BUILD-UP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PRODUCT  </a:t>
            </a:r>
            <a:r>
              <a:rPr sz="900" b="1" i="0" spc="140">
                <a:solidFill>
                  <a:srgbClr val="3EDCC2"/>
                </a:solidFill>
                <a:latin typeface="Consolas"/>
              </a:rPr>
              <a:t>10  </a:t>
            </a:r>
            <a:r>
              <a:rPr sz="900" b="0" i="0" spc="140">
                <a:solidFill>
                  <a:srgbClr val="7A939E"/>
                </a:solidFill>
                <a:latin typeface="Consolas"/>
              </a:rPr>
              <a:t>PROGRAMME AND PROCUREMENT</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31036"/>
            <a:ext cx="914400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Both fall out of the same bill.</a:t>
            </a:r>
          </a:p>
        </p:txBody>
      </p:sp>
      <p:pic>
        <p:nvPicPr>
          <p:cNvPr id="6" name="Picture 5" descr="schedule.png"/>
          <p:cNvPicPr>
            <a:picLocks noChangeAspect="1"/>
          </p:cNvPicPr>
          <p:nvPr/>
        </p:nvPicPr>
        <p:blipFill>
          <a:blip r:embed="rId2"/>
          <a:stretch>
            <a:fillRect/>
          </a:stretch>
        </p:blipFill>
        <p:spPr>
          <a:xfrm>
            <a:off x="658368" y="2281428"/>
            <a:ext cx="5349240" cy="2467244"/>
          </a:xfrm>
          <a:prstGeom prst="rect">
            <a:avLst/>
          </a:prstGeom>
          <a:ln w="12700">
            <a:solidFill>
              <a:srgbClr val="2A4C58"/>
            </a:solidFill>
          </a:ln>
          <a:effectLst/>
        </p:spPr>
      </p:pic>
      <p:sp>
        <p:nvSpPr>
          <p:cNvPr id="7" name="TextBox 6"/>
          <p:cNvSpPr txBox="1"/>
          <p:nvPr/>
        </p:nvSpPr>
        <p:spPr>
          <a:xfrm>
            <a:off x="658368" y="2043684"/>
            <a:ext cx="5486400" cy="201168"/>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SCHEDULELOGIX · DERIVED PROGRAMME</a:t>
            </a:r>
          </a:p>
        </p:txBody>
      </p:sp>
      <p:pic>
        <p:nvPicPr>
          <p:cNvPr id="8" name="Picture 7" descr="procurement.png"/>
          <p:cNvPicPr>
            <a:picLocks noChangeAspect="1"/>
          </p:cNvPicPr>
          <p:nvPr/>
        </p:nvPicPr>
        <p:blipFill>
          <a:blip r:embed="rId3"/>
          <a:stretch>
            <a:fillRect/>
          </a:stretch>
        </p:blipFill>
        <p:spPr>
          <a:xfrm>
            <a:off x="6199632" y="2281428"/>
            <a:ext cx="5349240" cy="2435340"/>
          </a:xfrm>
          <a:prstGeom prst="rect">
            <a:avLst/>
          </a:prstGeom>
          <a:ln w="12700">
            <a:solidFill>
              <a:srgbClr val="2A4C58"/>
            </a:solidFill>
          </a:ln>
          <a:effectLst/>
        </p:spPr>
      </p:pic>
      <p:sp>
        <p:nvSpPr>
          <p:cNvPr id="9" name="TextBox 8"/>
          <p:cNvSpPr txBox="1"/>
          <p:nvPr/>
        </p:nvSpPr>
        <p:spPr>
          <a:xfrm>
            <a:off x="6199632" y="2043684"/>
            <a:ext cx="5486400" cy="201168"/>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PROCURELOGIX · PACKAGES FROM THE BILL</a:t>
            </a:r>
          </a:p>
        </p:txBody>
      </p:sp>
      <p:sp>
        <p:nvSpPr>
          <p:cNvPr id="10" name="TextBox 9"/>
          <p:cNvSpPr txBox="1"/>
          <p:nvPr/>
        </p:nvSpPr>
        <p:spPr>
          <a:xfrm>
            <a:off x="658368" y="5116068"/>
            <a:ext cx="10881360" cy="822960"/>
          </a:xfrm>
          <a:prstGeom prst="rect">
            <a:avLst/>
          </a:prstGeom>
          <a:noFill/>
        </p:spPr>
        <p:txBody>
          <a:bodyPr wrap="square" anchor="t" lIns="0" rIns="0" tIns="0" bIns="0">
            <a:spAutoFit/>
          </a:bodyPr>
          <a:lstStyle/>
          <a:p>
            <a:pPr>
              <a:lnSpc>
                <a:spcPct val="145000"/>
              </a:lnSpc>
              <a:spcBef>
                <a:spcPts val="0"/>
              </a:spcBef>
              <a:spcAft>
                <a:spcPts val="800"/>
              </a:spcAft>
            </a:pPr>
            <a:r>
              <a:rPr sz="1300" b="0" i="0">
                <a:solidFill>
                  <a:srgbClr val="A8C0C8"/>
                </a:solidFill>
                <a:latin typeface="Segoe UI"/>
              </a:rPr>
              <a:t>The programme is a real critical-path calculation, not a Gantt chart somebody drew. The procurement packages are grouped out of bill lines you already accepted — so the package, the quantity and the price cannot disagree with each other.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4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fade">
                                      <p:cBhvr>
                                        <p:cTn id="1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PRODUCT  </a:t>
            </a:r>
            <a:r>
              <a:rPr sz="900" b="1" i="0" spc="140">
                <a:solidFill>
                  <a:srgbClr val="3EDCC2"/>
                </a:solidFill>
                <a:latin typeface="Consolas"/>
              </a:rPr>
              <a:t>11  </a:t>
            </a:r>
            <a:r>
              <a:rPr sz="900" b="0" i="0" spc="140">
                <a:solidFill>
                  <a:srgbClr val="7A939E"/>
                </a:solidFill>
                <a:latin typeface="Consolas"/>
              </a:rPr>
              <a:t>AGENTS PROPOSE, HUMANS DISPOSE</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143000"/>
            <a:ext cx="420624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Nothing on this screen was committed by software.</a:t>
            </a:r>
          </a:p>
        </p:txBody>
      </p:sp>
      <p:sp>
        <p:nvSpPr>
          <p:cNvPr id="6" name="TextBox 5"/>
          <p:cNvSpPr txBox="1"/>
          <p:nvPr/>
        </p:nvSpPr>
        <p:spPr>
          <a:xfrm>
            <a:off x="658368" y="2331720"/>
            <a:ext cx="4206240" cy="2560320"/>
          </a:xfrm>
          <a:prstGeom prst="rect">
            <a:avLst/>
          </a:prstGeom>
          <a:noFill/>
        </p:spPr>
        <p:txBody>
          <a:bodyPr wrap="square" anchor="t" lIns="0" rIns="0" tIns="0" bIns="0">
            <a:spAutoFit/>
          </a:bodyPr>
          <a:lstStyle/>
          <a:p>
            <a:pPr>
              <a:lnSpc>
                <a:spcPct val="145000"/>
              </a:lnSpc>
              <a:spcBef>
                <a:spcPts val="0"/>
              </a:spcBef>
              <a:spcAft>
                <a:spcPts val="800"/>
              </a:spcAft>
            </a:pPr>
            <a:r>
              <a:rPr sz="1250" b="0" i="0">
                <a:solidFill>
                  <a:srgbClr val="A8C0C8"/>
                </a:solidFill>
                <a:latin typeface="Segoe UI"/>
              </a:rPr>
              <a:t>Every row is a proposal waiting on a person. Each shows what produced it, what it is about, and how confident it is.</a:t>
            </a:r>
          </a:p>
          <a:p>
            <a:pPr>
              <a:lnSpc>
                <a:spcPct val="145000"/>
              </a:lnSpc>
              <a:spcBef>
                <a:spcPts val="0"/>
              </a:spcBef>
              <a:spcAft>
                <a:spcPts val="800"/>
              </a:spcAft>
            </a:pPr>
            <a:r>
              <a:rPr sz="1250" b="0" i="0">
                <a:solidFill>
                  <a:srgbClr val="A8C0C8"/>
                </a:solidFill>
                <a:latin typeface="Segoe UI"/>
              </a:rPr>
              <a:t>Confirming is a permission — held by a named person, checked at one enforced point in the code.</a:t>
            </a:r>
          </a:p>
          <a:p>
            <a:pPr>
              <a:lnSpc>
                <a:spcPct val="145000"/>
              </a:lnSpc>
              <a:spcBef>
                <a:spcPts val="0"/>
              </a:spcBef>
              <a:spcAft>
                <a:spcPts val="800"/>
              </a:spcAft>
            </a:pPr>
            <a:r>
              <a:rPr sz="1250" b="1" i="0">
                <a:solidFill>
                  <a:srgbClr val="E9F2F4"/>
                </a:solidFill>
                <a:latin typeface="Segoe UI"/>
              </a:rPr>
              <a:t>And each confirmation lands on a tamper-evident chain, against that name and that time.</a:t>
            </a:r>
          </a:p>
        </p:txBody>
      </p:sp>
      <p:pic>
        <p:nvPicPr>
          <p:cNvPr id="7" name="Picture 6" descr="review-queue.png"/>
          <p:cNvPicPr>
            <a:picLocks noChangeAspect="1"/>
          </p:cNvPicPr>
          <p:nvPr/>
        </p:nvPicPr>
        <p:blipFill>
          <a:blip r:embed="rId2"/>
          <a:stretch>
            <a:fillRect/>
          </a:stretch>
        </p:blipFill>
        <p:spPr>
          <a:xfrm>
            <a:off x="5532120" y="1417320"/>
            <a:ext cx="6016752" cy="4755508"/>
          </a:xfrm>
          <a:prstGeom prst="rect">
            <a:avLst/>
          </a:prstGeom>
          <a:ln w="12700">
            <a:solidFill>
              <a:srgbClr val="2A4C58"/>
            </a:solidFill>
          </a:ln>
          <a:effectLst/>
        </p:spPr>
      </p:pic>
      <p:sp>
        <p:nvSpPr>
          <p:cNvPr id="8" name="TextBox 7"/>
          <p:cNvSpPr txBox="1"/>
          <p:nvPr/>
        </p:nvSpPr>
        <p:spPr>
          <a:xfrm>
            <a:off x="5532120" y="1179576"/>
            <a:ext cx="5486400" cy="201168"/>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PRECKON CORE · REVIEW QUEUE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PRODUCT  </a:t>
            </a:r>
            <a:r>
              <a:rPr sz="900" b="1" i="0" spc="140">
                <a:solidFill>
                  <a:srgbClr val="3EDCC2"/>
                </a:solidFill>
                <a:latin typeface="Consolas"/>
              </a:rPr>
              <a:t>12  </a:t>
            </a:r>
            <a:r>
              <a:rPr sz="900" b="0" i="0" spc="140">
                <a:solidFill>
                  <a:srgbClr val="7A939E"/>
                </a:solidFill>
                <a:latin typeface="Consolas"/>
              </a:rPr>
              <a:t>ONE WORKSPACE, ANY LANGUAGE</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45536"/>
            <a:ext cx="384048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Not a translated copy. The same workspace.</a:t>
            </a:r>
          </a:p>
        </p:txBody>
      </p:sp>
      <p:sp>
        <p:nvSpPr>
          <p:cNvPr id="6" name="TextBox 5"/>
          <p:cNvSpPr txBox="1"/>
          <p:nvPr/>
        </p:nvSpPr>
        <p:spPr>
          <a:xfrm>
            <a:off x="658368" y="2742816"/>
            <a:ext cx="3840480" cy="2377440"/>
          </a:xfrm>
          <a:prstGeom prst="rect">
            <a:avLst/>
          </a:prstGeom>
          <a:noFill/>
        </p:spPr>
        <p:txBody>
          <a:bodyPr wrap="square" anchor="t" lIns="0" rIns="0" tIns="0" bIns="0">
            <a:spAutoFit/>
          </a:bodyPr>
          <a:lstStyle/>
          <a:p>
            <a:pPr>
              <a:lnSpc>
                <a:spcPct val="145000"/>
              </a:lnSpc>
              <a:spcBef>
                <a:spcPts val="0"/>
              </a:spcBef>
              <a:spcAft>
                <a:spcPts val="800"/>
              </a:spcAft>
            </a:pPr>
            <a:r>
              <a:rPr sz="1250" b="0" i="0">
                <a:solidFill>
                  <a:srgbClr val="A8C0C8"/>
                </a:solidFill>
                <a:latin typeface="Segoe UI"/>
              </a:rPr>
              <a:t>Right-to-left layout, localised numerals, the same records, the same audit chain, the same permissions.</a:t>
            </a:r>
          </a:p>
          <a:p>
            <a:pPr>
              <a:lnSpc>
                <a:spcPct val="145000"/>
              </a:lnSpc>
              <a:spcBef>
                <a:spcPts val="0"/>
              </a:spcBef>
              <a:spcAft>
                <a:spcPts val="800"/>
              </a:spcAft>
            </a:pPr>
            <a:r>
              <a:rPr sz="1100" b="0" i="0">
                <a:solidFill>
                  <a:srgbClr val="7A939E"/>
                </a:solidFill>
                <a:latin typeface="Segoe UI"/>
              </a:rPr>
              <a:t>For a GCC or a bilingual delivery team this is usually the difference between a platform people adopt and one that lives with a single power user.</a:t>
            </a:r>
          </a:p>
        </p:txBody>
      </p:sp>
      <p:pic>
        <p:nvPicPr>
          <p:cNvPr id="7" name="Picture 6" descr="arabic.png"/>
          <p:cNvPicPr>
            <a:picLocks noChangeAspect="1"/>
          </p:cNvPicPr>
          <p:nvPr/>
        </p:nvPicPr>
        <p:blipFill>
          <a:blip r:embed="rId2"/>
          <a:stretch>
            <a:fillRect/>
          </a:stretch>
        </p:blipFill>
        <p:spPr>
          <a:xfrm>
            <a:off x="5074920" y="1800984"/>
            <a:ext cx="6473952" cy="4005839"/>
          </a:xfrm>
          <a:prstGeom prst="rect">
            <a:avLst/>
          </a:prstGeom>
          <a:ln w="12700">
            <a:solidFill>
              <a:srgbClr val="2A4C58"/>
            </a:solidFill>
          </a:ln>
          <a:effectLst/>
        </p:spPr>
      </p:pic>
      <p:sp>
        <p:nvSpPr>
          <p:cNvPr id="8" name="TextBox 7"/>
          <p:cNvSpPr txBox="1"/>
          <p:nvPr/>
        </p:nvSpPr>
        <p:spPr>
          <a:xfrm>
            <a:off x="5074920" y="1563240"/>
            <a:ext cx="5486400" cy="201168"/>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THE SAME TENANT, SWITCHED TO ARABIC</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4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WHAT YOU GET  </a:t>
            </a:r>
            <a:r>
              <a:rPr sz="900" b="1" i="0" spc="140">
                <a:solidFill>
                  <a:srgbClr val="3EDCC2"/>
                </a:solidFill>
                <a:latin typeface="Consolas"/>
              </a:rPr>
              <a:t>13  </a:t>
            </a:r>
            <a:r>
              <a:rPr sz="900" b="0" i="0" spc="140">
                <a:solidFill>
                  <a:srgbClr val="7A939E"/>
                </a:solidFill>
                <a:latin typeface="Consolas"/>
              </a:rPr>
              <a:t>BEFORE AND AFTER</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26273"/>
            <a:ext cx="9601200" cy="1463040"/>
          </a:xfrm>
          <a:prstGeom prst="rect">
            <a:avLst/>
          </a:prstGeom>
          <a:noFill/>
        </p:spPr>
        <p:txBody>
          <a:bodyPr wrap="square" anchor="t" lIns="0" rIns="0" tIns="0" bIns="0">
            <a:spAutoFit/>
          </a:bodyPr>
          <a:lstStyle/>
          <a:p>
            <a:pPr>
              <a:lnSpc>
                <a:spcPct val="112000"/>
              </a:lnSpc>
              <a:spcBef>
                <a:spcPts val="0"/>
              </a:spcBef>
              <a:spcAft>
                <a:spcPts val="0"/>
              </a:spcAft>
            </a:pPr>
            <a:r>
              <a:rPr sz="2500" b="1" i="0">
                <a:solidFill>
                  <a:srgbClr val="E9F2F4"/>
                </a:solidFill>
                <a:latin typeface="Segoe UI"/>
              </a:rPr>
              <a:t>Six advantages, stated as changes rather than adjectives.</a:t>
            </a:r>
          </a:p>
        </p:txBody>
      </p:sp>
      <p:sp>
        <p:nvSpPr>
          <p:cNvPr id="6" name="TextBox 5"/>
          <p:cNvSpPr txBox="1"/>
          <p:nvPr/>
        </p:nvSpPr>
        <p:spPr>
          <a:xfrm>
            <a:off x="658368" y="2203512"/>
            <a:ext cx="4206240" cy="219456"/>
          </a:xfrm>
          <a:prstGeom prst="rect">
            <a:avLst/>
          </a:prstGeom>
          <a:noFill/>
        </p:spPr>
        <p:txBody>
          <a:bodyPr wrap="square" anchor="t" lIns="0" rIns="0" tIns="0" bIns="0">
            <a:spAutoFit/>
          </a:bodyPr>
          <a:lstStyle/>
          <a:p>
            <a:pPr>
              <a:spcBef>
                <a:spcPts val="0"/>
              </a:spcBef>
              <a:spcAft>
                <a:spcPts val="0"/>
              </a:spcAft>
            </a:pPr>
            <a:r>
              <a:rPr sz="850" b="0" i="0" spc="120">
                <a:solidFill>
                  <a:srgbClr val="E0A85A"/>
                </a:solidFill>
                <a:latin typeface="Consolas"/>
              </a:rPr>
              <a:t>TODAY</a:t>
            </a:r>
          </a:p>
        </p:txBody>
      </p:sp>
      <p:sp>
        <p:nvSpPr>
          <p:cNvPr id="7" name="TextBox 6"/>
          <p:cNvSpPr txBox="1"/>
          <p:nvPr/>
        </p:nvSpPr>
        <p:spPr>
          <a:xfrm>
            <a:off x="5184648" y="2203512"/>
            <a:ext cx="6355080" cy="219456"/>
          </a:xfrm>
          <a:prstGeom prst="rect">
            <a:avLst/>
          </a:prstGeom>
          <a:noFill/>
        </p:spPr>
        <p:txBody>
          <a:bodyPr wrap="square" anchor="t" lIns="0" rIns="0" tIns="0" bIns="0">
            <a:spAutoFit/>
          </a:bodyPr>
          <a:lstStyle/>
          <a:p>
            <a:pPr>
              <a:spcBef>
                <a:spcPts val="0"/>
              </a:spcBef>
              <a:spcAft>
                <a:spcPts val="0"/>
              </a:spcAft>
            </a:pPr>
            <a:r>
              <a:rPr sz="850" b="0" i="0" spc="120">
                <a:solidFill>
                  <a:srgbClr val="3EDCC2"/>
                </a:solidFill>
                <a:latin typeface="Consolas"/>
              </a:rPr>
              <a:t>WITH PRECKON</a:t>
            </a:r>
          </a:p>
        </p:txBody>
      </p:sp>
      <p:sp>
        <p:nvSpPr>
          <p:cNvPr id="8" name="Rectangle 7"/>
          <p:cNvSpPr/>
          <p:nvPr/>
        </p:nvSpPr>
        <p:spPr>
          <a:xfrm>
            <a:off x="658368" y="2441257"/>
            <a:ext cx="10874959" cy="9525"/>
          </a:xfrm>
          <a:prstGeom prst="rect">
            <a:avLst/>
          </a:prstGeom>
          <a:solidFill>
            <a:srgbClr val="2A4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2642425"/>
            <a:ext cx="4160520" cy="438912"/>
          </a:xfrm>
          <a:prstGeom prst="rect">
            <a:avLst/>
          </a:prstGeom>
          <a:noFill/>
        </p:spPr>
        <p:txBody>
          <a:bodyPr wrap="square" anchor="t" lIns="0" rIns="0" tIns="0" bIns="0">
            <a:spAutoFit/>
          </a:bodyPr>
          <a:lstStyle/>
          <a:p>
            <a:pPr>
              <a:lnSpc>
                <a:spcPct val="130000"/>
              </a:lnSpc>
              <a:spcBef>
                <a:spcPts val="0"/>
              </a:spcBef>
              <a:spcAft>
                <a:spcPts val="0"/>
              </a:spcAft>
            </a:pPr>
            <a:r>
              <a:rPr sz="1150" b="0" i="0">
                <a:solidFill>
                  <a:srgbClr val="7A939E"/>
                </a:solidFill>
                <a:latin typeface="Segoe UI"/>
              </a:rPr>
              <a:t>A bid takes two to six weeks</a:t>
            </a:r>
          </a:p>
        </p:txBody>
      </p:sp>
      <p:sp>
        <p:nvSpPr>
          <p:cNvPr id="10" name="Right Arrow 9"/>
          <p:cNvSpPr/>
          <p:nvPr/>
        </p:nvSpPr>
        <p:spPr>
          <a:xfrm>
            <a:off x="4882896" y="2733865"/>
            <a:ext cx="201168" cy="146304"/>
          </a:xfrm>
          <a:prstGeom prst="rightArrow">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184648" y="2642425"/>
            <a:ext cx="6309360" cy="438912"/>
          </a:xfrm>
          <a:prstGeom prst="rect">
            <a:avLst/>
          </a:prstGeom>
          <a:noFill/>
        </p:spPr>
        <p:txBody>
          <a:bodyPr wrap="square" anchor="t" lIns="0" rIns="0" tIns="0" bIns="0">
            <a:spAutoFit/>
          </a:bodyPr>
          <a:lstStyle/>
          <a:p>
            <a:pPr>
              <a:lnSpc>
                <a:spcPct val="130000"/>
              </a:lnSpc>
              <a:spcBef>
                <a:spcPts val="0"/>
              </a:spcBef>
              <a:spcAft>
                <a:spcPts val="0"/>
              </a:spcAft>
            </a:pPr>
            <a:r>
              <a:rPr sz="1200" b="0" i="0">
                <a:solidFill>
                  <a:srgbClr val="E9F2F4"/>
                </a:solidFill>
                <a:latin typeface="Segoe UI"/>
              </a:rPr>
              <a:t>The same bid runs in hours, and the estimator spends their time judging rather than measuring</a:t>
            </a:r>
          </a:p>
        </p:txBody>
      </p:sp>
      <p:sp>
        <p:nvSpPr>
          <p:cNvPr id="12" name="Rectangle 11"/>
          <p:cNvSpPr/>
          <p:nvPr/>
        </p:nvSpPr>
        <p:spPr>
          <a:xfrm>
            <a:off x="658368" y="3099625"/>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8368" y="3209353"/>
            <a:ext cx="4160520" cy="438912"/>
          </a:xfrm>
          <a:prstGeom prst="rect">
            <a:avLst/>
          </a:prstGeom>
          <a:noFill/>
        </p:spPr>
        <p:txBody>
          <a:bodyPr wrap="square" anchor="t" lIns="0" rIns="0" tIns="0" bIns="0">
            <a:spAutoFit/>
          </a:bodyPr>
          <a:lstStyle/>
          <a:p>
            <a:pPr>
              <a:lnSpc>
                <a:spcPct val="130000"/>
              </a:lnSpc>
              <a:spcBef>
                <a:spcPts val="0"/>
              </a:spcBef>
              <a:spcAft>
                <a:spcPts val="0"/>
              </a:spcAft>
            </a:pPr>
            <a:r>
              <a:rPr sz="1150" b="0" i="0">
                <a:solidFill>
                  <a:srgbClr val="7A939E"/>
                </a:solidFill>
                <a:latin typeface="Segoe UI"/>
              </a:rPr>
              <a:t>The method lives in one person's head</a:t>
            </a:r>
          </a:p>
        </p:txBody>
      </p:sp>
      <p:sp>
        <p:nvSpPr>
          <p:cNvPr id="14" name="Right Arrow 13"/>
          <p:cNvSpPr/>
          <p:nvPr/>
        </p:nvSpPr>
        <p:spPr>
          <a:xfrm>
            <a:off x="4882896" y="3300793"/>
            <a:ext cx="201168" cy="146304"/>
          </a:xfrm>
          <a:prstGeom prst="rightArrow">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184648" y="3209353"/>
            <a:ext cx="6309360" cy="438912"/>
          </a:xfrm>
          <a:prstGeom prst="rect">
            <a:avLst/>
          </a:prstGeom>
          <a:noFill/>
        </p:spPr>
        <p:txBody>
          <a:bodyPr wrap="square" anchor="t" lIns="0" rIns="0" tIns="0" bIns="0">
            <a:spAutoFit/>
          </a:bodyPr>
          <a:lstStyle/>
          <a:p>
            <a:pPr>
              <a:lnSpc>
                <a:spcPct val="130000"/>
              </a:lnSpc>
              <a:spcBef>
                <a:spcPts val="0"/>
              </a:spcBef>
              <a:spcAft>
                <a:spcPts val="0"/>
              </a:spcAft>
            </a:pPr>
            <a:r>
              <a:rPr sz="1200" b="0" i="0">
                <a:solidFill>
                  <a:srgbClr val="E9F2F4"/>
                </a:solidFill>
                <a:latin typeface="Segoe UI"/>
              </a:rPr>
              <a:t>The method lives in the system, and survives the person leaving</a:t>
            </a:r>
          </a:p>
        </p:txBody>
      </p:sp>
      <p:sp>
        <p:nvSpPr>
          <p:cNvPr id="16" name="Rectangle 15"/>
          <p:cNvSpPr/>
          <p:nvPr/>
        </p:nvSpPr>
        <p:spPr>
          <a:xfrm>
            <a:off x="658368" y="3666553"/>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 y="3776280"/>
            <a:ext cx="4160520" cy="438912"/>
          </a:xfrm>
          <a:prstGeom prst="rect">
            <a:avLst/>
          </a:prstGeom>
          <a:noFill/>
        </p:spPr>
        <p:txBody>
          <a:bodyPr wrap="square" anchor="t" lIns="0" rIns="0" tIns="0" bIns="0">
            <a:spAutoFit/>
          </a:bodyPr>
          <a:lstStyle/>
          <a:p>
            <a:pPr>
              <a:lnSpc>
                <a:spcPct val="130000"/>
              </a:lnSpc>
              <a:spcBef>
                <a:spcPts val="0"/>
              </a:spcBef>
              <a:spcAft>
                <a:spcPts val="0"/>
              </a:spcAft>
            </a:pPr>
            <a:r>
              <a:rPr sz="1150" b="0" i="0">
                <a:solidFill>
                  <a:srgbClr val="7A939E"/>
                </a:solidFill>
                <a:latin typeface="Segoe UI"/>
              </a:rPr>
              <a:t>A number cannot be traced</a:t>
            </a:r>
          </a:p>
        </p:txBody>
      </p:sp>
      <p:sp>
        <p:nvSpPr>
          <p:cNvPr id="18" name="Right Arrow 17"/>
          <p:cNvSpPr/>
          <p:nvPr/>
        </p:nvSpPr>
        <p:spPr>
          <a:xfrm>
            <a:off x="4882896" y="3867720"/>
            <a:ext cx="201168" cy="146304"/>
          </a:xfrm>
          <a:prstGeom prst="rightArrow">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84648" y="3776280"/>
            <a:ext cx="6309360" cy="438912"/>
          </a:xfrm>
          <a:prstGeom prst="rect">
            <a:avLst/>
          </a:prstGeom>
          <a:noFill/>
        </p:spPr>
        <p:txBody>
          <a:bodyPr wrap="square" anchor="t" lIns="0" rIns="0" tIns="0" bIns="0">
            <a:spAutoFit/>
          </a:bodyPr>
          <a:lstStyle/>
          <a:p>
            <a:pPr>
              <a:lnSpc>
                <a:spcPct val="130000"/>
              </a:lnSpc>
              <a:spcBef>
                <a:spcPts val="0"/>
              </a:spcBef>
              <a:spcAft>
                <a:spcPts val="0"/>
              </a:spcAft>
            </a:pPr>
            <a:r>
              <a:rPr sz="1200" b="0" i="0">
                <a:solidFill>
                  <a:srgbClr val="E9F2F4"/>
                </a:solidFill>
                <a:latin typeface="Segoe UI"/>
              </a:rPr>
              <a:t>Every quantity names its drawing, sheet and layer</a:t>
            </a:r>
          </a:p>
        </p:txBody>
      </p:sp>
      <p:sp>
        <p:nvSpPr>
          <p:cNvPr id="20" name="Rectangle 19"/>
          <p:cNvSpPr/>
          <p:nvPr/>
        </p:nvSpPr>
        <p:spPr>
          <a:xfrm>
            <a:off x="658368" y="42334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368" y="4343208"/>
            <a:ext cx="4160520" cy="438912"/>
          </a:xfrm>
          <a:prstGeom prst="rect">
            <a:avLst/>
          </a:prstGeom>
          <a:noFill/>
        </p:spPr>
        <p:txBody>
          <a:bodyPr wrap="square" anchor="t" lIns="0" rIns="0" tIns="0" bIns="0">
            <a:spAutoFit/>
          </a:bodyPr>
          <a:lstStyle/>
          <a:p>
            <a:pPr>
              <a:lnSpc>
                <a:spcPct val="130000"/>
              </a:lnSpc>
              <a:spcBef>
                <a:spcPts val="0"/>
              </a:spcBef>
              <a:spcAft>
                <a:spcPts val="0"/>
              </a:spcAft>
            </a:pPr>
            <a:r>
              <a:rPr sz="1150" b="0" i="0">
                <a:solidFill>
                  <a:srgbClr val="7A939E"/>
                </a:solidFill>
                <a:latin typeface="Segoe UI"/>
              </a:rPr>
              <a:t>Corrections quietly break things downstream</a:t>
            </a:r>
          </a:p>
        </p:txBody>
      </p:sp>
      <p:sp>
        <p:nvSpPr>
          <p:cNvPr id="22" name="Right Arrow 21"/>
          <p:cNvSpPr/>
          <p:nvPr/>
        </p:nvSpPr>
        <p:spPr>
          <a:xfrm>
            <a:off x="4882896" y="4434649"/>
            <a:ext cx="201168" cy="146304"/>
          </a:xfrm>
          <a:prstGeom prst="rightArrow">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84648" y="4343208"/>
            <a:ext cx="6309360" cy="438912"/>
          </a:xfrm>
          <a:prstGeom prst="rect">
            <a:avLst/>
          </a:prstGeom>
          <a:noFill/>
        </p:spPr>
        <p:txBody>
          <a:bodyPr wrap="square" anchor="t" lIns="0" rIns="0" tIns="0" bIns="0">
            <a:spAutoFit/>
          </a:bodyPr>
          <a:lstStyle/>
          <a:p>
            <a:pPr>
              <a:lnSpc>
                <a:spcPct val="130000"/>
              </a:lnSpc>
              <a:spcBef>
                <a:spcPts val="0"/>
              </a:spcBef>
              <a:spcAft>
                <a:spcPts val="0"/>
              </a:spcAft>
            </a:pPr>
            <a:r>
              <a:rPr sz="1200" b="0" i="0">
                <a:solidFill>
                  <a:srgbClr val="E9F2F4"/>
                </a:solidFill>
                <a:latin typeface="Segoe UI"/>
              </a:rPr>
              <a:t>A correction marks everything downstream stale and tells you what to re-run</a:t>
            </a:r>
          </a:p>
        </p:txBody>
      </p:sp>
      <p:sp>
        <p:nvSpPr>
          <p:cNvPr id="24" name="Rectangle 23"/>
          <p:cNvSpPr/>
          <p:nvPr/>
        </p:nvSpPr>
        <p:spPr>
          <a:xfrm>
            <a:off x="658368" y="4800409"/>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58368" y="4910137"/>
            <a:ext cx="4160520" cy="438912"/>
          </a:xfrm>
          <a:prstGeom prst="rect">
            <a:avLst/>
          </a:prstGeom>
          <a:noFill/>
        </p:spPr>
        <p:txBody>
          <a:bodyPr wrap="square" anchor="t" lIns="0" rIns="0" tIns="0" bIns="0">
            <a:spAutoFit/>
          </a:bodyPr>
          <a:lstStyle/>
          <a:p>
            <a:pPr>
              <a:lnSpc>
                <a:spcPct val="130000"/>
              </a:lnSpc>
              <a:spcBef>
                <a:spcPts val="0"/>
              </a:spcBef>
              <a:spcAft>
                <a:spcPts val="0"/>
              </a:spcAft>
            </a:pPr>
            <a:r>
              <a:rPr sz="1150" b="0" i="0">
                <a:solidFill>
                  <a:srgbClr val="7A939E"/>
                </a:solidFill>
                <a:latin typeface="Segoe UI"/>
              </a:rPr>
              <a:t>Bid capacity is capped by estimator headcount</a:t>
            </a:r>
          </a:p>
        </p:txBody>
      </p:sp>
      <p:sp>
        <p:nvSpPr>
          <p:cNvPr id="26" name="Right Arrow 25"/>
          <p:cNvSpPr/>
          <p:nvPr/>
        </p:nvSpPr>
        <p:spPr>
          <a:xfrm>
            <a:off x="4882896" y="5001577"/>
            <a:ext cx="201168" cy="146304"/>
          </a:xfrm>
          <a:prstGeom prst="rightArrow">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184648" y="4910137"/>
            <a:ext cx="6309360" cy="438912"/>
          </a:xfrm>
          <a:prstGeom prst="rect">
            <a:avLst/>
          </a:prstGeom>
          <a:noFill/>
        </p:spPr>
        <p:txBody>
          <a:bodyPr wrap="square" anchor="t" lIns="0" rIns="0" tIns="0" bIns="0">
            <a:spAutoFit/>
          </a:bodyPr>
          <a:lstStyle/>
          <a:p>
            <a:pPr>
              <a:lnSpc>
                <a:spcPct val="130000"/>
              </a:lnSpc>
              <a:spcBef>
                <a:spcPts val="0"/>
              </a:spcBef>
              <a:spcAft>
                <a:spcPts val="0"/>
              </a:spcAft>
            </a:pPr>
            <a:r>
              <a:rPr sz="1200" b="0" i="0">
                <a:solidFill>
                  <a:srgbClr val="E9F2F4"/>
                </a:solidFill>
                <a:latin typeface="Segoe UI"/>
              </a:rPr>
              <a:t>Capacity is capped by opportunity, not by hiring</a:t>
            </a:r>
          </a:p>
        </p:txBody>
      </p:sp>
      <p:sp>
        <p:nvSpPr>
          <p:cNvPr id="28" name="Rectangle 27"/>
          <p:cNvSpPr/>
          <p:nvPr/>
        </p:nvSpPr>
        <p:spPr>
          <a:xfrm>
            <a:off x="658368" y="5367337"/>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477065"/>
            <a:ext cx="4160520" cy="438912"/>
          </a:xfrm>
          <a:prstGeom prst="rect">
            <a:avLst/>
          </a:prstGeom>
          <a:noFill/>
        </p:spPr>
        <p:txBody>
          <a:bodyPr wrap="square" anchor="t" lIns="0" rIns="0" tIns="0" bIns="0">
            <a:spAutoFit/>
          </a:bodyPr>
          <a:lstStyle/>
          <a:p>
            <a:pPr>
              <a:lnSpc>
                <a:spcPct val="130000"/>
              </a:lnSpc>
              <a:spcBef>
                <a:spcPts val="0"/>
              </a:spcBef>
              <a:spcAft>
                <a:spcPts val="0"/>
              </a:spcAft>
            </a:pPr>
            <a:r>
              <a:rPr sz="1150" b="0" i="0">
                <a:solidFill>
                  <a:srgbClr val="7A939E"/>
                </a:solidFill>
                <a:latin typeface="Segoe UI"/>
              </a:rPr>
              <a:t>A post-tender challenge is answered from memory</a:t>
            </a:r>
          </a:p>
        </p:txBody>
      </p:sp>
      <p:sp>
        <p:nvSpPr>
          <p:cNvPr id="30" name="Right Arrow 29"/>
          <p:cNvSpPr/>
          <p:nvPr/>
        </p:nvSpPr>
        <p:spPr>
          <a:xfrm>
            <a:off x="4882896" y="5568505"/>
            <a:ext cx="201168" cy="146304"/>
          </a:xfrm>
          <a:prstGeom prst="rightArrow">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84648" y="5477065"/>
            <a:ext cx="6309360" cy="438912"/>
          </a:xfrm>
          <a:prstGeom prst="rect">
            <a:avLst/>
          </a:prstGeom>
          <a:noFill/>
        </p:spPr>
        <p:txBody>
          <a:bodyPr wrap="square" anchor="t" lIns="0" rIns="0" tIns="0" bIns="0">
            <a:spAutoFit/>
          </a:bodyPr>
          <a:lstStyle/>
          <a:p>
            <a:pPr>
              <a:lnSpc>
                <a:spcPct val="130000"/>
              </a:lnSpc>
              <a:spcBef>
                <a:spcPts val="0"/>
              </a:spcBef>
              <a:spcAft>
                <a:spcPts val="0"/>
              </a:spcAft>
            </a:pPr>
            <a:r>
              <a:rPr sz="1200" b="0" i="0">
                <a:solidFill>
                  <a:srgbClr val="E9F2F4"/>
                </a:solidFill>
                <a:latin typeface="Segoe UI"/>
              </a:rPr>
              <a:t>It is answered from a tamper-evident chain, in front of the client</a:t>
            </a:r>
          </a:p>
        </p:txBody>
      </p:sp>
      <p:sp>
        <p:nvSpPr>
          <p:cNvPr id="32" name="Rectangle 31"/>
          <p:cNvSpPr/>
          <p:nvPr/>
        </p:nvSpPr>
        <p:spPr>
          <a:xfrm>
            <a:off x="658368" y="5934265"/>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400"/>
                                        <p:tgtEl>
                                          <p:spTgt spid="13"/>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400"/>
                                        <p:tgtEl>
                                          <p:spTgt spid="15"/>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6"/>
                                        </p:tgtEl>
                                        <p:attrNameLst>
                                          <p:attrName>style.visibility</p:attrName>
                                        </p:attrNameLst>
                                      </p:cBhvr>
                                      <p:to>
                                        <p:strVal val="visible"/>
                                      </p:to>
                                    </p:set>
                                    <p:animEffect transition="in" filter="fade">
                                      <p:cBhvr>
                                        <p:cTn id="30" dur="400"/>
                                        <p:tgtEl>
                                          <p:spTgt spid="16"/>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400"/>
                                        <p:tgtEl>
                                          <p:spTgt spid="17"/>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400"/>
                                        <p:tgtEl>
                                          <p:spTgt spid="18"/>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fade">
                                      <p:cBhvr>
                                        <p:cTn id="41" dur="400"/>
                                        <p:tgtEl>
                                          <p:spTgt spid="19"/>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fade">
                                      <p:cBhvr>
                                        <p:cTn id="44" dur="400"/>
                                        <p:tgtEl>
                                          <p:spTgt spid="20"/>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400"/>
                                        <p:tgtEl>
                                          <p:spTgt spid="21"/>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400"/>
                                        <p:tgtEl>
                                          <p:spTgt spid="22"/>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3"/>
                                        </p:tgtEl>
                                        <p:attrNameLst>
                                          <p:attrName>style.visibility</p:attrName>
                                        </p:attrNameLst>
                                      </p:cBhvr>
                                      <p:to>
                                        <p:strVal val="visible"/>
                                      </p:to>
                                    </p:set>
                                    <p:animEffect transition="in" filter="fade">
                                      <p:cBhvr>
                                        <p:cTn id="55" dur="400"/>
                                        <p:tgtEl>
                                          <p:spTgt spid="23"/>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4"/>
                                        </p:tgtEl>
                                        <p:attrNameLst>
                                          <p:attrName>style.visibility</p:attrName>
                                        </p:attrNameLst>
                                      </p:cBhvr>
                                      <p:to>
                                        <p:strVal val="visible"/>
                                      </p:to>
                                    </p:set>
                                    <p:animEffect transition="in" filter="fade">
                                      <p:cBhvr>
                                        <p:cTn id="58" dur="400"/>
                                        <p:tgtEl>
                                          <p:spTgt spid="24"/>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fade">
                                      <p:cBhvr>
                                        <p:cTn id="63" dur="400"/>
                                        <p:tgtEl>
                                          <p:spTgt spid="25"/>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6"/>
                                        </p:tgtEl>
                                        <p:attrNameLst>
                                          <p:attrName>style.visibility</p:attrName>
                                        </p:attrNameLst>
                                      </p:cBhvr>
                                      <p:to>
                                        <p:strVal val="visible"/>
                                      </p:to>
                                    </p:set>
                                    <p:animEffect transition="in" filter="fade">
                                      <p:cBhvr>
                                        <p:cTn id="66" dur="400"/>
                                        <p:tgtEl>
                                          <p:spTgt spid="26"/>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400"/>
                                        <p:tgtEl>
                                          <p:spTgt spid="2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400"/>
                                        <p:tgtEl>
                                          <p:spTgt spid="28"/>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400"/>
                                        <p:tgtEl>
                                          <p:spTgt spid="2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0"/>
                                        </p:tgtEl>
                                        <p:attrNameLst>
                                          <p:attrName>style.visibility</p:attrName>
                                        </p:attrNameLst>
                                      </p:cBhvr>
                                      <p:to>
                                        <p:strVal val="visible"/>
                                      </p:to>
                                    </p:set>
                                    <p:animEffect transition="in" filter="fade">
                                      <p:cBhvr>
                                        <p:cTn id="80" dur="400"/>
                                        <p:tgtEl>
                                          <p:spTgt spid="30"/>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1"/>
                                        </p:tgtEl>
                                        <p:attrNameLst>
                                          <p:attrName>style.visibility</p:attrName>
                                        </p:attrNameLst>
                                      </p:cBhvr>
                                      <p:to>
                                        <p:strVal val="visible"/>
                                      </p:to>
                                    </p:set>
                                    <p:animEffect transition="in" filter="fade">
                                      <p:cBhvr>
                                        <p:cTn id="83" dur="400"/>
                                        <p:tgtEl>
                                          <p:spTgt spid="31"/>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2"/>
                                        </p:tgtEl>
                                        <p:attrNameLst>
                                          <p:attrName>style.visibility</p:attrName>
                                        </p:attrNameLst>
                                      </p:cBhvr>
                                      <p:to>
                                        <p:strVal val="visible"/>
                                      </p:to>
                                    </p:set>
                                    <p:animEffect transition="in" filter="fade">
                                      <p:cBhvr>
                                        <p:cTn id="86"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658368" y="493776"/>
            <a:ext cx="82296" cy="82296"/>
          </a:xfrm>
          <a:prstGeom prst="ellipse">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41247" y="457200"/>
            <a:ext cx="5486400" cy="219456"/>
          </a:xfrm>
          <a:prstGeom prst="rect">
            <a:avLst/>
          </a:prstGeom>
          <a:noFill/>
        </p:spPr>
        <p:txBody>
          <a:bodyPr wrap="square" anchor="t" lIns="0" rIns="0" tIns="0" bIns="0">
            <a:spAutoFit/>
          </a:bodyPr>
          <a:lstStyle/>
          <a:p>
            <a:pPr>
              <a:spcBef>
                <a:spcPts val="0"/>
              </a:spcBef>
              <a:spcAft>
                <a:spcPts val="0"/>
              </a:spcAft>
            </a:pPr>
            <a:r>
              <a:rPr sz="950" b="1" i="0" spc="160">
                <a:solidFill>
                  <a:srgbClr val="3EDCC2"/>
                </a:solidFill>
                <a:latin typeface="Consolas"/>
              </a:rPr>
              <a:t>LIVE WORKSPACE</a:t>
            </a:r>
          </a:p>
        </p:txBody>
      </p:sp>
      <p:sp>
        <p:nvSpPr>
          <p:cNvPr id="5" name="TextBox 4"/>
          <p:cNvSpPr txBox="1"/>
          <p:nvPr/>
        </p:nvSpPr>
        <p:spPr>
          <a:xfrm>
            <a:off x="658368" y="1879092"/>
            <a:ext cx="8686800" cy="1463040"/>
          </a:xfrm>
          <a:prstGeom prst="rect">
            <a:avLst/>
          </a:prstGeom>
          <a:noFill/>
        </p:spPr>
        <p:txBody>
          <a:bodyPr wrap="square" anchor="t" lIns="0" rIns="0" tIns="0" bIns="0">
            <a:spAutoFit/>
          </a:bodyPr>
          <a:lstStyle/>
          <a:p>
            <a:pPr>
              <a:lnSpc>
                <a:spcPct val="112000"/>
              </a:lnSpc>
              <a:spcBef>
                <a:spcPts val="0"/>
              </a:spcBef>
              <a:spcAft>
                <a:spcPts val="0"/>
              </a:spcAft>
            </a:pPr>
            <a:r>
              <a:rPr sz="3400" b="1" i="0">
                <a:solidFill>
                  <a:srgbClr val="E9F2F4"/>
                </a:solidFill>
                <a:latin typeface="Segoe UI"/>
              </a:rPr>
              <a:t>Five minutes on the running system.</a:t>
            </a:r>
          </a:p>
        </p:txBody>
      </p:sp>
      <p:sp>
        <p:nvSpPr>
          <p:cNvPr id="6" name="TextBox 5"/>
          <p:cNvSpPr txBox="1"/>
          <p:nvPr/>
        </p:nvSpPr>
        <p:spPr>
          <a:xfrm>
            <a:off x="658368" y="2747772"/>
            <a:ext cx="8686800" cy="274320"/>
          </a:xfrm>
          <a:prstGeom prst="rect">
            <a:avLst/>
          </a:prstGeom>
          <a:noFill/>
        </p:spPr>
        <p:txBody>
          <a:bodyPr wrap="square" anchor="t" lIns="0" rIns="0" tIns="0" bIns="0">
            <a:spAutoFit/>
          </a:bodyPr>
          <a:lstStyle/>
          <a:p>
            <a:pPr>
              <a:spcBef>
                <a:spcPts val="0"/>
              </a:spcBef>
              <a:spcAft>
                <a:spcPts val="0"/>
              </a:spcAft>
            </a:pPr>
            <a:r>
              <a:rPr sz="1050" b="0" i="0">
                <a:solidFill>
                  <a:srgbClr val="7A939E"/>
                </a:solidFill>
                <a:latin typeface="Consolas"/>
              </a:rPr>
              <a:t>app.preckon.com — a real tenant, real documents, nothing pre-rendered</a:t>
            </a:r>
          </a:p>
        </p:txBody>
      </p:sp>
      <p:sp>
        <p:nvSpPr>
          <p:cNvPr id="7" name="Rounded Rectangle 6"/>
          <p:cNvSpPr/>
          <p:nvPr/>
        </p:nvSpPr>
        <p:spPr>
          <a:xfrm>
            <a:off x="658368" y="3525012"/>
            <a:ext cx="2629585" cy="196596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804672" y="3680460"/>
            <a:ext cx="2336977" cy="1691640"/>
          </a:xfrm>
          <a:prstGeom prst="rect">
            <a:avLst/>
          </a:prstGeom>
          <a:noFill/>
        </p:spPr>
        <p:txBody>
          <a:bodyPr wrap="square" anchor="t" lIns="0" rIns="0" tIns="0" bIns="0">
            <a:spAutoFit/>
          </a:bodyPr>
          <a:lstStyle/>
          <a:p>
            <a:pPr>
              <a:spcBef>
                <a:spcPts val="0"/>
              </a:spcBef>
              <a:spcAft>
                <a:spcPts val="800"/>
              </a:spcAft>
            </a:pPr>
            <a:r>
              <a:rPr sz="850" b="1" i="0" spc="120">
                <a:solidFill>
                  <a:srgbClr val="3EDCC2"/>
                </a:solidFill>
                <a:latin typeface="Consolas"/>
              </a:rPr>
              <a:t>BEAT 01 · 60S</a:t>
            </a:r>
          </a:p>
          <a:p>
            <a:pPr>
              <a:spcBef>
                <a:spcPts val="0"/>
              </a:spcBef>
              <a:spcAft>
                <a:spcPts val="500"/>
              </a:spcAft>
            </a:pPr>
            <a:r>
              <a:rPr sz="1350" b="1" i="0">
                <a:solidFill>
                  <a:srgbClr val="E9F2F4"/>
                </a:solidFill>
                <a:latin typeface="Segoe UI"/>
              </a:rPr>
              <a:t>Propose</a:t>
            </a:r>
          </a:p>
          <a:p>
            <a:pPr>
              <a:lnSpc>
                <a:spcPct val="140000"/>
              </a:lnSpc>
              <a:spcBef>
                <a:spcPts val="0"/>
              </a:spcBef>
              <a:spcAft>
                <a:spcPts val="0"/>
              </a:spcAft>
            </a:pPr>
            <a:r>
              <a:rPr sz="1000" b="0" i="0">
                <a:solidFill>
                  <a:srgbClr val="A8C0C8"/>
                </a:solidFill>
                <a:latin typeface="Segoe UI"/>
              </a:rPr>
              <a:t>Open a live bid. Run a stage. The assistants read the tender and the drawings and produce proposals — nothing is committed.</a:t>
            </a:r>
          </a:p>
        </p:txBody>
      </p:sp>
      <p:sp>
        <p:nvSpPr>
          <p:cNvPr id="9" name="Rounded Rectangle 8"/>
          <p:cNvSpPr/>
          <p:nvPr/>
        </p:nvSpPr>
        <p:spPr>
          <a:xfrm>
            <a:off x="3406825" y="3525012"/>
            <a:ext cx="2629585" cy="196596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3553129" y="3680460"/>
            <a:ext cx="2336977" cy="1691640"/>
          </a:xfrm>
          <a:prstGeom prst="rect">
            <a:avLst/>
          </a:prstGeom>
          <a:noFill/>
        </p:spPr>
        <p:txBody>
          <a:bodyPr wrap="square" anchor="t" lIns="0" rIns="0" tIns="0" bIns="0">
            <a:spAutoFit/>
          </a:bodyPr>
          <a:lstStyle/>
          <a:p>
            <a:pPr>
              <a:spcBef>
                <a:spcPts val="0"/>
              </a:spcBef>
              <a:spcAft>
                <a:spcPts val="800"/>
              </a:spcAft>
            </a:pPr>
            <a:r>
              <a:rPr sz="850" b="1" i="0" spc="120">
                <a:solidFill>
                  <a:srgbClr val="3EDCC2"/>
                </a:solidFill>
                <a:latin typeface="Consolas"/>
              </a:rPr>
              <a:t>BEAT 02 · 60S</a:t>
            </a:r>
          </a:p>
          <a:p>
            <a:pPr>
              <a:spcBef>
                <a:spcPts val="0"/>
              </a:spcBef>
              <a:spcAft>
                <a:spcPts val="500"/>
              </a:spcAft>
            </a:pPr>
            <a:r>
              <a:rPr sz="1350" b="1" i="0">
                <a:solidFill>
                  <a:srgbClr val="E9F2F4"/>
                </a:solidFill>
                <a:latin typeface="Segoe UI"/>
              </a:rPr>
              <a:t>Dispose</a:t>
            </a:r>
          </a:p>
          <a:p>
            <a:pPr>
              <a:lnSpc>
                <a:spcPct val="140000"/>
              </a:lnSpc>
              <a:spcBef>
                <a:spcPts val="0"/>
              </a:spcBef>
              <a:spcAft>
                <a:spcPts val="0"/>
              </a:spcAft>
            </a:pPr>
            <a:r>
              <a:rPr sz="1000" b="0" i="0">
                <a:solidFill>
                  <a:srgbClr val="A8C0C8"/>
                </a:solidFill>
                <a:latin typeface="Segoe UI"/>
              </a:rPr>
              <a:t>The review queue. Confirm one, reject one. The bid advances because a human decided, not because a card was dragged.</a:t>
            </a:r>
          </a:p>
        </p:txBody>
      </p:sp>
      <p:sp>
        <p:nvSpPr>
          <p:cNvPr id="11" name="Rounded Rectangle 10"/>
          <p:cNvSpPr/>
          <p:nvPr/>
        </p:nvSpPr>
        <p:spPr>
          <a:xfrm>
            <a:off x="6155283" y="3525012"/>
            <a:ext cx="2629585" cy="196596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301587" y="3680460"/>
            <a:ext cx="2336977" cy="1691640"/>
          </a:xfrm>
          <a:prstGeom prst="rect">
            <a:avLst/>
          </a:prstGeom>
          <a:noFill/>
        </p:spPr>
        <p:txBody>
          <a:bodyPr wrap="square" anchor="t" lIns="0" rIns="0" tIns="0" bIns="0">
            <a:spAutoFit/>
          </a:bodyPr>
          <a:lstStyle/>
          <a:p>
            <a:pPr>
              <a:spcBef>
                <a:spcPts val="0"/>
              </a:spcBef>
              <a:spcAft>
                <a:spcPts val="800"/>
              </a:spcAft>
            </a:pPr>
            <a:r>
              <a:rPr sz="850" b="1" i="0" spc="120">
                <a:solidFill>
                  <a:srgbClr val="3EDCC2"/>
                </a:solidFill>
                <a:latin typeface="Consolas"/>
              </a:rPr>
              <a:t>BEAT 03 · 120S</a:t>
            </a:r>
          </a:p>
          <a:p>
            <a:pPr>
              <a:spcBef>
                <a:spcPts val="0"/>
              </a:spcBef>
              <a:spcAft>
                <a:spcPts val="500"/>
              </a:spcAft>
            </a:pPr>
            <a:r>
              <a:rPr sz="1350" b="1" i="0">
                <a:solidFill>
                  <a:srgbClr val="E9F2F4"/>
                </a:solidFill>
                <a:latin typeface="Segoe UI"/>
              </a:rPr>
              <a:t>Correct</a:t>
            </a:r>
          </a:p>
          <a:p>
            <a:pPr>
              <a:lnSpc>
                <a:spcPct val="140000"/>
              </a:lnSpc>
              <a:spcBef>
                <a:spcPts val="0"/>
              </a:spcBef>
              <a:spcAft>
                <a:spcPts val="0"/>
              </a:spcAft>
            </a:pPr>
            <a:r>
              <a:rPr sz="1000" b="0" i="0">
                <a:solidFill>
                  <a:srgbClr val="A8C0C8"/>
                </a:solidFill>
                <a:latin typeface="Segoe UI"/>
              </a:rPr>
              <a:t>They pick a bill line. Trace it to the drawing layer. Then disagree with it — and watch the downstream go stale.</a:t>
            </a:r>
          </a:p>
        </p:txBody>
      </p:sp>
      <p:sp>
        <p:nvSpPr>
          <p:cNvPr id="13" name="Rounded Rectangle 12"/>
          <p:cNvSpPr/>
          <p:nvPr/>
        </p:nvSpPr>
        <p:spPr>
          <a:xfrm>
            <a:off x="8903741" y="3525012"/>
            <a:ext cx="2629585" cy="1965960"/>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050045" y="3680460"/>
            <a:ext cx="2336977" cy="1691640"/>
          </a:xfrm>
          <a:prstGeom prst="rect">
            <a:avLst/>
          </a:prstGeom>
          <a:noFill/>
        </p:spPr>
        <p:txBody>
          <a:bodyPr wrap="square" anchor="t" lIns="0" rIns="0" tIns="0" bIns="0">
            <a:spAutoFit/>
          </a:bodyPr>
          <a:lstStyle/>
          <a:p>
            <a:pPr>
              <a:spcBef>
                <a:spcPts val="0"/>
              </a:spcBef>
              <a:spcAft>
                <a:spcPts val="800"/>
              </a:spcAft>
            </a:pPr>
            <a:r>
              <a:rPr sz="850" b="1" i="0" spc="120">
                <a:solidFill>
                  <a:srgbClr val="3EDCC2"/>
                </a:solidFill>
                <a:latin typeface="Consolas"/>
              </a:rPr>
              <a:t>BEAT 04 · 60S</a:t>
            </a:r>
          </a:p>
          <a:p>
            <a:pPr>
              <a:spcBef>
                <a:spcPts val="0"/>
              </a:spcBef>
              <a:spcAft>
                <a:spcPts val="500"/>
              </a:spcAft>
            </a:pPr>
            <a:r>
              <a:rPr sz="1350" b="1" i="0">
                <a:solidFill>
                  <a:srgbClr val="E9F2F4"/>
                </a:solidFill>
                <a:latin typeface="Segoe UI"/>
              </a:rPr>
              <a:t>Verify</a:t>
            </a:r>
          </a:p>
          <a:p>
            <a:pPr>
              <a:lnSpc>
                <a:spcPct val="140000"/>
              </a:lnSpc>
              <a:spcBef>
                <a:spcPts val="0"/>
              </a:spcBef>
              <a:spcAft>
                <a:spcPts val="0"/>
              </a:spcAft>
            </a:pPr>
            <a:r>
              <a:rPr sz="1000" b="0" i="0">
                <a:solidFill>
                  <a:srgbClr val="A8C0C8"/>
                </a:solidFill>
                <a:latin typeface="Segoe UI"/>
              </a:rPr>
              <a:t>Trace view, then Verify audit chain, live. Then switch the workspace to Arabic and leave it for a beat.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400"/>
                                        <p:tgtEl>
                                          <p:spTgt spid="11"/>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fade">
                                      <p:cBhvr>
                                        <p:cTn id="26" dur="400"/>
                                        <p:tgtEl>
                                          <p:spTgt spid="12"/>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ARCHITECTURE  </a:t>
            </a:r>
            <a:r>
              <a:rPr sz="900" b="1" i="0" spc="140">
                <a:solidFill>
                  <a:srgbClr val="3EDCC2"/>
                </a:solidFill>
                <a:latin typeface="Consolas"/>
              </a:rPr>
              <a:t>14  </a:t>
            </a:r>
            <a:r>
              <a:rPr sz="900" b="0" i="0" spc="140">
                <a:solidFill>
                  <a:srgbClr val="7A939E"/>
                </a:solidFill>
                <a:latin typeface="Consolas"/>
              </a:rPr>
              <a:t>TWO PLANES</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13916"/>
            <a:ext cx="960120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The commercial model is data. The product plane never learns your contract.</a:t>
            </a:r>
          </a:p>
        </p:txBody>
      </p:sp>
      <p:sp>
        <p:nvSpPr>
          <p:cNvPr id="6" name="Rounded Rectangle 5"/>
          <p:cNvSpPr/>
          <p:nvPr/>
        </p:nvSpPr>
        <p:spPr>
          <a:xfrm>
            <a:off x="658368" y="2830068"/>
            <a:ext cx="5327751"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13816" y="2967227"/>
            <a:ext cx="5016855"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HOST PLANE — CONTROL</a:t>
            </a:r>
          </a:p>
          <a:p>
            <a:pPr>
              <a:spcBef>
                <a:spcPts val="0"/>
              </a:spcBef>
              <a:spcAft>
                <a:spcPts val="500"/>
              </a:spcAft>
            </a:pPr>
            <a:r>
              <a:rPr sz="1250" b="1" i="0">
                <a:solidFill>
                  <a:srgbClr val="E9F2F4"/>
                </a:solidFill>
                <a:latin typeface="Segoe UI"/>
              </a:rPr>
              <a:t>Where the product is defined</a:t>
            </a:r>
          </a:p>
        </p:txBody>
      </p:sp>
      <p:sp>
        <p:nvSpPr>
          <p:cNvPr id="8" name="TextBox 7"/>
          <p:cNvSpPr txBox="1"/>
          <p:nvPr/>
        </p:nvSpPr>
        <p:spPr>
          <a:xfrm>
            <a:off x="813816" y="3378708"/>
            <a:ext cx="5016855" cy="1188720"/>
          </a:xfrm>
          <a:prstGeom prst="rect">
            <a:avLst/>
          </a:prstGeom>
          <a:noFill/>
        </p:spPr>
        <p:txBody>
          <a:bodyPr wrap="square" anchor="t" lIns="0" rIns="0" tIns="0" bIns="0">
            <a:spAutoFit/>
          </a:bodyPr>
          <a:lstStyle/>
          <a:p>
            <a:pPr>
              <a:lnSpc>
                <a:spcPct val="145000"/>
              </a:lnSpc>
              <a:spcBef>
                <a:spcPts val="0"/>
              </a:spcBef>
              <a:spcAft>
                <a:spcPts val="900"/>
              </a:spcAft>
            </a:pPr>
            <a:r>
              <a:rPr sz="1100" b="0" i="0">
                <a:solidFill>
                  <a:srgbClr val="A8C0C8"/>
                </a:solidFill>
                <a:latin typeface="Segoe UI"/>
              </a:rPr>
              <a:t>Feature → Edition → Pricing → Subscription → </a:t>
            </a:r>
            <a:r>
              <a:rPr sz="1100" b="1" i="0">
                <a:solidFill>
                  <a:srgbClr val="E9F2F4"/>
                </a:solidFill>
                <a:latin typeface="Segoe UI"/>
              </a:rPr>
              <a:t>resolved entitlements</a:t>
            </a:r>
            <a:r>
              <a:rPr sz="1100" b="0" i="0">
                <a:solidFill>
                  <a:srgbClr val="A8C0C8"/>
                </a:solidFill>
                <a:latin typeface="Segoe UI"/>
              </a:rPr>
              <a:t>. Tenant provisioning, billing, platform operations.</a:t>
            </a:r>
          </a:p>
          <a:p>
            <a:pPr>
              <a:lnSpc>
                <a:spcPct val="145000"/>
              </a:lnSpc>
              <a:spcBef>
                <a:spcPts val="0"/>
              </a:spcBef>
              <a:spcAft>
                <a:spcPts val="900"/>
              </a:spcAft>
            </a:pPr>
            <a:r>
              <a:rPr sz="950" b="0" i="0">
                <a:solidFill>
                  <a:srgbClr val="7A939E"/>
                </a:solidFill>
                <a:latin typeface="Consolas"/>
              </a:rPr>
              <a:t>32 tables · hash-chained audit · operated by TechSME</a:t>
            </a:r>
          </a:p>
        </p:txBody>
      </p:sp>
      <p:sp>
        <p:nvSpPr>
          <p:cNvPr id="9" name="Rounded Rectangle 8"/>
          <p:cNvSpPr/>
          <p:nvPr/>
        </p:nvSpPr>
        <p:spPr>
          <a:xfrm>
            <a:off x="6205575" y="2830068"/>
            <a:ext cx="5327751"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361023" y="2967227"/>
            <a:ext cx="5016855"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TENANT PLANE — WORK</a:t>
            </a:r>
          </a:p>
          <a:p>
            <a:pPr>
              <a:spcBef>
                <a:spcPts val="0"/>
              </a:spcBef>
              <a:spcAft>
                <a:spcPts val="500"/>
              </a:spcAft>
            </a:pPr>
            <a:r>
              <a:rPr sz="1250" b="1" i="0">
                <a:solidFill>
                  <a:srgbClr val="E9F2F4"/>
                </a:solidFill>
                <a:latin typeface="Segoe UI"/>
              </a:rPr>
              <a:t>Where the project lives</a:t>
            </a:r>
          </a:p>
        </p:txBody>
      </p:sp>
      <p:sp>
        <p:nvSpPr>
          <p:cNvPr id="11" name="TextBox 10"/>
          <p:cNvSpPr txBox="1"/>
          <p:nvPr/>
        </p:nvSpPr>
        <p:spPr>
          <a:xfrm>
            <a:off x="6361023" y="3378708"/>
            <a:ext cx="5016855" cy="1188720"/>
          </a:xfrm>
          <a:prstGeom prst="rect">
            <a:avLst/>
          </a:prstGeom>
          <a:noFill/>
        </p:spPr>
        <p:txBody>
          <a:bodyPr wrap="square" anchor="t" lIns="0" rIns="0" tIns="0" bIns="0">
            <a:spAutoFit/>
          </a:bodyPr>
          <a:lstStyle/>
          <a:p>
            <a:pPr>
              <a:lnSpc>
                <a:spcPct val="145000"/>
              </a:lnSpc>
              <a:spcBef>
                <a:spcPts val="0"/>
              </a:spcBef>
              <a:spcAft>
                <a:spcPts val="900"/>
              </a:spcAft>
            </a:pPr>
            <a:r>
              <a:rPr sz="1100" b="0" i="0">
                <a:solidFill>
                  <a:srgbClr val="A8C0C8"/>
                </a:solidFill>
                <a:latin typeface="Segoe UI"/>
              </a:rPr>
              <a:t>Projects, documents, drawings, records, review queues, the audit chain. Consumes exactly </a:t>
            </a:r>
            <a:r>
              <a:rPr sz="1100" b="1" i="0">
                <a:solidFill>
                  <a:srgbClr val="E9F2F4"/>
                </a:solidFill>
                <a:latin typeface="Segoe UI"/>
              </a:rPr>
              <a:t>one</a:t>
            </a:r>
            <a:r>
              <a:rPr sz="1100" b="0" i="0">
                <a:solidFill>
                  <a:srgbClr val="A8C0C8"/>
                </a:solidFill>
                <a:latin typeface="Segoe UI"/>
              </a:rPr>
              <a:t> thing from the host: resolved entitlements.</a:t>
            </a:r>
          </a:p>
          <a:p>
            <a:pPr>
              <a:lnSpc>
                <a:spcPct val="145000"/>
              </a:lnSpc>
              <a:spcBef>
                <a:spcPts val="0"/>
              </a:spcBef>
              <a:spcAft>
                <a:spcPts val="900"/>
              </a:spcAft>
            </a:pPr>
            <a:r>
              <a:rPr sz="950" b="0" i="0">
                <a:solidFill>
                  <a:srgbClr val="7A939E"/>
                </a:solidFill>
                <a:latin typeface="Consolas"/>
              </a:rPr>
              <a:t>84 tables · 90 API routes · deployed</a:t>
            </a:r>
          </a:p>
        </p:txBody>
      </p:sp>
      <p:sp>
        <p:nvSpPr>
          <p:cNvPr id="12" name="TextBox 11"/>
          <p:cNvSpPr txBox="1"/>
          <p:nvPr/>
        </p:nvSpPr>
        <p:spPr>
          <a:xfrm>
            <a:off x="658368" y="4933188"/>
            <a:ext cx="9692640" cy="822960"/>
          </a:xfrm>
          <a:prstGeom prst="rect">
            <a:avLst/>
          </a:prstGeom>
          <a:noFill/>
        </p:spPr>
        <p:txBody>
          <a:bodyPr wrap="square" anchor="t" lIns="0" rIns="0" tIns="0" bIns="0">
            <a:spAutoFit/>
          </a:bodyPr>
          <a:lstStyle/>
          <a:p>
            <a:pPr>
              <a:lnSpc>
                <a:spcPct val="145000"/>
              </a:lnSpc>
              <a:spcBef>
                <a:spcPts val="0"/>
              </a:spcBef>
              <a:spcAft>
                <a:spcPts val="800"/>
              </a:spcAft>
            </a:pPr>
            <a:r>
              <a:rPr sz="1350" b="0" i="0">
                <a:solidFill>
                  <a:srgbClr val="A8C0C8"/>
                </a:solidFill>
                <a:latin typeface="Segoe UI"/>
              </a:rPr>
              <a:t>Because the split is that clean, a tenant can be given its own deployment target, its own region, or its own brand without touching product code — and pricing can change without a release.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4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400"/>
                                        <p:tgtEl>
                                          <p:spTgt spid="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4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ARCHITECTURE  </a:t>
            </a:r>
            <a:r>
              <a:rPr sz="900" b="1" i="0" spc="140">
                <a:solidFill>
                  <a:srgbClr val="3EDCC2"/>
                </a:solidFill>
                <a:latin typeface="Consolas"/>
              </a:rPr>
              <a:t>15  </a:t>
            </a:r>
            <a:r>
              <a:rPr sz="900" b="0" i="0" spc="140">
                <a:solidFill>
                  <a:srgbClr val="7A939E"/>
                </a:solidFill>
                <a:latin typeface="Consolas"/>
              </a:rPr>
              <a:t>DOMAIN-NEUTRAL KERNEL</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906524"/>
            <a:ext cx="4023360" cy="1463040"/>
          </a:xfrm>
          <a:prstGeom prst="rect">
            <a:avLst/>
          </a:prstGeom>
          <a:noFill/>
        </p:spPr>
        <p:txBody>
          <a:bodyPr wrap="square" anchor="t" lIns="0" rIns="0" tIns="0" bIns="0">
            <a:spAutoFit/>
          </a:bodyPr>
          <a:lstStyle/>
          <a:p>
            <a:pPr>
              <a:lnSpc>
                <a:spcPct val="112000"/>
              </a:lnSpc>
              <a:spcBef>
                <a:spcPts val="0"/>
              </a:spcBef>
              <a:spcAft>
                <a:spcPts val="0"/>
              </a:spcAft>
            </a:pPr>
            <a:r>
              <a:rPr sz="2700" b="1" i="0">
                <a:solidFill>
                  <a:srgbClr val="E9F2F4"/>
                </a:solidFill>
                <a:latin typeface="Segoe UI"/>
              </a:rPr>
              <a:t>The core knows nothing about construction.</a:t>
            </a:r>
          </a:p>
        </p:txBody>
      </p:sp>
      <p:sp>
        <p:nvSpPr>
          <p:cNvPr id="6" name="TextBox 5"/>
          <p:cNvSpPr txBox="1"/>
          <p:nvPr/>
        </p:nvSpPr>
        <p:spPr>
          <a:xfrm>
            <a:off x="658368" y="3369564"/>
            <a:ext cx="4023360" cy="2011680"/>
          </a:xfrm>
          <a:prstGeom prst="rect">
            <a:avLst/>
          </a:prstGeom>
          <a:noFill/>
        </p:spPr>
        <p:txBody>
          <a:bodyPr wrap="square" anchor="t" lIns="0" rIns="0" tIns="0" bIns="0">
            <a:spAutoFit/>
          </a:bodyPr>
          <a:lstStyle/>
          <a:p>
            <a:pPr>
              <a:lnSpc>
                <a:spcPct val="145000"/>
              </a:lnSpc>
              <a:spcBef>
                <a:spcPts val="0"/>
              </a:spcBef>
              <a:spcAft>
                <a:spcPts val="1100"/>
              </a:spcAft>
            </a:pPr>
            <a:r>
              <a:rPr sz="1100" b="0" i="0">
                <a:solidFill>
                  <a:srgbClr val="7A939E"/>
                </a:solidFill>
                <a:latin typeface="Segoe UI"/>
              </a:rPr>
              <a:t>It knows one interface: </a:t>
            </a:r>
            <a:r>
              <a:rPr sz="1100" b="0" i="0">
                <a:solidFill>
                  <a:srgbClr val="A8C0C8"/>
                </a:solidFill>
                <a:latin typeface="Consolas"/>
              </a:rPr>
              <a:t>DomainPack</a:t>
            </a:r>
            <a:r>
              <a:rPr sz="1100" b="0" i="0">
                <a:solidFill>
                  <a:srgbClr val="7A939E"/>
                </a:solidFill>
                <a:latin typeface="Segoe UI"/>
              </a:rPr>
              <a:t>. A vertical is data — one file satisfying the contract, plus a line in the registry.</a:t>
            </a:r>
          </a:p>
          <a:p>
            <a:pPr>
              <a:lnSpc>
                <a:spcPct val="145000"/>
              </a:lnSpc>
              <a:spcBef>
                <a:spcPts val="0"/>
              </a:spcBef>
              <a:spcAft>
                <a:spcPts val="1100"/>
              </a:spcAft>
            </a:pPr>
            <a:r>
              <a:rPr sz="1100" b="0" i="0">
                <a:solidFill>
                  <a:srgbClr val="7A939E"/>
                </a:solidFill>
                <a:latin typeface="Segoe UI"/>
              </a:rPr>
              <a:t>A pack declares its modules, record types and schemas, assistants with typed I/O, workflows as DAGs, a lifecycle state machine, roles and permissions.</a:t>
            </a:r>
          </a:p>
        </p:txBody>
      </p:sp>
      <p:sp>
        <p:nvSpPr>
          <p:cNvPr id="7" name="Rounded Rectangle 6"/>
          <p:cNvSpPr/>
          <p:nvPr/>
        </p:nvSpPr>
        <p:spPr>
          <a:xfrm>
            <a:off x="5074920" y="1933956"/>
            <a:ext cx="6455664" cy="932688"/>
          </a:xfrm>
          <a:prstGeom prst="roundRect">
            <a:avLst>
              <a:gd name="adj" fmla="val 4500"/>
            </a:avLst>
          </a:prstGeom>
          <a:solidFill>
            <a:srgbClr val="0C2F2D"/>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230368" y="2071116"/>
            <a:ext cx="6144768" cy="658368"/>
          </a:xfrm>
          <a:prstGeom prst="rect">
            <a:avLst/>
          </a:prstGeom>
          <a:noFill/>
        </p:spPr>
        <p:txBody>
          <a:bodyPr wrap="square" anchor="t" lIns="0" rIns="0" tIns="0" bIns="0">
            <a:spAutoFit/>
          </a:bodyPr>
          <a:lstStyle/>
          <a:p>
            <a:pPr>
              <a:spcBef>
                <a:spcPts val="0"/>
              </a:spcBef>
              <a:spcAft>
                <a:spcPts val="600"/>
              </a:spcAft>
            </a:pPr>
            <a:r>
              <a:rPr sz="800" b="0" i="0" spc="130">
                <a:solidFill>
                  <a:srgbClr val="3EDCC2"/>
                </a:solidFill>
                <a:latin typeface="Consolas"/>
              </a:rPr>
              <a:t>CONSTRUCTION PACK — SHIPPED</a:t>
            </a:r>
          </a:p>
          <a:p>
            <a:pPr>
              <a:lnSpc>
                <a:spcPct val="140000"/>
              </a:lnSpc>
              <a:spcBef>
                <a:spcPts val="0"/>
              </a:spcBef>
              <a:spcAft>
                <a:spcPts val="0"/>
              </a:spcAft>
            </a:pPr>
            <a:r>
              <a:rPr sz="1100" b="0" i="0">
                <a:solidFill>
                  <a:srgbClr val="E9F2F4"/>
                </a:solidFill>
                <a:latin typeface="Consolas"/>
              </a:rPr>
              <a:t>8 modules · 18 record types · 20 assistants · 14 workflows · 34 deterministic engines</a:t>
            </a:r>
          </a:p>
        </p:txBody>
      </p:sp>
      <p:sp>
        <p:nvSpPr>
          <p:cNvPr id="9" name="Rounded Rectangle 8"/>
          <p:cNvSpPr/>
          <p:nvPr/>
        </p:nvSpPr>
        <p:spPr>
          <a:xfrm>
            <a:off x="5074920" y="3031236"/>
            <a:ext cx="6455664" cy="1078992"/>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230368" y="3168396"/>
            <a:ext cx="6144768" cy="804671"/>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THE PROOF IT IS REAL</a:t>
            </a:r>
          </a:p>
          <a:p>
            <a:pPr>
              <a:lnSpc>
                <a:spcPct val="140000"/>
              </a:lnSpc>
              <a:spcBef>
                <a:spcPts val="0"/>
              </a:spcBef>
              <a:spcAft>
                <a:spcPts val="0"/>
              </a:spcAft>
            </a:pPr>
            <a:r>
              <a:rPr sz="1150" b="0" i="0">
                <a:solidFill>
                  <a:srgbClr val="A8C0C8"/>
                </a:solidFill>
                <a:latin typeface="Segoe UI"/>
              </a:rPr>
              <a:t>A second pack — </a:t>
            </a:r>
            <a:r>
              <a:rPr sz="1150" b="1" i="0">
                <a:solidFill>
                  <a:srgbClr val="E9F2F4"/>
                </a:solidFill>
                <a:latin typeface="Segoe UI"/>
              </a:rPr>
              <a:t>underwriting</a:t>
            </a:r>
            <a:r>
              <a:rPr sz="1150" b="0" i="0">
                <a:solidFill>
                  <a:srgbClr val="A8C0C8"/>
                </a:solidFill>
                <a:latin typeface="Segoe UI"/>
              </a:rPr>
              <a:t> — runs on the same unmodified kernel. Construction is loaded, not hard-coded.</a:t>
            </a:r>
          </a:p>
        </p:txBody>
      </p:sp>
      <p:sp>
        <p:nvSpPr>
          <p:cNvPr id="11" name="Rounded Rectangle 10"/>
          <p:cNvSpPr/>
          <p:nvPr/>
        </p:nvSpPr>
        <p:spPr>
          <a:xfrm>
            <a:off x="5074920" y="4274820"/>
            <a:ext cx="6455664" cy="118872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230368" y="4411980"/>
            <a:ext cx="6144768" cy="91440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THE ABI — FOUR CALLS, NOTHING ELSE</a:t>
            </a:r>
          </a:p>
        </p:txBody>
      </p:sp>
      <p:sp>
        <p:nvSpPr>
          <p:cNvPr id="13" name="TextBox 12"/>
          <p:cNvSpPr txBox="1"/>
          <p:nvPr/>
        </p:nvSpPr>
        <p:spPr>
          <a:xfrm>
            <a:off x="5230368" y="4713732"/>
            <a:ext cx="6126480" cy="731520"/>
          </a:xfrm>
          <a:prstGeom prst="rect">
            <a:avLst/>
          </a:prstGeom>
          <a:noFill/>
        </p:spPr>
        <p:txBody>
          <a:bodyPr wrap="square" anchor="t" lIns="0" rIns="0" tIns="0" bIns="0">
            <a:spAutoFit/>
          </a:bodyPr>
          <a:lstStyle/>
          <a:p>
            <a:pPr>
              <a:lnSpc>
                <a:spcPct val="145000"/>
              </a:lnSpc>
              <a:spcBef>
                <a:spcPts val="0"/>
              </a:spcBef>
              <a:spcAft>
                <a:spcPts val="800"/>
              </a:spcAft>
            </a:pPr>
            <a:r>
              <a:rPr sz="1150" b="0" i="0">
                <a:solidFill>
                  <a:srgbClr val="E9F2F4"/>
                </a:solidFill>
                <a:latin typeface="Consolas"/>
              </a:rPr>
              <a:t>emitArtifact  ·  readArtifacts
enqueueJob / onJobResult  ·  requestReview</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ARCHITECTURE  </a:t>
            </a:r>
            <a:r>
              <a:rPr sz="900" b="1" i="0" spc="140">
                <a:solidFill>
                  <a:srgbClr val="3EDCC2"/>
                </a:solidFill>
                <a:latin typeface="Consolas"/>
              </a:rPr>
              <a:t>16  </a:t>
            </a:r>
            <a:r>
              <a:rPr sz="900" b="0" i="0" spc="140">
                <a:solidFill>
                  <a:srgbClr val="7A939E"/>
                </a:solidFill>
                <a:latin typeface="Consolas"/>
              </a:rPr>
              <a:t>THE CHAIN OF RECORD</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91056"/>
            <a:ext cx="960120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Every output is a typed record that carries its own parentage.</a:t>
            </a:r>
          </a:p>
        </p:txBody>
      </p:sp>
      <p:sp>
        <p:nvSpPr>
          <p:cNvPr id="6" name="Rounded Rectangle 5"/>
          <p:cNvSpPr/>
          <p:nvPr/>
        </p:nvSpPr>
        <p:spPr>
          <a:xfrm>
            <a:off x="658368" y="2807208"/>
            <a:ext cx="3527450" cy="105156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13816" y="2944367"/>
            <a:ext cx="3216554" cy="777239"/>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WHAT PRODUCED IT</a:t>
            </a:r>
          </a:p>
          <a:p>
            <a:pPr>
              <a:lnSpc>
                <a:spcPct val="140000"/>
              </a:lnSpc>
              <a:spcBef>
                <a:spcPts val="0"/>
              </a:spcBef>
              <a:spcAft>
                <a:spcPts val="0"/>
              </a:spcAft>
            </a:pPr>
            <a:r>
              <a:rPr sz="1100" b="0" i="0">
                <a:solidFill>
                  <a:srgbClr val="A8C0C8"/>
                </a:solidFill>
                <a:latin typeface="Segoe UI"/>
              </a:rPr>
              <a:t>The assistant, the model alias, the prompt version, the run.</a:t>
            </a:r>
          </a:p>
        </p:txBody>
      </p:sp>
      <p:sp>
        <p:nvSpPr>
          <p:cNvPr id="8" name="Rounded Rectangle 7"/>
          <p:cNvSpPr/>
          <p:nvPr/>
        </p:nvSpPr>
        <p:spPr>
          <a:xfrm>
            <a:off x="4332122" y="2807208"/>
            <a:ext cx="3527450" cy="105156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487570" y="2944367"/>
            <a:ext cx="3216554" cy="777239"/>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WHAT IT DERIVED FROM</a:t>
            </a:r>
          </a:p>
          <a:p>
            <a:pPr>
              <a:lnSpc>
                <a:spcPct val="140000"/>
              </a:lnSpc>
              <a:spcBef>
                <a:spcPts val="0"/>
              </a:spcBef>
              <a:spcAft>
                <a:spcPts val="0"/>
              </a:spcAft>
            </a:pPr>
            <a:r>
              <a:rPr sz="1100" b="0" i="0">
                <a:solidFill>
                  <a:srgbClr val="A8C0C8"/>
                </a:solidFill>
                <a:latin typeface="Segoe UI"/>
              </a:rPr>
              <a:t>The upstream records, the document page, the drawing region.</a:t>
            </a:r>
          </a:p>
        </p:txBody>
      </p:sp>
      <p:sp>
        <p:nvSpPr>
          <p:cNvPr id="10" name="Rounded Rectangle 9"/>
          <p:cNvSpPr/>
          <p:nvPr/>
        </p:nvSpPr>
        <p:spPr>
          <a:xfrm>
            <a:off x="8005876" y="2807208"/>
            <a:ext cx="3527450" cy="105156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161324" y="2944367"/>
            <a:ext cx="3216554" cy="777239"/>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WHO CONFIRMED IT</a:t>
            </a:r>
          </a:p>
          <a:p>
            <a:pPr>
              <a:lnSpc>
                <a:spcPct val="140000"/>
              </a:lnSpc>
              <a:spcBef>
                <a:spcPts val="0"/>
              </a:spcBef>
              <a:spcAft>
                <a:spcPts val="0"/>
              </a:spcAft>
            </a:pPr>
            <a:r>
              <a:rPr sz="1100" b="0" i="0">
                <a:solidFill>
                  <a:srgbClr val="A8C0C8"/>
                </a:solidFill>
                <a:latin typeface="Segoe UI"/>
              </a:rPr>
              <a:t>The named person, the timestamp, the entry on the audit chain.</a:t>
            </a:r>
          </a:p>
        </p:txBody>
      </p:sp>
      <p:sp>
        <p:nvSpPr>
          <p:cNvPr id="12" name="Rounded Rectangle 11"/>
          <p:cNvSpPr/>
          <p:nvPr/>
        </p:nvSpPr>
        <p:spPr>
          <a:xfrm>
            <a:off x="658368" y="4178808"/>
            <a:ext cx="10874959" cy="1600200"/>
          </a:xfrm>
          <a:prstGeom prst="roundRect">
            <a:avLst>
              <a:gd name="adj" fmla="val 4500"/>
            </a:avLst>
          </a:prstGeom>
          <a:solidFill>
            <a:srgbClr val="0C2F2D"/>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13816" y="4315968"/>
            <a:ext cx="10564063" cy="1325880"/>
          </a:xfrm>
          <a:prstGeom prst="rect">
            <a:avLst/>
          </a:prstGeom>
          <a:noFill/>
        </p:spPr>
        <p:txBody>
          <a:bodyPr wrap="square" anchor="t" lIns="0" rIns="0" tIns="0" bIns="0">
            <a:spAutoFit/>
          </a:bodyPr>
          <a:lstStyle/>
          <a:p>
            <a:pPr>
              <a:spcBef>
                <a:spcPts val="0"/>
              </a:spcBef>
              <a:spcAft>
                <a:spcPts val="600"/>
              </a:spcAft>
            </a:pPr>
            <a:r>
              <a:rPr sz="800" b="0" i="0" spc="130">
                <a:solidFill>
                  <a:srgbClr val="3EDCC2"/>
                </a:solidFill>
                <a:latin typeface="Consolas"/>
              </a:rPr>
              <a:t>AND THE PART NOBODY ELSE DOES</a:t>
            </a:r>
          </a:p>
        </p:txBody>
      </p:sp>
      <p:sp>
        <p:nvSpPr>
          <p:cNvPr id="14" name="TextBox 13"/>
          <p:cNvSpPr txBox="1"/>
          <p:nvPr/>
        </p:nvSpPr>
        <p:spPr>
          <a:xfrm>
            <a:off x="813816" y="4608575"/>
            <a:ext cx="10564063" cy="1097280"/>
          </a:xfrm>
          <a:prstGeom prst="rect">
            <a:avLst/>
          </a:prstGeom>
          <a:noFill/>
        </p:spPr>
        <p:txBody>
          <a:bodyPr wrap="square" anchor="t" lIns="0" rIns="0" tIns="0" bIns="0">
            <a:spAutoFit/>
          </a:bodyPr>
          <a:lstStyle/>
          <a:p>
            <a:pPr>
              <a:lnSpc>
                <a:spcPct val="145000"/>
              </a:lnSpc>
              <a:spcBef>
                <a:spcPts val="0"/>
              </a:spcBef>
              <a:spcAft>
                <a:spcPts val="800"/>
              </a:spcAft>
            </a:pPr>
            <a:r>
              <a:rPr sz="1400" b="0" i="0">
                <a:solidFill>
                  <a:srgbClr val="A8C0C8"/>
                </a:solidFill>
                <a:latin typeface="Segoe UI"/>
              </a:rPr>
              <a:t>Correct a confirmed record and the system keeps its version, records your disagreement against your name, and </a:t>
            </a:r>
            <a:r>
              <a:rPr sz="1400" b="1" i="0">
                <a:solidFill>
                  <a:srgbClr val="E9F2F4"/>
                </a:solidFill>
                <a:latin typeface="Segoe UI"/>
              </a:rPr>
              <a:t>marks every downstream record stale</a:t>
            </a:r>
            <a:r>
              <a:rPr sz="1400" b="0" i="0">
                <a:solidFill>
                  <a:srgbClr val="A8C0C8"/>
                </a:solidFill>
                <a:latin typeface="Segoe UI"/>
              </a:rPr>
              <a:t> — then tells you precisely what needs re-running. Not the correction. The consequences of the correction.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GOVERNANCE  </a:t>
            </a:r>
            <a:r>
              <a:rPr sz="900" b="1" i="0" spc="140">
                <a:solidFill>
                  <a:srgbClr val="3EDCC2"/>
                </a:solidFill>
                <a:latin typeface="Consolas"/>
              </a:rPr>
              <a:t>17  </a:t>
            </a:r>
            <a:r>
              <a:rPr sz="900" b="0" i="0" spc="140">
                <a:solidFill>
                  <a:srgbClr val="7A939E"/>
                </a:solidFill>
                <a:latin typeface="Consolas"/>
              </a:rPr>
              <a:t>AGENTS PROPOSE, HUMANS DISPOSE</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27632"/>
            <a:ext cx="484632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AI does not own authoritative business state.</a:t>
            </a:r>
          </a:p>
        </p:txBody>
      </p:sp>
      <p:sp>
        <p:nvSpPr>
          <p:cNvPr id="6" name="TextBox 5"/>
          <p:cNvSpPr txBox="1"/>
          <p:nvPr/>
        </p:nvSpPr>
        <p:spPr>
          <a:xfrm>
            <a:off x="658368" y="3182112"/>
            <a:ext cx="4846320" cy="914400"/>
          </a:xfrm>
          <a:prstGeom prst="rect">
            <a:avLst/>
          </a:prstGeom>
          <a:noFill/>
        </p:spPr>
        <p:txBody>
          <a:bodyPr wrap="square" anchor="t" lIns="0" rIns="0" tIns="0" bIns="0">
            <a:spAutoFit/>
          </a:bodyPr>
          <a:lstStyle/>
          <a:p>
            <a:pPr>
              <a:lnSpc>
                <a:spcPct val="145000"/>
              </a:lnSpc>
              <a:spcBef>
                <a:spcPts val="0"/>
              </a:spcBef>
              <a:spcAft>
                <a:spcPts val="800"/>
              </a:spcAft>
            </a:pPr>
            <a:r>
              <a:rPr sz="1100" b="0" i="0">
                <a:solidFill>
                  <a:srgbClr val="7A939E"/>
                </a:solidFill>
                <a:latin typeface="Segoe UI"/>
              </a:rPr>
              <a:t>Architecture principle P-02, locked as </a:t>
            </a:r>
            <a:r>
              <a:rPr sz="1100" b="0" i="0">
                <a:solidFill>
                  <a:srgbClr val="A8C0C8"/>
                </a:solidFill>
                <a:latin typeface="Consolas"/>
              </a:rPr>
              <a:t>ADR-003</a:t>
            </a:r>
            <a:r>
              <a:rPr sz="1100" b="0" i="0">
                <a:solidFill>
                  <a:srgbClr val="7A939E"/>
                </a:solidFill>
                <a:latin typeface="Segoe UI"/>
              </a:rPr>
              <a:t>. Not a setting. Not a policy document. A structural property of the ABI.</a:t>
            </a:r>
          </a:p>
        </p:txBody>
      </p:sp>
      <p:sp>
        <p:nvSpPr>
          <p:cNvPr id="7" name="Rounded Rectangle 6"/>
          <p:cNvSpPr/>
          <p:nvPr/>
        </p:nvSpPr>
        <p:spPr>
          <a:xfrm>
            <a:off x="5806440" y="1655064"/>
            <a:ext cx="5724144" cy="141732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5961888" y="1792224"/>
            <a:ext cx="5413248" cy="114300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AI PRODUCES</a:t>
            </a:r>
          </a:p>
          <a:p>
            <a:pPr>
              <a:lnSpc>
                <a:spcPct val="140000"/>
              </a:lnSpc>
              <a:spcBef>
                <a:spcPts val="0"/>
              </a:spcBef>
              <a:spcAft>
                <a:spcPts val="0"/>
              </a:spcAft>
            </a:pPr>
            <a:r>
              <a:rPr sz="1150" b="0" i="0">
                <a:solidFill>
                  <a:srgbClr val="A8C0C8"/>
                </a:solidFill>
                <a:latin typeface="Segoe UI"/>
              </a:rPr>
              <a:t>Proposals, extracted facts, classifications, draft records, explanations — each with confidence and provenance attached.</a:t>
            </a:r>
          </a:p>
        </p:txBody>
      </p:sp>
      <p:sp>
        <p:nvSpPr>
          <p:cNvPr id="9" name="Rounded Rectangle 8"/>
          <p:cNvSpPr/>
          <p:nvPr/>
        </p:nvSpPr>
        <p:spPr>
          <a:xfrm>
            <a:off x="5806440" y="3246120"/>
            <a:ext cx="5724144" cy="1417320"/>
          </a:xfrm>
          <a:prstGeom prst="roundRect">
            <a:avLst>
              <a:gd name="adj" fmla="val 4500"/>
            </a:avLst>
          </a:prstGeom>
          <a:solidFill>
            <a:srgbClr val="2C1715"/>
          </a:solidFill>
          <a:ln w="9525">
            <a:solidFill>
              <a:srgbClr val="F0837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61888" y="3383280"/>
            <a:ext cx="5413248" cy="1143000"/>
          </a:xfrm>
          <a:prstGeom prst="rect">
            <a:avLst/>
          </a:prstGeom>
          <a:noFill/>
        </p:spPr>
        <p:txBody>
          <a:bodyPr wrap="square" anchor="t" lIns="0" rIns="0" tIns="0" bIns="0">
            <a:spAutoFit/>
          </a:bodyPr>
          <a:lstStyle/>
          <a:p>
            <a:pPr>
              <a:spcBef>
                <a:spcPts val="0"/>
              </a:spcBef>
              <a:spcAft>
                <a:spcPts val="600"/>
              </a:spcAft>
            </a:pPr>
            <a:r>
              <a:rPr sz="800" b="0" i="0" spc="130">
                <a:solidFill>
                  <a:srgbClr val="F0837B"/>
                </a:solidFill>
                <a:latin typeface="Consolas"/>
              </a:rPr>
              <a:t>AI CANNOT COMMIT</a:t>
            </a:r>
          </a:p>
          <a:p>
            <a:pPr>
              <a:lnSpc>
                <a:spcPct val="140000"/>
              </a:lnSpc>
              <a:spcBef>
                <a:spcPts val="0"/>
              </a:spcBef>
              <a:spcAft>
                <a:spcPts val="0"/>
              </a:spcAft>
            </a:pPr>
            <a:r>
              <a:rPr sz="1150" b="0" i="0">
                <a:solidFill>
                  <a:srgbClr val="A8C0C8"/>
                </a:solidFill>
                <a:latin typeface="Segoe UI"/>
              </a:rPr>
              <a:t>A bill change. A schedule baseline. A contract value. A drawing revision. An approval. Any authoritative transaction.</a:t>
            </a:r>
          </a:p>
        </p:txBody>
      </p:sp>
      <p:sp>
        <p:nvSpPr>
          <p:cNvPr id="11" name="TextBox 10"/>
          <p:cNvSpPr txBox="1"/>
          <p:nvPr/>
        </p:nvSpPr>
        <p:spPr>
          <a:xfrm>
            <a:off x="658368" y="5010912"/>
            <a:ext cx="10515600" cy="731520"/>
          </a:xfrm>
          <a:prstGeom prst="rect">
            <a:avLst/>
          </a:prstGeom>
          <a:noFill/>
        </p:spPr>
        <p:txBody>
          <a:bodyPr wrap="square" anchor="t" lIns="0" rIns="0" tIns="0" bIns="0">
            <a:spAutoFit/>
          </a:bodyPr>
          <a:lstStyle/>
          <a:p>
            <a:pPr>
              <a:lnSpc>
                <a:spcPct val="145000"/>
              </a:lnSpc>
              <a:spcBef>
                <a:spcPts val="0"/>
              </a:spcBef>
              <a:spcAft>
                <a:spcPts val="800"/>
              </a:spcAft>
            </a:pPr>
            <a:r>
              <a:rPr sz="1400" b="0" i="0">
                <a:solidFill>
                  <a:srgbClr val="A8C0C8"/>
                </a:solidFill>
                <a:latin typeface="Segoe UI"/>
              </a:rPr>
              <a:t>Confirming is a </a:t>
            </a:r>
            <a:r>
              <a:rPr sz="1400" b="1" i="0">
                <a:solidFill>
                  <a:srgbClr val="E9F2F4"/>
                </a:solidFill>
                <a:latin typeface="Segoe UI"/>
              </a:rPr>
              <a:t>permission</a:t>
            </a:r>
            <a:r>
              <a:rPr sz="1400" b="0" i="0">
                <a:solidFill>
                  <a:srgbClr val="A8C0C8"/>
                </a:solidFill>
                <a:latin typeface="Segoe UI"/>
              </a:rPr>
              <a:t>, held by a person, checked at a choke point. Every confirmation lands on the tamper-evident audit chain against a name and a time.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fade">
                                      <p:cBhvr>
                                        <p:cTn id="17" dur="4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4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GOVERNANCE  </a:t>
            </a:r>
            <a:r>
              <a:rPr sz="900" b="1" i="0" spc="140">
                <a:solidFill>
                  <a:srgbClr val="3EDCC2"/>
                </a:solidFill>
                <a:latin typeface="Consolas"/>
              </a:rPr>
              <a:t>18  </a:t>
            </a:r>
            <a:r>
              <a:rPr sz="900" b="0" i="0" spc="140">
                <a:solidFill>
                  <a:srgbClr val="7A939E"/>
                </a:solidFill>
                <a:latin typeface="Consolas"/>
              </a:rPr>
              <a:t>THE AI FABRIC</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00200"/>
            <a:ext cx="603504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No module ever calls a model.</a:t>
            </a:r>
          </a:p>
        </p:txBody>
      </p:sp>
      <p:sp>
        <p:nvSpPr>
          <p:cNvPr id="6" name="Rounded Rectangle 5"/>
          <p:cNvSpPr/>
          <p:nvPr/>
        </p:nvSpPr>
        <p:spPr>
          <a:xfrm>
            <a:off x="658368" y="2450592"/>
            <a:ext cx="6400800" cy="420624"/>
          </a:xfrm>
          <a:prstGeom prst="roundRect">
            <a:avLst>
              <a:gd name="adj" fmla="val 12000"/>
            </a:avLst>
          </a:prstGeom>
          <a:solidFill>
            <a:srgbClr val="0C2F2D"/>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04672" y="2551175"/>
            <a:ext cx="274320" cy="274320"/>
          </a:xfrm>
          <a:prstGeom prst="rect">
            <a:avLst/>
          </a:prstGeom>
          <a:noFill/>
        </p:spPr>
        <p:txBody>
          <a:bodyPr wrap="square" anchor="t" lIns="0" rIns="0" tIns="0" bIns="0">
            <a:spAutoFit/>
          </a:bodyPr>
          <a:lstStyle/>
          <a:p>
            <a:pPr>
              <a:spcBef>
                <a:spcPts val="0"/>
              </a:spcBef>
              <a:spcAft>
                <a:spcPts val="0"/>
              </a:spcAft>
            </a:pPr>
            <a:r>
              <a:rPr sz="900" b="1" i="0">
                <a:solidFill>
                  <a:srgbClr val="556E79"/>
                </a:solidFill>
                <a:latin typeface="Consolas"/>
              </a:rPr>
              <a:t>1</a:t>
            </a:r>
          </a:p>
        </p:txBody>
      </p:sp>
      <p:sp>
        <p:nvSpPr>
          <p:cNvPr id="8" name="TextBox 7"/>
          <p:cNvSpPr txBox="1"/>
          <p:nvPr/>
        </p:nvSpPr>
        <p:spPr>
          <a:xfrm>
            <a:off x="1097280" y="2532887"/>
            <a:ext cx="3566160" cy="274320"/>
          </a:xfrm>
          <a:prstGeom prst="rect">
            <a:avLst/>
          </a:prstGeom>
          <a:noFill/>
        </p:spPr>
        <p:txBody>
          <a:bodyPr wrap="square" anchor="t" lIns="0" rIns="0" tIns="0" bIns="0">
            <a:spAutoFit/>
          </a:bodyPr>
          <a:lstStyle/>
          <a:p>
            <a:pPr>
              <a:spcBef>
                <a:spcPts val="0"/>
              </a:spcBef>
              <a:spcAft>
                <a:spcPts val="0"/>
              </a:spcAft>
            </a:pPr>
            <a:r>
              <a:rPr sz="1200" b="1" i="0">
                <a:solidFill>
                  <a:srgbClr val="E9F2F4"/>
                </a:solidFill>
                <a:latin typeface="Segoe UI"/>
              </a:rPr>
              <a:t>Deterministic software</a:t>
            </a:r>
          </a:p>
        </p:txBody>
      </p:sp>
      <p:sp>
        <p:nvSpPr>
          <p:cNvPr id="9" name="TextBox 8"/>
          <p:cNvSpPr txBox="1"/>
          <p:nvPr/>
        </p:nvSpPr>
        <p:spPr>
          <a:xfrm>
            <a:off x="4636007" y="2560320"/>
            <a:ext cx="2286000" cy="274320"/>
          </a:xfrm>
          <a:prstGeom prst="rect">
            <a:avLst/>
          </a:prstGeom>
          <a:noFill/>
        </p:spPr>
        <p:txBody>
          <a:bodyPr wrap="square" anchor="t" lIns="0" rIns="0" tIns="0" bIns="0">
            <a:spAutoFit/>
          </a:bodyPr>
          <a:lstStyle/>
          <a:p>
            <a:pPr algn="r">
              <a:spcBef>
                <a:spcPts val="0"/>
              </a:spcBef>
              <a:spcAft>
                <a:spcPts val="0"/>
              </a:spcAft>
            </a:pPr>
            <a:r>
              <a:rPr sz="850" b="0" i="0" spc="100">
                <a:solidFill>
                  <a:srgbClr val="3EDCC2"/>
                </a:solidFill>
                <a:latin typeface="Consolas"/>
              </a:rPr>
              <a:t>DEFAULT</a:t>
            </a:r>
          </a:p>
        </p:txBody>
      </p:sp>
      <p:sp>
        <p:nvSpPr>
          <p:cNvPr id="10" name="Rounded Rectangle 9"/>
          <p:cNvSpPr/>
          <p:nvPr/>
        </p:nvSpPr>
        <p:spPr>
          <a:xfrm>
            <a:off x="658368" y="2953512"/>
            <a:ext cx="6400800" cy="420624"/>
          </a:xfrm>
          <a:prstGeom prst="roundRect">
            <a:avLst>
              <a:gd name="adj" fmla="val 12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04672" y="3054096"/>
            <a:ext cx="274320" cy="274320"/>
          </a:xfrm>
          <a:prstGeom prst="rect">
            <a:avLst/>
          </a:prstGeom>
          <a:noFill/>
        </p:spPr>
        <p:txBody>
          <a:bodyPr wrap="square" anchor="t" lIns="0" rIns="0" tIns="0" bIns="0">
            <a:spAutoFit/>
          </a:bodyPr>
          <a:lstStyle/>
          <a:p>
            <a:pPr>
              <a:spcBef>
                <a:spcPts val="0"/>
              </a:spcBef>
              <a:spcAft>
                <a:spcPts val="0"/>
              </a:spcAft>
            </a:pPr>
            <a:r>
              <a:rPr sz="900" b="1" i="0">
                <a:solidFill>
                  <a:srgbClr val="556E79"/>
                </a:solidFill>
                <a:latin typeface="Consolas"/>
              </a:rPr>
              <a:t>2</a:t>
            </a:r>
          </a:p>
        </p:txBody>
      </p:sp>
      <p:sp>
        <p:nvSpPr>
          <p:cNvPr id="12" name="TextBox 11"/>
          <p:cNvSpPr txBox="1"/>
          <p:nvPr/>
        </p:nvSpPr>
        <p:spPr>
          <a:xfrm>
            <a:off x="1097280" y="3035808"/>
            <a:ext cx="3566160" cy="274320"/>
          </a:xfrm>
          <a:prstGeom prst="rect">
            <a:avLst/>
          </a:prstGeom>
          <a:noFill/>
        </p:spPr>
        <p:txBody>
          <a:bodyPr wrap="square" anchor="t" lIns="0" rIns="0" tIns="0" bIns="0">
            <a:spAutoFit/>
          </a:bodyPr>
          <a:lstStyle/>
          <a:p>
            <a:pPr>
              <a:spcBef>
                <a:spcPts val="0"/>
              </a:spcBef>
              <a:spcAft>
                <a:spcPts val="0"/>
              </a:spcAft>
            </a:pPr>
            <a:r>
              <a:rPr sz="1200" b="1" i="0">
                <a:solidFill>
                  <a:srgbClr val="E9F2F4"/>
                </a:solidFill>
                <a:latin typeface="Segoe UI"/>
              </a:rPr>
              <a:t>Exact and semantic cache</a:t>
            </a:r>
          </a:p>
        </p:txBody>
      </p:sp>
      <p:sp>
        <p:nvSpPr>
          <p:cNvPr id="13" name="TextBox 12"/>
          <p:cNvSpPr txBox="1"/>
          <p:nvPr/>
        </p:nvSpPr>
        <p:spPr>
          <a:xfrm>
            <a:off x="4636007" y="3063240"/>
            <a:ext cx="2286000" cy="274320"/>
          </a:xfrm>
          <a:prstGeom prst="rect">
            <a:avLst/>
          </a:prstGeom>
          <a:noFill/>
        </p:spPr>
        <p:txBody>
          <a:bodyPr wrap="square" anchor="t" lIns="0" rIns="0" tIns="0" bIns="0">
            <a:spAutoFit/>
          </a:bodyPr>
          <a:lstStyle/>
          <a:p>
            <a:pPr algn="r">
              <a:spcBef>
                <a:spcPts val="0"/>
              </a:spcBef>
              <a:spcAft>
                <a:spcPts val="0"/>
              </a:spcAft>
            </a:pPr>
            <a:r>
              <a:rPr sz="850" b="0" i="0" spc="100">
                <a:solidFill>
                  <a:srgbClr val="7A939E"/>
                </a:solidFill>
                <a:latin typeface="Consolas"/>
              </a:rPr>
              <a:t>BEFORE INFERENCE</a:t>
            </a:r>
          </a:p>
        </p:txBody>
      </p:sp>
      <p:sp>
        <p:nvSpPr>
          <p:cNvPr id="14" name="Rounded Rectangle 13"/>
          <p:cNvSpPr/>
          <p:nvPr/>
        </p:nvSpPr>
        <p:spPr>
          <a:xfrm>
            <a:off x="658368" y="3456432"/>
            <a:ext cx="6400800" cy="420624"/>
          </a:xfrm>
          <a:prstGeom prst="roundRect">
            <a:avLst>
              <a:gd name="adj" fmla="val 12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04672" y="3557016"/>
            <a:ext cx="274320" cy="274320"/>
          </a:xfrm>
          <a:prstGeom prst="rect">
            <a:avLst/>
          </a:prstGeom>
          <a:noFill/>
        </p:spPr>
        <p:txBody>
          <a:bodyPr wrap="square" anchor="t" lIns="0" rIns="0" tIns="0" bIns="0">
            <a:spAutoFit/>
          </a:bodyPr>
          <a:lstStyle/>
          <a:p>
            <a:pPr>
              <a:spcBef>
                <a:spcPts val="0"/>
              </a:spcBef>
              <a:spcAft>
                <a:spcPts val="0"/>
              </a:spcAft>
            </a:pPr>
            <a:r>
              <a:rPr sz="900" b="1" i="0">
                <a:solidFill>
                  <a:srgbClr val="556E79"/>
                </a:solidFill>
                <a:latin typeface="Consolas"/>
              </a:rPr>
              <a:t>3</a:t>
            </a:r>
          </a:p>
        </p:txBody>
      </p:sp>
      <p:sp>
        <p:nvSpPr>
          <p:cNvPr id="16" name="TextBox 15"/>
          <p:cNvSpPr txBox="1"/>
          <p:nvPr/>
        </p:nvSpPr>
        <p:spPr>
          <a:xfrm>
            <a:off x="1097280" y="3538728"/>
            <a:ext cx="3566160" cy="274320"/>
          </a:xfrm>
          <a:prstGeom prst="rect">
            <a:avLst/>
          </a:prstGeom>
          <a:noFill/>
        </p:spPr>
        <p:txBody>
          <a:bodyPr wrap="square" anchor="t" lIns="0" rIns="0" tIns="0" bIns="0">
            <a:spAutoFit/>
          </a:bodyPr>
          <a:lstStyle/>
          <a:p>
            <a:pPr>
              <a:spcBef>
                <a:spcPts val="0"/>
              </a:spcBef>
              <a:spcAft>
                <a:spcPts val="0"/>
              </a:spcAft>
            </a:pPr>
            <a:r>
              <a:rPr sz="1200" b="1" i="0">
                <a:solidFill>
                  <a:srgbClr val="E9F2F4"/>
                </a:solidFill>
                <a:latin typeface="Segoe UI"/>
              </a:rPr>
              <a:t>Structured retrieval</a:t>
            </a:r>
          </a:p>
        </p:txBody>
      </p:sp>
      <p:sp>
        <p:nvSpPr>
          <p:cNvPr id="17" name="TextBox 16"/>
          <p:cNvSpPr txBox="1"/>
          <p:nvPr/>
        </p:nvSpPr>
        <p:spPr>
          <a:xfrm>
            <a:off x="4636007" y="3566160"/>
            <a:ext cx="2286000" cy="274320"/>
          </a:xfrm>
          <a:prstGeom prst="rect">
            <a:avLst/>
          </a:prstGeom>
          <a:noFill/>
        </p:spPr>
        <p:txBody>
          <a:bodyPr wrap="square" anchor="t" lIns="0" rIns="0" tIns="0" bIns="0">
            <a:spAutoFit/>
          </a:bodyPr>
          <a:lstStyle/>
          <a:p>
            <a:pPr algn="r">
              <a:spcBef>
                <a:spcPts val="0"/>
              </a:spcBef>
              <a:spcAft>
                <a:spcPts val="0"/>
              </a:spcAft>
            </a:pPr>
            <a:r>
              <a:rPr sz="850" b="0" i="0" spc="100">
                <a:solidFill>
                  <a:srgbClr val="7A939E"/>
                </a:solidFill>
                <a:latin typeface="Consolas"/>
              </a:rPr>
              <a:t>BEFORE LONG CONTEXT</a:t>
            </a:r>
          </a:p>
        </p:txBody>
      </p:sp>
      <p:sp>
        <p:nvSpPr>
          <p:cNvPr id="18" name="Rounded Rectangle 17"/>
          <p:cNvSpPr/>
          <p:nvPr/>
        </p:nvSpPr>
        <p:spPr>
          <a:xfrm>
            <a:off x="658368" y="3959352"/>
            <a:ext cx="6400800" cy="420624"/>
          </a:xfrm>
          <a:prstGeom prst="roundRect">
            <a:avLst>
              <a:gd name="adj" fmla="val 12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804672" y="4059935"/>
            <a:ext cx="274320" cy="274320"/>
          </a:xfrm>
          <a:prstGeom prst="rect">
            <a:avLst/>
          </a:prstGeom>
          <a:noFill/>
        </p:spPr>
        <p:txBody>
          <a:bodyPr wrap="square" anchor="t" lIns="0" rIns="0" tIns="0" bIns="0">
            <a:spAutoFit/>
          </a:bodyPr>
          <a:lstStyle/>
          <a:p>
            <a:pPr>
              <a:spcBef>
                <a:spcPts val="0"/>
              </a:spcBef>
              <a:spcAft>
                <a:spcPts val="0"/>
              </a:spcAft>
            </a:pPr>
            <a:r>
              <a:rPr sz="900" b="1" i="0">
                <a:solidFill>
                  <a:srgbClr val="556E79"/>
                </a:solidFill>
                <a:latin typeface="Consolas"/>
              </a:rPr>
              <a:t>4</a:t>
            </a:r>
          </a:p>
        </p:txBody>
      </p:sp>
      <p:sp>
        <p:nvSpPr>
          <p:cNvPr id="20" name="TextBox 19"/>
          <p:cNvSpPr txBox="1"/>
          <p:nvPr/>
        </p:nvSpPr>
        <p:spPr>
          <a:xfrm>
            <a:off x="1097280" y="4041647"/>
            <a:ext cx="3566160" cy="274320"/>
          </a:xfrm>
          <a:prstGeom prst="rect">
            <a:avLst/>
          </a:prstGeom>
          <a:noFill/>
        </p:spPr>
        <p:txBody>
          <a:bodyPr wrap="square" anchor="t" lIns="0" rIns="0" tIns="0" bIns="0">
            <a:spAutoFit/>
          </a:bodyPr>
          <a:lstStyle/>
          <a:p>
            <a:pPr>
              <a:spcBef>
                <a:spcPts val="0"/>
              </a:spcBef>
              <a:spcAft>
                <a:spcPts val="0"/>
              </a:spcAft>
            </a:pPr>
            <a:r>
              <a:rPr sz="1200" b="1" i="0">
                <a:solidFill>
                  <a:srgbClr val="E9F2F4"/>
                </a:solidFill>
                <a:latin typeface="Segoe UI"/>
              </a:rPr>
              <a:t>Small private model</a:t>
            </a:r>
          </a:p>
        </p:txBody>
      </p:sp>
      <p:sp>
        <p:nvSpPr>
          <p:cNvPr id="21" name="TextBox 20"/>
          <p:cNvSpPr txBox="1"/>
          <p:nvPr/>
        </p:nvSpPr>
        <p:spPr>
          <a:xfrm>
            <a:off x="4636007" y="4069080"/>
            <a:ext cx="2286000" cy="274320"/>
          </a:xfrm>
          <a:prstGeom prst="rect">
            <a:avLst/>
          </a:prstGeom>
          <a:noFill/>
        </p:spPr>
        <p:txBody>
          <a:bodyPr wrap="square" anchor="t" lIns="0" rIns="0" tIns="0" bIns="0">
            <a:spAutoFit/>
          </a:bodyPr>
          <a:lstStyle/>
          <a:p>
            <a:pPr algn="r">
              <a:spcBef>
                <a:spcPts val="0"/>
              </a:spcBef>
              <a:spcAft>
                <a:spcPts val="0"/>
              </a:spcAft>
            </a:pPr>
            <a:r>
              <a:rPr sz="850" b="0" i="0" spc="100">
                <a:solidFill>
                  <a:srgbClr val="7A939E"/>
                </a:solidFill>
                <a:latin typeface="Consolas"/>
              </a:rPr>
              <a:t>CLASSIFICATION</a:t>
            </a:r>
          </a:p>
        </p:txBody>
      </p:sp>
      <p:sp>
        <p:nvSpPr>
          <p:cNvPr id="22" name="Rounded Rectangle 21"/>
          <p:cNvSpPr/>
          <p:nvPr/>
        </p:nvSpPr>
        <p:spPr>
          <a:xfrm>
            <a:off x="658368" y="4462271"/>
            <a:ext cx="6400800" cy="420624"/>
          </a:xfrm>
          <a:prstGeom prst="roundRect">
            <a:avLst>
              <a:gd name="adj" fmla="val 12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04672" y="4562856"/>
            <a:ext cx="274320" cy="274320"/>
          </a:xfrm>
          <a:prstGeom prst="rect">
            <a:avLst/>
          </a:prstGeom>
          <a:noFill/>
        </p:spPr>
        <p:txBody>
          <a:bodyPr wrap="square" anchor="t" lIns="0" rIns="0" tIns="0" bIns="0">
            <a:spAutoFit/>
          </a:bodyPr>
          <a:lstStyle/>
          <a:p>
            <a:pPr>
              <a:spcBef>
                <a:spcPts val="0"/>
              </a:spcBef>
              <a:spcAft>
                <a:spcPts val="0"/>
              </a:spcAft>
            </a:pPr>
            <a:r>
              <a:rPr sz="900" b="1" i="0">
                <a:solidFill>
                  <a:srgbClr val="556E79"/>
                </a:solidFill>
                <a:latin typeface="Consolas"/>
              </a:rPr>
              <a:t>5</a:t>
            </a:r>
          </a:p>
        </p:txBody>
      </p:sp>
      <p:sp>
        <p:nvSpPr>
          <p:cNvPr id="24" name="TextBox 23"/>
          <p:cNvSpPr txBox="1"/>
          <p:nvPr/>
        </p:nvSpPr>
        <p:spPr>
          <a:xfrm>
            <a:off x="1097280" y="4544567"/>
            <a:ext cx="3566160" cy="274320"/>
          </a:xfrm>
          <a:prstGeom prst="rect">
            <a:avLst/>
          </a:prstGeom>
          <a:noFill/>
        </p:spPr>
        <p:txBody>
          <a:bodyPr wrap="square" anchor="t" lIns="0" rIns="0" tIns="0" bIns="0">
            <a:spAutoFit/>
          </a:bodyPr>
          <a:lstStyle/>
          <a:p>
            <a:pPr>
              <a:spcBef>
                <a:spcPts val="0"/>
              </a:spcBef>
              <a:spcAft>
                <a:spcPts val="0"/>
              </a:spcAft>
            </a:pPr>
            <a:r>
              <a:rPr sz="1200" b="1" i="0">
                <a:solidFill>
                  <a:srgbClr val="E9F2F4"/>
                </a:solidFill>
                <a:latin typeface="Segoe UI"/>
              </a:rPr>
              <a:t>Private reasoning model</a:t>
            </a:r>
          </a:p>
        </p:txBody>
      </p:sp>
      <p:sp>
        <p:nvSpPr>
          <p:cNvPr id="25" name="TextBox 24"/>
          <p:cNvSpPr txBox="1"/>
          <p:nvPr/>
        </p:nvSpPr>
        <p:spPr>
          <a:xfrm>
            <a:off x="4636007" y="4572000"/>
            <a:ext cx="2286000" cy="274320"/>
          </a:xfrm>
          <a:prstGeom prst="rect">
            <a:avLst/>
          </a:prstGeom>
          <a:noFill/>
        </p:spPr>
        <p:txBody>
          <a:bodyPr wrap="square" anchor="t" lIns="0" rIns="0" tIns="0" bIns="0">
            <a:spAutoFit/>
          </a:bodyPr>
          <a:lstStyle/>
          <a:p>
            <a:pPr algn="r">
              <a:spcBef>
                <a:spcPts val="0"/>
              </a:spcBef>
              <a:spcAft>
                <a:spcPts val="0"/>
              </a:spcAft>
            </a:pPr>
            <a:r>
              <a:rPr sz="850" b="0" i="0" spc="100">
                <a:solidFill>
                  <a:srgbClr val="7A939E"/>
                </a:solidFill>
                <a:latin typeface="Consolas"/>
              </a:rPr>
              <a:t>EXTRACTION</a:t>
            </a:r>
          </a:p>
        </p:txBody>
      </p:sp>
      <p:sp>
        <p:nvSpPr>
          <p:cNvPr id="26" name="Rounded Rectangle 25"/>
          <p:cNvSpPr/>
          <p:nvPr/>
        </p:nvSpPr>
        <p:spPr>
          <a:xfrm>
            <a:off x="658368" y="4965192"/>
            <a:ext cx="6400800" cy="420624"/>
          </a:xfrm>
          <a:prstGeom prst="roundRect">
            <a:avLst>
              <a:gd name="adj" fmla="val 12000"/>
            </a:avLst>
          </a:prstGeom>
          <a:solidFill>
            <a:srgbClr val="2A2110"/>
          </a:solidFill>
          <a:ln w="9525">
            <a:solidFill>
              <a:srgbClr val="E0A85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804672" y="5065776"/>
            <a:ext cx="274320" cy="274320"/>
          </a:xfrm>
          <a:prstGeom prst="rect">
            <a:avLst/>
          </a:prstGeom>
          <a:noFill/>
        </p:spPr>
        <p:txBody>
          <a:bodyPr wrap="square" anchor="t" lIns="0" rIns="0" tIns="0" bIns="0">
            <a:spAutoFit/>
          </a:bodyPr>
          <a:lstStyle/>
          <a:p>
            <a:pPr>
              <a:spcBef>
                <a:spcPts val="0"/>
              </a:spcBef>
              <a:spcAft>
                <a:spcPts val="0"/>
              </a:spcAft>
            </a:pPr>
            <a:r>
              <a:rPr sz="900" b="1" i="0">
                <a:solidFill>
                  <a:srgbClr val="556E79"/>
                </a:solidFill>
                <a:latin typeface="Consolas"/>
              </a:rPr>
              <a:t>6</a:t>
            </a:r>
          </a:p>
        </p:txBody>
      </p:sp>
      <p:sp>
        <p:nvSpPr>
          <p:cNvPr id="28" name="TextBox 27"/>
          <p:cNvSpPr txBox="1"/>
          <p:nvPr/>
        </p:nvSpPr>
        <p:spPr>
          <a:xfrm>
            <a:off x="1097280" y="5047488"/>
            <a:ext cx="3566160" cy="274320"/>
          </a:xfrm>
          <a:prstGeom prst="rect">
            <a:avLst/>
          </a:prstGeom>
          <a:noFill/>
        </p:spPr>
        <p:txBody>
          <a:bodyPr wrap="square" anchor="t" lIns="0" rIns="0" tIns="0" bIns="0">
            <a:spAutoFit/>
          </a:bodyPr>
          <a:lstStyle/>
          <a:p>
            <a:pPr>
              <a:spcBef>
                <a:spcPts val="0"/>
              </a:spcBef>
              <a:spcAft>
                <a:spcPts val="0"/>
              </a:spcAft>
            </a:pPr>
            <a:r>
              <a:rPr sz="1200" b="1" i="0">
                <a:solidFill>
                  <a:srgbClr val="E9F2F4"/>
                </a:solidFill>
                <a:latin typeface="Segoe UI"/>
              </a:rPr>
              <a:t>Frontier model</a:t>
            </a:r>
          </a:p>
        </p:txBody>
      </p:sp>
      <p:sp>
        <p:nvSpPr>
          <p:cNvPr id="29" name="TextBox 28"/>
          <p:cNvSpPr txBox="1"/>
          <p:nvPr/>
        </p:nvSpPr>
        <p:spPr>
          <a:xfrm>
            <a:off x="4636007" y="5074920"/>
            <a:ext cx="2286000" cy="274320"/>
          </a:xfrm>
          <a:prstGeom prst="rect">
            <a:avLst/>
          </a:prstGeom>
          <a:noFill/>
        </p:spPr>
        <p:txBody>
          <a:bodyPr wrap="square" anchor="t" lIns="0" rIns="0" tIns="0" bIns="0">
            <a:spAutoFit/>
          </a:bodyPr>
          <a:lstStyle/>
          <a:p>
            <a:pPr algn="r">
              <a:spcBef>
                <a:spcPts val="0"/>
              </a:spcBef>
              <a:spcAft>
                <a:spcPts val="0"/>
              </a:spcAft>
            </a:pPr>
            <a:r>
              <a:rPr sz="850" b="0" i="0" spc="100">
                <a:solidFill>
                  <a:srgbClr val="E0A85A"/>
                </a:solidFill>
                <a:latin typeface="Consolas"/>
              </a:rPr>
              <a:t>ESCALATION ONLY</a:t>
            </a:r>
          </a:p>
        </p:txBody>
      </p:sp>
      <p:sp>
        <p:nvSpPr>
          <p:cNvPr id="30" name="Rounded Rectangle 29"/>
          <p:cNvSpPr/>
          <p:nvPr/>
        </p:nvSpPr>
        <p:spPr>
          <a:xfrm>
            <a:off x="7360920" y="1655064"/>
            <a:ext cx="4169663" cy="1298448"/>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7516368" y="1792224"/>
            <a:ext cx="3858768" cy="1024127"/>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MODEL INDEPENDENCE</a:t>
            </a:r>
          </a:p>
          <a:p>
            <a:pPr>
              <a:lnSpc>
                <a:spcPct val="140000"/>
              </a:lnSpc>
              <a:spcBef>
                <a:spcPts val="0"/>
              </a:spcBef>
              <a:spcAft>
                <a:spcPts val="0"/>
              </a:spcAft>
            </a:pPr>
            <a:r>
              <a:rPr sz="1100" b="0" i="0">
                <a:solidFill>
                  <a:srgbClr val="A8C0C8"/>
                </a:solidFill>
                <a:latin typeface="Segoe UI"/>
              </a:rPr>
              <a:t>Code references aliases — </a:t>
            </a:r>
            <a:r>
              <a:rPr sz="1000" b="0" i="0">
                <a:solidFill>
                  <a:srgbClr val="E9F2F4"/>
                </a:solidFill>
                <a:latin typeface="Consolas"/>
              </a:rPr>
              <a:t>preckon-reasoning</a:t>
            </a:r>
            <a:r>
              <a:rPr sz="1100" b="0" i="0">
                <a:solidFill>
                  <a:srgbClr val="A8C0C8"/>
                </a:solidFill>
                <a:latin typeface="Segoe UI"/>
              </a:rPr>
              <a:t> — never a vendor. Swapping providers is a registry change.</a:t>
            </a:r>
          </a:p>
        </p:txBody>
      </p:sp>
      <p:sp>
        <p:nvSpPr>
          <p:cNvPr id="32" name="Rounded Rectangle 31"/>
          <p:cNvSpPr/>
          <p:nvPr/>
        </p:nvSpPr>
        <p:spPr>
          <a:xfrm>
            <a:off x="7360920" y="3118104"/>
            <a:ext cx="4169663" cy="118872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516368" y="3255264"/>
            <a:ext cx="3858768" cy="91440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POLICY BEATS CAPABILITY</a:t>
            </a:r>
          </a:p>
          <a:p>
            <a:pPr>
              <a:lnSpc>
                <a:spcPct val="140000"/>
              </a:lnSpc>
              <a:spcBef>
                <a:spcPts val="0"/>
              </a:spcBef>
              <a:spcAft>
                <a:spcPts val="0"/>
              </a:spcAft>
            </a:pPr>
            <a:r>
              <a:rPr sz="1100" b="0" i="0">
                <a:solidFill>
                  <a:srgbClr val="A8C0C8"/>
                </a:solidFill>
                <a:latin typeface="Segoe UI"/>
              </a:rPr>
              <a:t>A restricted document does not leave its approved boundary because an external model happens to be better at the task.</a:t>
            </a:r>
          </a:p>
        </p:txBody>
      </p:sp>
      <p:sp>
        <p:nvSpPr>
          <p:cNvPr id="34" name="Rounded Rectangle 33"/>
          <p:cNvSpPr/>
          <p:nvPr/>
        </p:nvSpPr>
        <p:spPr>
          <a:xfrm>
            <a:off x="7360920" y="4471416"/>
            <a:ext cx="4169663" cy="1298448"/>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516368" y="4608576"/>
            <a:ext cx="3858768" cy="1024127"/>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EVERY CALL HAS ECONOMICS</a:t>
            </a:r>
          </a:p>
          <a:p>
            <a:pPr>
              <a:lnSpc>
                <a:spcPct val="140000"/>
              </a:lnSpc>
              <a:spcBef>
                <a:spcPts val="0"/>
              </a:spcBef>
              <a:spcAft>
                <a:spcPts val="0"/>
              </a:spcAft>
            </a:pPr>
            <a:r>
              <a:rPr sz="1100" b="0" i="0">
                <a:solidFill>
                  <a:srgbClr val="A8C0C8"/>
                </a:solidFill>
                <a:latin typeface="Segoe UI"/>
              </a:rPr>
              <a:t>Attributed per attempt to tenant, project, user, module, route, tokens and cost. AI spend is a product KPI, not an invoice surprise.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4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4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0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4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0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0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0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0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400"/>
                                        <p:tgtEl>
                                          <p:spTgt spid="20"/>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40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0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0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00"/>
                                        <p:tgtEl>
                                          <p:spTgt spid="2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400"/>
                                        <p:tgtEl>
                                          <p:spTgt spid="26"/>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400"/>
                                        <p:tgtEl>
                                          <p:spTgt spid="27"/>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400"/>
                                        <p:tgtEl>
                                          <p:spTgt spid="28"/>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400"/>
                                        <p:tgtEl>
                                          <p:spTgt spid="29"/>
                                        </p:tgtEl>
                                      </p:cBhvr>
                                    </p:animEffect>
                                  </p:childTnLst>
                                </p:cTn>
                              </p:par>
                            </p:childTnLst>
                          </p:cTn>
                        </p:par>
                      </p:childTnLst>
                    </p:cTn>
                  </p:par>
                  <p:par>
                    <p:cTn id="87" fill="hold">
                      <p:stCondLst>
                        <p:cond delay="indefinite"/>
                      </p:stCondLst>
                      <p:childTnLst>
                        <p:par>
                          <p:cTn id="88" fill="hold">
                            <p:stCondLst>
                              <p:cond delay="0"/>
                            </p:stCondLst>
                            <p:childTnLst>
                              <p:par>
                                <p:cTn id="89" presetID="10" presetClass="entr" presetSubtype="0" fill="hold" grpId="0" nodeType="clickEffect">
                                  <p:stCondLst>
                                    <p:cond delay="0"/>
                                  </p:stCondLst>
                                  <p:childTnLst>
                                    <p:set>
                                      <p:cBhvr>
                                        <p:cTn id="90" dur="1" fill="hold">
                                          <p:stCondLst>
                                            <p:cond delay="0"/>
                                          </p:stCondLst>
                                        </p:cTn>
                                        <p:tgtEl>
                                          <p:spTgt spid="30"/>
                                        </p:tgtEl>
                                        <p:attrNameLst>
                                          <p:attrName>style.visibility</p:attrName>
                                        </p:attrNameLst>
                                      </p:cBhvr>
                                      <p:to>
                                        <p:strVal val="visible"/>
                                      </p:to>
                                    </p:set>
                                    <p:animEffect transition="in" filter="fade">
                                      <p:cBhvr>
                                        <p:cTn id="91" dur="400"/>
                                        <p:tgtEl>
                                          <p:spTgt spid="30"/>
                                        </p:tgtEl>
                                      </p:cBhvr>
                                    </p:animEffect>
                                  </p:childTnLst>
                                </p:cTn>
                              </p:par>
                            </p:childTnLst>
                          </p:cTn>
                        </p:par>
                      </p:childTnLst>
                    </p:cTn>
                  </p:par>
                  <p:par>
                    <p:cTn id="92" fill="hold">
                      <p:stCondLst>
                        <p:cond delay="indefinite"/>
                      </p:stCondLst>
                      <p:childTnLst>
                        <p:par>
                          <p:cTn id="93" fill="hold">
                            <p:stCondLst>
                              <p:cond delay="0"/>
                            </p:stCondLst>
                            <p:childTnLst>
                              <p:par>
                                <p:cTn id="94" presetID="10" presetClass="entr" presetSubtype="0" fill="hold" grpId="0" nodeType="clickEffect">
                                  <p:stCondLst>
                                    <p:cond delay="0"/>
                                  </p:stCondLst>
                                  <p:childTnLst>
                                    <p:set>
                                      <p:cBhvr>
                                        <p:cTn id="95" dur="1" fill="hold">
                                          <p:stCondLst>
                                            <p:cond delay="0"/>
                                          </p:stCondLst>
                                        </p:cTn>
                                        <p:tgtEl>
                                          <p:spTgt spid="32"/>
                                        </p:tgtEl>
                                        <p:attrNameLst>
                                          <p:attrName>style.visibility</p:attrName>
                                        </p:attrNameLst>
                                      </p:cBhvr>
                                      <p:to>
                                        <p:strVal val="visible"/>
                                      </p:to>
                                    </p:set>
                                    <p:animEffect transition="in" filter="fade">
                                      <p:cBhvr>
                                        <p:cTn id="96" dur="400"/>
                                        <p:tgtEl>
                                          <p:spTgt spid="32"/>
                                        </p:tgtEl>
                                      </p:cBhvr>
                                    </p:animEffect>
                                  </p:childTnLst>
                                </p:cTn>
                              </p:par>
                            </p:childTnLst>
                          </p:cTn>
                        </p:par>
                      </p:childTnLst>
                    </p:cTn>
                  </p:par>
                  <p:par>
                    <p:cTn id="97" fill="hold">
                      <p:stCondLst>
                        <p:cond delay="indefinite"/>
                      </p:stCondLst>
                      <p:childTnLst>
                        <p:par>
                          <p:cTn id="98" fill="hold">
                            <p:stCondLst>
                              <p:cond delay="0"/>
                            </p:stCondLst>
                            <p:childTnLst>
                              <p:par>
                                <p:cTn id="99" presetID="10" presetClass="entr" presetSubtype="0" fill="hold" grpId="0" nodeType="click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4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GOVERNANCE  </a:t>
            </a:r>
            <a:r>
              <a:rPr sz="900" b="1" i="0" spc="140">
                <a:solidFill>
                  <a:srgbClr val="3EDCC2"/>
                </a:solidFill>
                <a:latin typeface="Consolas"/>
              </a:rPr>
              <a:t>19  </a:t>
            </a:r>
            <a:r>
              <a:rPr sz="900" b="0" i="0" spc="140">
                <a:solidFill>
                  <a:srgbClr val="7A939E"/>
                </a:solidFill>
                <a:latin typeface="Consolas"/>
              </a:rPr>
              <a:t>TRUST FOUNDATIONS</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874520"/>
            <a:ext cx="932688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A log says what happened. A chain proves nobody changed it since.</a:t>
            </a:r>
          </a:p>
        </p:txBody>
      </p:sp>
      <p:sp>
        <p:nvSpPr>
          <p:cNvPr id="6" name="Rounded Rectangle 5"/>
          <p:cNvSpPr/>
          <p:nvPr/>
        </p:nvSpPr>
        <p:spPr>
          <a:xfrm>
            <a:off x="658368" y="3154680"/>
            <a:ext cx="2622727"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13816" y="3291840"/>
            <a:ext cx="2311831"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AUDIT</a:t>
            </a:r>
          </a:p>
          <a:p>
            <a:pPr>
              <a:spcBef>
                <a:spcPts val="0"/>
              </a:spcBef>
              <a:spcAft>
                <a:spcPts val="500"/>
              </a:spcAft>
            </a:pPr>
            <a:r>
              <a:rPr sz="1250" b="1" i="0">
                <a:solidFill>
                  <a:srgbClr val="E9F2F4"/>
                </a:solidFill>
                <a:latin typeface="Segoe UI"/>
              </a:rPr>
              <a:t>Hash-chained</a:t>
            </a:r>
          </a:p>
          <a:p>
            <a:pPr>
              <a:lnSpc>
                <a:spcPct val="140000"/>
              </a:lnSpc>
              <a:spcBef>
                <a:spcPts val="0"/>
              </a:spcBef>
              <a:spcAft>
                <a:spcPts val="0"/>
              </a:spcAft>
            </a:pPr>
            <a:r>
              <a:rPr sz="1100" b="0" i="0">
                <a:solidFill>
                  <a:srgbClr val="A8C0C8"/>
                </a:solidFill>
                <a:latin typeface="Segoe UI"/>
              </a:rPr>
              <a:t>Append-only, tamper-evident, and verifiable from the interface — one button, in front of the customer.</a:t>
            </a:r>
          </a:p>
        </p:txBody>
      </p:sp>
      <p:sp>
        <p:nvSpPr>
          <p:cNvPr id="8" name="Rounded Rectangle 7"/>
          <p:cNvSpPr/>
          <p:nvPr/>
        </p:nvSpPr>
        <p:spPr>
          <a:xfrm>
            <a:off x="3409111" y="3154680"/>
            <a:ext cx="2622727"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564559" y="3291840"/>
            <a:ext cx="2311831"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ISOLATION</a:t>
            </a:r>
          </a:p>
          <a:p>
            <a:pPr>
              <a:spcBef>
                <a:spcPts val="0"/>
              </a:spcBef>
              <a:spcAft>
                <a:spcPts val="500"/>
              </a:spcAft>
            </a:pPr>
            <a:r>
              <a:rPr sz="1250" b="1" i="0">
                <a:solidFill>
                  <a:srgbClr val="E9F2F4"/>
                </a:solidFill>
                <a:latin typeface="Segoe UI"/>
              </a:rPr>
              <a:t>One choke point</a:t>
            </a:r>
          </a:p>
          <a:p>
            <a:pPr>
              <a:lnSpc>
                <a:spcPct val="140000"/>
              </a:lnSpc>
              <a:spcBef>
                <a:spcPts val="0"/>
              </a:spcBef>
              <a:spcAft>
                <a:spcPts val="0"/>
              </a:spcAft>
            </a:pPr>
            <a:r>
              <a:rPr sz="1100" b="0" i="0">
                <a:solidFill>
                  <a:srgbClr val="A8C0C8"/>
                </a:solidFill>
                <a:latin typeface="Segoe UI"/>
              </a:rPr>
              <a:t>Every tenant-scoped query passes a single enforced path. A cross-tenant read returning zero rows is asserted in the test suite.</a:t>
            </a:r>
          </a:p>
        </p:txBody>
      </p:sp>
      <p:sp>
        <p:nvSpPr>
          <p:cNvPr id="10" name="Rounded Rectangle 9"/>
          <p:cNvSpPr/>
          <p:nvPr/>
        </p:nvSpPr>
        <p:spPr>
          <a:xfrm>
            <a:off x="6159855" y="3154680"/>
            <a:ext cx="2622727"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315303" y="3291840"/>
            <a:ext cx="2311831"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PROVENANCE</a:t>
            </a:r>
          </a:p>
          <a:p>
            <a:pPr>
              <a:spcBef>
                <a:spcPts val="0"/>
              </a:spcBef>
              <a:spcAft>
                <a:spcPts val="500"/>
              </a:spcAft>
            </a:pPr>
            <a:r>
              <a:rPr sz="1250" b="1" i="0">
                <a:solidFill>
                  <a:srgbClr val="E9F2F4"/>
                </a:solidFill>
                <a:latin typeface="Segoe UI"/>
              </a:rPr>
              <a:t>On every derived value</a:t>
            </a:r>
          </a:p>
          <a:p>
            <a:pPr>
              <a:lnSpc>
                <a:spcPct val="140000"/>
              </a:lnSpc>
              <a:spcBef>
                <a:spcPts val="0"/>
              </a:spcBef>
              <a:spcAft>
                <a:spcPts val="0"/>
              </a:spcAft>
            </a:pPr>
            <a:r>
              <a:rPr sz="1100" b="0" i="0">
                <a:solidFill>
                  <a:srgbClr val="A8C0C8"/>
                </a:solidFill>
                <a:latin typeface="Segoe UI"/>
              </a:rPr>
              <a:t>Source, version, rule and model recorded at the moment of derivation, not reconstructed later.</a:t>
            </a:r>
          </a:p>
        </p:txBody>
      </p:sp>
      <p:sp>
        <p:nvSpPr>
          <p:cNvPr id="12" name="Rounded Rectangle 11"/>
          <p:cNvSpPr/>
          <p:nvPr/>
        </p:nvSpPr>
        <p:spPr>
          <a:xfrm>
            <a:off x="8910599" y="3154680"/>
            <a:ext cx="2622727"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066047" y="3291840"/>
            <a:ext cx="2311831"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DURABILITY</a:t>
            </a:r>
          </a:p>
          <a:p>
            <a:pPr>
              <a:spcBef>
                <a:spcPts val="0"/>
              </a:spcBef>
              <a:spcAft>
                <a:spcPts val="500"/>
              </a:spcAft>
            </a:pPr>
            <a:r>
              <a:rPr sz="1250" b="1" i="0">
                <a:solidFill>
                  <a:srgbClr val="E9F2F4"/>
                </a:solidFill>
                <a:latin typeface="Segoe UI"/>
              </a:rPr>
              <a:t>State in the database</a:t>
            </a:r>
          </a:p>
          <a:p>
            <a:pPr>
              <a:lnSpc>
                <a:spcPct val="140000"/>
              </a:lnSpc>
              <a:spcBef>
                <a:spcPts val="0"/>
              </a:spcBef>
              <a:spcAft>
                <a:spcPts val="0"/>
              </a:spcAft>
            </a:pPr>
            <a:r>
              <a:rPr sz="1100" b="0" i="0">
                <a:solidFill>
                  <a:srgbClr val="A8C0C8"/>
                </a:solidFill>
                <a:latin typeface="Segoe UI"/>
              </a:rPr>
              <a:t>Jobs, gates and re-plans are durable rows, not in-memory queues. A restart resumes; it does not lose the run.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INTEGRATION  </a:t>
            </a:r>
            <a:r>
              <a:rPr sz="900" b="1" i="0" spc="140">
                <a:solidFill>
                  <a:srgbClr val="3EDCC2"/>
                </a:solidFill>
                <a:latin typeface="Consolas"/>
              </a:rPr>
              <a:t>20  </a:t>
            </a:r>
            <a:r>
              <a:rPr sz="900" b="0" i="0" spc="140">
                <a:solidFill>
                  <a:srgbClr val="7A939E"/>
                </a:solidFill>
                <a:latin typeface="Consolas"/>
              </a:rPr>
              <a:t>THE SURFACE</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13332"/>
            <a:ext cx="9601200" cy="1463040"/>
          </a:xfrm>
          <a:prstGeom prst="rect">
            <a:avLst/>
          </a:prstGeom>
          <a:noFill/>
        </p:spPr>
        <p:txBody>
          <a:bodyPr wrap="square" anchor="t" lIns="0" rIns="0" tIns="0" bIns="0">
            <a:spAutoFit/>
          </a:bodyPr>
          <a:lstStyle/>
          <a:p>
            <a:pPr>
              <a:lnSpc>
                <a:spcPct val="112000"/>
              </a:lnSpc>
              <a:spcBef>
                <a:spcPts val="0"/>
              </a:spcBef>
              <a:spcAft>
                <a:spcPts val="0"/>
              </a:spcAft>
            </a:pPr>
            <a:r>
              <a:rPr sz="2500" b="1" i="0">
                <a:solidFill>
                  <a:srgbClr val="E9F2F4"/>
                </a:solidFill>
                <a:latin typeface="Segoe UI"/>
              </a:rPr>
              <a:t>Integration is a product capability, not a services engagement.</a:t>
            </a:r>
          </a:p>
        </p:txBody>
      </p:sp>
      <p:sp>
        <p:nvSpPr>
          <p:cNvPr id="6" name="Rounded Rectangle 5"/>
          <p:cNvSpPr/>
          <p:nvPr/>
        </p:nvSpPr>
        <p:spPr>
          <a:xfrm>
            <a:off x="658368" y="2290571"/>
            <a:ext cx="2622727" cy="233172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13816" y="2427731"/>
            <a:ext cx="2311831" cy="205740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FILES IN</a:t>
            </a:r>
          </a:p>
          <a:p>
            <a:pPr>
              <a:spcBef>
                <a:spcPts val="0"/>
              </a:spcBef>
              <a:spcAft>
                <a:spcPts val="500"/>
              </a:spcAft>
            </a:pPr>
            <a:r>
              <a:rPr sz="1250" b="1" i="0">
                <a:solidFill>
                  <a:srgbClr val="E9F2F4"/>
                </a:solidFill>
                <a:latin typeface="Segoe UI"/>
              </a:rPr>
              <a:t>Read once, hashed</a:t>
            </a:r>
          </a:p>
          <a:p>
            <a:pPr>
              <a:lnSpc>
                <a:spcPct val="140000"/>
              </a:lnSpc>
              <a:spcBef>
                <a:spcPts val="0"/>
              </a:spcBef>
              <a:spcAft>
                <a:spcPts val="0"/>
              </a:spcAft>
            </a:pPr>
            <a:r>
              <a:rPr sz="1050" b="0" i="0">
                <a:solidFill>
                  <a:srgbClr val="A8C0C8"/>
                </a:solidFill>
                <a:latin typeface="Segoe UI"/>
              </a:rPr>
              <a:t>PDF · DWG · DXF · IFC · Excel · CSV · P6 XER · images. Ingested once, content-hashed, and processed revision-aware so a re-issue costs a diff, not a re-read.</a:t>
            </a:r>
          </a:p>
        </p:txBody>
      </p:sp>
      <p:sp>
        <p:nvSpPr>
          <p:cNvPr id="8" name="Rounded Rectangle 7"/>
          <p:cNvSpPr/>
          <p:nvPr/>
        </p:nvSpPr>
        <p:spPr>
          <a:xfrm>
            <a:off x="3409111" y="2290571"/>
            <a:ext cx="2622727" cy="233172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564559" y="2427731"/>
            <a:ext cx="2311831" cy="205740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SYSTEMS</a:t>
            </a:r>
          </a:p>
          <a:p>
            <a:pPr>
              <a:spcBef>
                <a:spcPts val="0"/>
              </a:spcBef>
              <a:spcAft>
                <a:spcPts val="500"/>
              </a:spcAft>
            </a:pPr>
            <a:r>
              <a:rPr sz="1250" b="1" i="0">
                <a:solidFill>
                  <a:srgbClr val="E9F2F4"/>
                </a:solidFill>
                <a:latin typeface="Segoe UI"/>
              </a:rPr>
              <a:t>Both directions</a:t>
            </a:r>
          </a:p>
          <a:p>
            <a:pPr>
              <a:lnSpc>
                <a:spcPct val="140000"/>
              </a:lnSpc>
              <a:spcBef>
                <a:spcPts val="0"/>
              </a:spcBef>
              <a:spcAft>
                <a:spcPts val="0"/>
              </a:spcAft>
            </a:pPr>
            <a:r>
              <a:rPr sz="1050" b="0" i="0">
                <a:solidFill>
                  <a:srgbClr val="A8C0C8"/>
                </a:solidFill>
                <a:latin typeface="Segoe UI"/>
              </a:rPr>
              <a:t>ERP and accounting · Autodesk and other CDEs · Primavera · document platforms · email. Connectors are built against a published SDK.</a:t>
            </a:r>
          </a:p>
        </p:txBody>
      </p:sp>
      <p:sp>
        <p:nvSpPr>
          <p:cNvPr id="10" name="Rounded Rectangle 9"/>
          <p:cNvSpPr/>
          <p:nvPr/>
        </p:nvSpPr>
        <p:spPr>
          <a:xfrm>
            <a:off x="6159855" y="2290571"/>
            <a:ext cx="2622727" cy="233172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315303" y="2427731"/>
            <a:ext cx="2311831" cy="205740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API</a:t>
            </a:r>
          </a:p>
          <a:p>
            <a:pPr>
              <a:spcBef>
                <a:spcPts val="0"/>
              </a:spcBef>
              <a:spcAft>
                <a:spcPts val="500"/>
              </a:spcAft>
            </a:pPr>
            <a:r>
              <a:rPr sz="1250" b="1" i="0">
                <a:solidFill>
                  <a:srgbClr val="E9F2F4"/>
                </a:solidFill>
                <a:latin typeface="Segoe UI"/>
              </a:rPr>
              <a:t>90 routes, typed</a:t>
            </a:r>
          </a:p>
          <a:p>
            <a:pPr>
              <a:lnSpc>
                <a:spcPct val="140000"/>
              </a:lnSpc>
              <a:spcBef>
                <a:spcPts val="0"/>
              </a:spcBef>
              <a:spcAft>
                <a:spcPts val="0"/>
              </a:spcAft>
            </a:pPr>
            <a:r>
              <a:rPr sz="1050" b="0" i="0">
                <a:solidFill>
                  <a:srgbClr val="A8C0C8"/>
                </a:solidFill>
                <a:latin typeface="Segoe UI"/>
              </a:rPr>
              <a:t>Stable global object IDs, JSON schemas, idempotent commands, optimistic concurrency, and asynchronous jobs for anything heavy.</a:t>
            </a:r>
          </a:p>
        </p:txBody>
      </p:sp>
      <p:sp>
        <p:nvSpPr>
          <p:cNvPr id="12" name="Rounded Rectangle 11"/>
          <p:cNvSpPr/>
          <p:nvPr/>
        </p:nvSpPr>
        <p:spPr>
          <a:xfrm>
            <a:off x="8910599" y="2290571"/>
            <a:ext cx="2622727" cy="233172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066047" y="2427731"/>
            <a:ext cx="2311831" cy="205740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EVENTS</a:t>
            </a:r>
          </a:p>
          <a:p>
            <a:pPr>
              <a:spcBef>
                <a:spcPts val="0"/>
              </a:spcBef>
              <a:spcAft>
                <a:spcPts val="500"/>
              </a:spcAft>
            </a:pPr>
            <a:r>
              <a:rPr sz="1250" b="1" i="0">
                <a:solidFill>
                  <a:srgbClr val="E9F2F4"/>
                </a:solidFill>
                <a:latin typeface="Segoe UI"/>
              </a:rPr>
              <a:t>Outbox, then webhook</a:t>
            </a:r>
          </a:p>
          <a:p>
            <a:pPr>
              <a:lnSpc>
                <a:spcPct val="140000"/>
              </a:lnSpc>
              <a:spcBef>
                <a:spcPts val="0"/>
              </a:spcBef>
              <a:spcAft>
                <a:spcPts val="0"/>
              </a:spcAft>
            </a:pPr>
            <a:r>
              <a:rPr sz="1050" b="0" i="0">
                <a:solidFill>
                  <a:srgbClr val="A8C0C8"/>
                </a:solidFill>
                <a:latin typeface="Segoe UI"/>
              </a:rPr>
              <a:t>DrawingRevised · QuantityChanged · BOQChanged · CostImpactDetected · SubmittalAffected. Your systems react rather than poll.</a:t>
            </a:r>
          </a:p>
        </p:txBody>
      </p:sp>
      <p:sp>
        <p:nvSpPr>
          <p:cNvPr id="14" name="TextBox 13"/>
          <p:cNvSpPr txBox="1"/>
          <p:nvPr/>
        </p:nvSpPr>
        <p:spPr>
          <a:xfrm>
            <a:off x="658368" y="4942332"/>
            <a:ext cx="10607040" cy="914400"/>
          </a:xfrm>
          <a:prstGeom prst="rect">
            <a:avLst/>
          </a:prstGeom>
          <a:noFill/>
        </p:spPr>
        <p:txBody>
          <a:bodyPr wrap="square" anchor="t" lIns="0" rIns="0" tIns="0" bIns="0">
            <a:spAutoFit/>
          </a:bodyPr>
          <a:lstStyle/>
          <a:p>
            <a:pPr>
              <a:lnSpc>
                <a:spcPct val="145000"/>
              </a:lnSpc>
              <a:spcBef>
                <a:spcPts val="0"/>
              </a:spcBef>
              <a:spcAft>
                <a:spcPts val="800"/>
              </a:spcAft>
            </a:pPr>
            <a:r>
              <a:rPr sz="1250" b="0" i="0">
                <a:solidFill>
                  <a:srgbClr val="A8C0C8"/>
                </a:solidFill>
                <a:latin typeface="Segoe UI"/>
              </a:rPr>
              <a:t>Every export is also how the modules talk to each other internally — which is the reason it has to be complete rather than a retention feature bolted on at the end. </a:t>
            </a:r>
            <a:r>
              <a:rPr sz="1250" b="0" i="0">
                <a:solidFill>
                  <a:srgbClr val="E0A85A"/>
                </a:solidFill>
                <a:latin typeface="Segoe UI"/>
              </a:rPr>
              <a:t>Honest gap: P6 import, calendars and baselines are specified but not yet built. </a:t>
            </a:r>
            <a:r>
              <a:rPr sz="1250" b="0" i="0">
                <a:solidFill>
                  <a:srgbClr val="A8C0C8"/>
                </a:solidFill>
                <a:latin typeface="Segoe UI"/>
              </a:rPr>
              <a:t>The critical-path engine underneath them is real and running.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INTEGRATION  </a:t>
            </a:r>
            <a:r>
              <a:rPr sz="900" b="1" i="0" spc="140">
                <a:solidFill>
                  <a:srgbClr val="3EDCC2"/>
                </a:solidFill>
                <a:latin typeface="Consolas"/>
              </a:rPr>
              <a:t>21  </a:t>
            </a:r>
            <a:r>
              <a:rPr sz="900" b="0" i="0" spc="140">
                <a:solidFill>
                  <a:srgbClr val="7A939E"/>
                </a:solidFill>
                <a:latin typeface="Consolas"/>
              </a:rPr>
              <a:t>HOW ADOPTION ACTUALLY GOES</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604772"/>
            <a:ext cx="9144000" cy="1463040"/>
          </a:xfrm>
          <a:prstGeom prst="rect">
            <a:avLst/>
          </a:prstGeom>
          <a:noFill/>
        </p:spPr>
        <p:txBody>
          <a:bodyPr wrap="square" anchor="t" lIns="0" rIns="0" tIns="0" bIns="0">
            <a:spAutoFit/>
          </a:bodyPr>
          <a:lstStyle/>
          <a:p>
            <a:pPr>
              <a:lnSpc>
                <a:spcPct val="112000"/>
              </a:lnSpc>
              <a:spcBef>
                <a:spcPts val="0"/>
              </a:spcBef>
              <a:spcAft>
                <a:spcPts val="0"/>
              </a:spcAft>
            </a:pPr>
            <a:r>
              <a:rPr sz="2600" b="1" i="0">
                <a:solidFill>
                  <a:srgbClr val="E9F2F4"/>
                </a:solidFill>
                <a:latin typeface="Segoe UI"/>
              </a:rPr>
              <a:t>Nothing gets switched off in month one.</a:t>
            </a:r>
          </a:p>
        </p:txBody>
      </p:sp>
      <p:sp>
        <p:nvSpPr>
          <p:cNvPr id="6" name="Rounded Rectangle 5"/>
          <p:cNvSpPr/>
          <p:nvPr/>
        </p:nvSpPr>
        <p:spPr>
          <a:xfrm>
            <a:off x="658368" y="2290572"/>
            <a:ext cx="3515258" cy="21488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13816" y="2427732"/>
            <a:ext cx="3204362" cy="187452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PHASE A · NOW</a:t>
            </a:r>
          </a:p>
          <a:p>
            <a:pPr>
              <a:spcBef>
                <a:spcPts val="0"/>
              </a:spcBef>
              <a:spcAft>
                <a:spcPts val="500"/>
              </a:spcAft>
            </a:pPr>
            <a:r>
              <a:rPr sz="1250" b="1" i="0">
                <a:solidFill>
                  <a:srgbClr val="E9F2F4"/>
                </a:solidFill>
                <a:latin typeface="Segoe UI"/>
              </a:rPr>
              <a:t>Coexist</a:t>
            </a:r>
          </a:p>
          <a:p>
            <a:pPr>
              <a:lnSpc>
                <a:spcPct val="140000"/>
              </a:lnSpc>
              <a:spcBef>
                <a:spcPts val="0"/>
              </a:spcBef>
              <a:spcAft>
                <a:spcPts val="0"/>
              </a:spcAft>
            </a:pPr>
            <a:r>
              <a:rPr sz="1150" b="0" i="0">
                <a:solidFill>
                  <a:srgbClr val="A8C0C8"/>
                </a:solidFill>
                <a:latin typeface="Segoe UI"/>
              </a:rPr>
              <a:t>Preckon reads and writes against what you already run. It adds a layer and takes nothing away. This is where a pilot lives.</a:t>
            </a:r>
          </a:p>
        </p:txBody>
      </p:sp>
      <p:sp>
        <p:nvSpPr>
          <p:cNvPr id="8" name="Rounded Rectangle 7"/>
          <p:cNvSpPr/>
          <p:nvPr/>
        </p:nvSpPr>
        <p:spPr>
          <a:xfrm>
            <a:off x="4338218" y="2290572"/>
            <a:ext cx="3515258" cy="21488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4493666" y="2427732"/>
            <a:ext cx="3204362" cy="187452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PHASE B</a:t>
            </a:r>
          </a:p>
          <a:p>
            <a:pPr>
              <a:spcBef>
                <a:spcPts val="0"/>
              </a:spcBef>
              <a:spcAft>
                <a:spcPts val="500"/>
              </a:spcAft>
            </a:pPr>
            <a:r>
              <a:rPr sz="1250" b="1" i="0">
                <a:solidFill>
                  <a:srgbClr val="E9F2F4"/>
                </a:solidFill>
                <a:latin typeface="Segoe UI"/>
              </a:rPr>
              <a:t>Reduce dependency</a:t>
            </a:r>
          </a:p>
          <a:p>
            <a:pPr>
              <a:lnSpc>
                <a:spcPct val="140000"/>
              </a:lnSpc>
              <a:spcBef>
                <a:spcPts val="0"/>
              </a:spcBef>
              <a:spcAft>
                <a:spcPts val="0"/>
              </a:spcAft>
            </a:pPr>
            <a:r>
              <a:rPr sz="1150" b="0" i="0">
                <a:solidFill>
                  <a:srgbClr val="A8C0C8"/>
                </a:solidFill>
                <a:latin typeface="Segoe UI"/>
              </a:rPr>
              <a:t>Takeoff, the bill, tender workflow, document control and commercial workflows move across natively — one at a time, on evidence.</a:t>
            </a:r>
          </a:p>
        </p:txBody>
      </p:sp>
      <p:sp>
        <p:nvSpPr>
          <p:cNvPr id="10" name="Rounded Rectangle 9"/>
          <p:cNvSpPr/>
          <p:nvPr/>
        </p:nvSpPr>
        <p:spPr>
          <a:xfrm>
            <a:off x="8018068" y="2290572"/>
            <a:ext cx="3515258" cy="214884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8173516" y="2427732"/>
            <a:ext cx="3204362" cy="187452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PHASE C</a:t>
            </a:r>
          </a:p>
          <a:p>
            <a:pPr>
              <a:spcBef>
                <a:spcPts val="0"/>
              </a:spcBef>
              <a:spcAft>
                <a:spcPts val="500"/>
              </a:spcAft>
            </a:pPr>
            <a:r>
              <a:rPr sz="1250" b="1" i="0">
                <a:solidFill>
                  <a:srgbClr val="E9F2F4"/>
                </a:solidFill>
                <a:latin typeface="Segoe UI"/>
              </a:rPr>
              <a:t>Native</a:t>
            </a:r>
          </a:p>
          <a:p>
            <a:pPr>
              <a:lnSpc>
                <a:spcPct val="140000"/>
              </a:lnSpc>
              <a:spcBef>
                <a:spcPts val="0"/>
              </a:spcBef>
              <a:spcAft>
                <a:spcPts val="0"/>
              </a:spcAft>
            </a:pPr>
            <a:r>
              <a:rPr sz="1150" b="0" i="0">
                <a:solidFill>
                  <a:srgbClr val="A8C0C8"/>
                </a:solidFill>
                <a:latin typeface="Segoe UI"/>
              </a:rPr>
              <a:t>Preckon becomes the system of work from design through handover, while open exchange with consultants and owners is retained permanently.</a:t>
            </a:r>
          </a:p>
        </p:txBody>
      </p:sp>
      <p:sp>
        <p:nvSpPr>
          <p:cNvPr id="12" name="Rectangle 11"/>
          <p:cNvSpPr/>
          <p:nvPr/>
        </p:nvSpPr>
        <p:spPr>
          <a:xfrm>
            <a:off x="658368" y="4850892"/>
            <a:ext cx="22860" cy="566928"/>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4850892"/>
            <a:ext cx="9454896" cy="914400"/>
          </a:xfrm>
          <a:prstGeom prst="rect">
            <a:avLst/>
          </a:prstGeom>
          <a:noFill/>
        </p:spPr>
        <p:txBody>
          <a:bodyPr wrap="square" anchor="t" lIns="0" rIns="0" tIns="0" bIns="0">
            <a:spAutoFit/>
          </a:bodyPr>
          <a:lstStyle/>
          <a:p>
            <a:pPr>
              <a:lnSpc>
                <a:spcPct val="140000"/>
              </a:lnSpc>
              <a:spcBef>
                <a:spcPts val="0"/>
              </a:spcBef>
              <a:spcAft>
                <a:spcPts val="0"/>
              </a:spcAft>
            </a:pPr>
            <a:r>
              <a:rPr sz="1700" b="0" i="1">
                <a:solidFill>
                  <a:srgbClr val="E9F2F4"/>
                </a:solidFill>
                <a:latin typeface="Georgia"/>
              </a:rPr>
              <a:t>Phase A has to earn Phase B. That is a commercial commitment, not just an architectural one.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DEPLOYMENT  </a:t>
            </a:r>
            <a:r>
              <a:rPr sz="900" b="1" i="0" spc="140">
                <a:solidFill>
                  <a:srgbClr val="3EDCC2"/>
                </a:solidFill>
                <a:latin typeface="Consolas"/>
              </a:rPr>
              <a:t>22  </a:t>
            </a:r>
            <a:r>
              <a:rPr sz="900" b="0" i="0" spc="140">
                <a:solidFill>
                  <a:srgbClr val="7A939E"/>
                </a:solidFill>
                <a:latin typeface="Consolas"/>
              </a:rPr>
              <a:t>FOUR SHAPES, ONE CODEBASE</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696212"/>
            <a:ext cx="2629585"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13816" y="1833372"/>
            <a:ext cx="2318689"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SHAPE 01</a:t>
            </a:r>
          </a:p>
          <a:p>
            <a:pPr>
              <a:spcBef>
                <a:spcPts val="0"/>
              </a:spcBef>
              <a:spcAft>
                <a:spcPts val="500"/>
              </a:spcAft>
            </a:pPr>
            <a:r>
              <a:rPr sz="1250" b="1" i="0">
                <a:solidFill>
                  <a:srgbClr val="E9F2F4"/>
                </a:solidFill>
                <a:latin typeface="Segoe UI"/>
              </a:rPr>
              <a:t>Preckon SaaS</a:t>
            </a:r>
          </a:p>
          <a:p>
            <a:pPr>
              <a:lnSpc>
                <a:spcPct val="140000"/>
              </a:lnSpc>
              <a:spcBef>
                <a:spcPts val="0"/>
              </a:spcBef>
              <a:spcAft>
                <a:spcPts val="0"/>
              </a:spcAft>
            </a:pPr>
            <a:r>
              <a:rPr sz="1050" b="0" i="0">
                <a:solidFill>
                  <a:srgbClr val="A8C0C8"/>
                </a:solidFill>
                <a:latin typeface="Segoe UI"/>
              </a:rPr>
              <a:t>Multi-tenant, managed. Fastest to value, standard terms.</a:t>
            </a:r>
          </a:p>
        </p:txBody>
      </p:sp>
      <p:sp>
        <p:nvSpPr>
          <p:cNvPr id="7" name="Rounded Rectangle 6"/>
          <p:cNvSpPr/>
          <p:nvPr/>
        </p:nvSpPr>
        <p:spPr>
          <a:xfrm>
            <a:off x="3406825" y="1696212"/>
            <a:ext cx="2629585"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3562273" y="1833372"/>
            <a:ext cx="2318689"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SHAPE 02</a:t>
            </a:r>
          </a:p>
          <a:p>
            <a:pPr>
              <a:spcBef>
                <a:spcPts val="0"/>
              </a:spcBef>
              <a:spcAft>
                <a:spcPts val="500"/>
              </a:spcAft>
            </a:pPr>
            <a:r>
              <a:rPr sz="1250" b="1" i="0">
                <a:solidFill>
                  <a:srgbClr val="E9F2F4"/>
                </a:solidFill>
                <a:latin typeface="Segoe UI"/>
              </a:rPr>
              <a:t>Dedicated cloud</a:t>
            </a:r>
          </a:p>
          <a:p>
            <a:pPr>
              <a:lnSpc>
                <a:spcPct val="140000"/>
              </a:lnSpc>
              <a:spcBef>
                <a:spcPts val="0"/>
              </a:spcBef>
              <a:spcAft>
                <a:spcPts val="0"/>
              </a:spcAft>
            </a:pPr>
            <a:r>
              <a:rPr sz="1050" b="0" i="0">
                <a:solidFill>
                  <a:srgbClr val="A8C0C8"/>
                </a:solidFill>
                <a:latin typeface="Segoe UI"/>
              </a:rPr>
              <a:t>Your region, your isolation boundary, our operations.</a:t>
            </a:r>
          </a:p>
        </p:txBody>
      </p:sp>
      <p:sp>
        <p:nvSpPr>
          <p:cNvPr id="9" name="Rounded Rectangle 8"/>
          <p:cNvSpPr/>
          <p:nvPr/>
        </p:nvSpPr>
        <p:spPr>
          <a:xfrm>
            <a:off x="6155283" y="1696212"/>
            <a:ext cx="2629585"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310731" y="1833372"/>
            <a:ext cx="2318689"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SHAPE 03</a:t>
            </a:r>
          </a:p>
          <a:p>
            <a:pPr>
              <a:spcBef>
                <a:spcPts val="0"/>
              </a:spcBef>
              <a:spcAft>
                <a:spcPts val="500"/>
              </a:spcAft>
            </a:pPr>
            <a:r>
              <a:rPr sz="1250" b="1" i="0">
                <a:solidFill>
                  <a:srgbClr val="E9F2F4"/>
                </a:solidFill>
                <a:latin typeface="Segoe UI"/>
              </a:rPr>
              <a:t>Private AI</a:t>
            </a:r>
          </a:p>
          <a:p>
            <a:pPr>
              <a:lnSpc>
                <a:spcPct val="140000"/>
              </a:lnSpc>
              <a:spcBef>
                <a:spcPts val="0"/>
              </a:spcBef>
              <a:spcAft>
                <a:spcPts val="0"/>
              </a:spcAft>
            </a:pPr>
            <a:r>
              <a:rPr sz="1050" b="0" i="0">
                <a:solidFill>
                  <a:srgbClr val="A8C0C8"/>
                </a:solidFill>
                <a:latin typeface="Segoe UI"/>
              </a:rPr>
              <a:t>Inference inside your boundary. No document reaches an external provider.</a:t>
            </a:r>
          </a:p>
        </p:txBody>
      </p:sp>
      <p:sp>
        <p:nvSpPr>
          <p:cNvPr id="11" name="Rounded Rectangle 10"/>
          <p:cNvSpPr/>
          <p:nvPr/>
        </p:nvSpPr>
        <p:spPr>
          <a:xfrm>
            <a:off x="8903741" y="1696212"/>
            <a:ext cx="2629585" cy="178308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9059189" y="1833372"/>
            <a:ext cx="2318689" cy="150876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SHAPE 04</a:t>
            </a:r>
          </a:p>
          <a:p>
            <a:pPr>
              <a:spcBef>
                <a:spcPts val="0"/>
              </a:spcBef>
              <a:spcAft>
                <a:spcPts val="500"/>
              </a:spcAft>
            </a:pPr>
            <a:r>
              <a:rPr sz="1250" b="1" i="0">
                <a:solidFill>
                  <a:srgbClr val="E9F2F4"/>
                </a:solidFill>
                <a:latin typeface="Segoe UI"/>
              </a:rPr>
              <a:t>Sovereign AI</a:t>
            </a:r>
          </a:p>
          <a:p>
            <a:pPr>
              <a:lnSpc>
                <a:spcPct val="140000"/>
              </a:lnSpc>
              <a:spcBef>
                <a:spcPts val="0"/>
              </a:spcBef>
              <a:spcAft>
                <a:spcPts val="0"/>
              </a:spcAft>
            </a:pPr>
            <a:r>
              <a:rPr sz="1050" b="0" i="0">
                <a:solidFill>
                  <a:srgbClr val="A8C0C8"/>
                </a:solidFill>
                <a:latin typeface="Segoe UI"/>
              </a:rPr>
              <a:t>Full on-premise, model serving included, for regulated and state work.</a:t>
            </a:r>
          </a:p>
        </p:txBody>
      </p:sp>
      <p:sp>
        <p:nvSpPr>
          <p:cNvPr id="13" name="TextBox 12"/>
          <p:cNvSpPr txBox="1"/>
          <p:nvPr/>
        </p:nvSpPr>
        <p:spPr>
          <a:xfrm>
            <a:off x="658368" y="3845052"/>
            <a:ext cx="10058400" cy="1005840"/>
          </a:xfrm>
          <a:prstGeom prst="rect">
            <a:avLst/>
          </a:prstGeom>
          <a:noFill/>
        </p:spPr>
        <p:txBody>
          <a:bodyPr wrap="square" anchor="t" lIns="0" rIns="0" tIns="0" bIns="0">
            <a:spAutoFit/>
          </a:bodyPr>
          <a:lstStyle/>
          <a:p>
            <a:pPr>
              <a:lnSpc>
                <a:spcPct val="145000"/>
              </a:lnSpc>
              <a:spcBef>
                <a:spcPts val="0"/>
              </a:spcBef>
              <a:spcAft>
                <a:spcPts val="800"/>
              </a:spcAft>
            </a:pPr>
            <a:r>
              <a:rPr sz="1400" b="1" i="0">
                <a:solidFill>
                  <a:srgbClr val="E9F2F4"/>
                </a:solidFill>
                <a:latin typeface="Segoe UI"/>
              </a:rPr>
              <a:t>There is no enterprise fork.</a:t>
            </a:r>
            <a:r>
              <a:rPr sz="1400" b="0" i="0">
                <a:solidFill>
                  <a:srgbClr val="A8C0C8"/>
                </a:solidFill>
                <a:latin typeface="Segoe UI"/>
              </a:rPr>
              <a:t> The same domain model, identity model, API contracts, audit model and AI governance operate across all four. The deployment shape is configuration and hosting — never a second codebase to maintain, and never a second product to certify.</a:t>
            </a:r>
          </a:p>
        </p:txBody>
      </p:sp>
      <p:sp>
        <p:nvSpPr>
          <p:cNvPr id="14" name="TextBox 13"/>
          <p:cNvSpPr txBox="1"/>
          <p:nvPr/>
        </p:nvSpPr>
        <p:spPr>
          <a:xfrm>
            <a:off x="658368" y="5033772"/>
            <a:ext cx="10058400" cy="640080"/>
          </a:xfrm>
          <a:prstGeom prst="rect">
            <a:avLst/>
          </a:prstGeom>
          <a:noFill/>
        </p:spPr>
        <p:txBody>
          <a:bodyPr wrap="square" anchor="t" lIns="0" rIns="0" tIns="0" bIns="0">
            <a:spAutoFit/>
          </a:bodyPr>
          <a:lstStyle/>
          <a:p>
            <a:pPr>
              <a:lnSpc>
                <a:spcPct val="145000"/>
              </a:lnSpc>
              <a:spcBef>
                <a:spcPts val="0"/>
              </a:spcBef>
              <a:spcAft>
                <a:spcPts val="800"/>
              </a:spcAft>
            </a:pPr>
            <a:r>
              <a:rPr sz="1100" b="0" i="0">
                <a:solidFill>
                  <a:srgbClr val="7A939E"/>
                </a:solidFill>
                <a:latin typeface="Segoe UI"/>
              </a:rPr>
              <a:t>Proven today: SaaS and dedicated cloud. </a:t>
            </a:r>
            <a:r>
              <a:rPr sz="1100" b="0" i="0">
                <a:solidFill>
                  <a:srgbClr val="E0A85A"/>
                </a:solidFill>
                <a:latin typeface="Segoe UI"/>
              </a:rPr>
              <a:t>Supported by the architecture but not yet delivered to a customer: private and sovereign.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fade">
                                      <p:cBhvr>
                                        <p:cTn id="15" dur="400"/>
                                        <p:tgtEl>
                                          <p:spTgt spid="7"/>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00"/>
                                        <p:tgtEl>
                                          <p:spTgt spid="8"/>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fade">
                                      <p:cBhvr>
                                        <p:cTn id="23" dur="400"/>
                                        <p:tgtEl>
                                          <p:spTgt spid="9"/>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400"/>
                                        <p:tgtEl>
                                          <p:spTgt spid="10"/>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400"/>
                                        <p:tgtEl>
                                          <p:spTgt spid="1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4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400"/>
                                        <p:tgtEl>
                                          <p:spTgt spid="13"/>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grpId="0" nodeType="click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BROADER PLAY  </a:t>
            </a:r>
            <a:r>
              <a:rPr sz="900" b="1" i="0" spc="140">
                <a:solidFill>
                  <a:srgbClr val="3EDCC2"/>
                </a:solidFill>
                <a:latin typeface="Consolas"/>
              </a:rPr>
              <a:t>23  </a:t>
            </a:r>
            <a:r>
              <a:rPr sz="900" b="0" i="0" spc="140">
                <a:solidFill>
                  <a:srgbClr val="7A939E"/>
                </a:solidFill>
                <a:latin typeface="Consolas"/>
              </a:rPr>
              <a:t>WHY THIS IS BIGGER THAN A BID</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21892"/>
            <a:ext cx="9144000" cy="1463040"/>
          </a:xfrm>
          <a:prstGeom prst="rect">
            <a:avLst/>
          </a:prstGeom>
          <a:noFill/>
        </p:spPr>
        <p:txBody>
          <a:bodyPr wrap="square" anchor="t" lIns="0" rIns="0" tIns="0" bIns="0">
            <a:spAutoFit/>
          </a:bodyPr>
          <a:lstStyle/>
          <a:p>
            <a:pPr>
              <a:lnSpc>
                <a:spcPct val="112000"/>
              </a:lnSpc>
              <a:spcBef>
                <a:spcPts val="0"/>
              </a:spcBef>
              <a:spcAft>
                <a:spcPts val="0"/>
              </a:spcAft>
            </a:pPr>
            <a:r>
              <a:rPr sz="2500" b="1" i="0">
                <a:solidFill>
                  <a:srgbClr val="E9F2F4"/>
                </a:solidFill>
                <a:latin typeface="Segoe UI"/>
              </a:rPr>
              <a:t>Four things the same foundation makes possible.</a:t>
            </a:r>
          </a:p>
        </p:txBody>
      </p:sp>
      <p:sp>
        <p:nvSpPr>
          <p:cNvPr id="6" name="Rounded Rectangle 5"/>
          <p:cNvSpPr/>
          <p:nvPr/>
        </p:nvSpPr>
        <p:spPr>
          <a:xfrm>
            <a:off x="658368" y="2199131"/>
            <a:ext cx="2622727" cy="251460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13816" y="2336291"/>
            <a:ext cx="2311831" cy="224028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HORIZON 1</a:t>
            </a:r>
          </a:p>
          <a:p>
            <a:pPr>
              <a:spcBef>
                <a:spcPts val="0"/>
              </a:spcBef>
              <a:spcAft>
                <a:spcPts val="500"/>
              </a:spcAft>
            </a:pPr>
            <a:r>
              <a:rPr sz="1250" b="1" i="0">
                <a:solidFill>
                  <a:srgbClr val="E9F2F4"/>
                </a:solidFill>
                <a:latin typeface="Segoe UI"/>
              </a:rPr>
              <a:t>Beyond the bid</a:t>
            </a:r>
          </a:p>
          <a:p>
            <a:pPr>
              <a:lnSpc>
                <a:spcPct val="140000"/>
              </a:lnSpc>
              <a:spcBef>
                <a:spcPts val="0"/>
              </a:spcBef>
              <a:spcAft>
                <a:spcPts val="0"/>
              </a:spcAft>
            </a:pPr>
            <a:r>
              <a:rPr sz="1050" b="0" i="0">
                <a:solidFill>
                  <a:srgbClr val="A8C0C8"/>
                </a:solidFill>
                <a:latin typeface="Segoe UI"/>
              </a:rPr>
              <a:t>The same chain carries on past award — change control, field capture, quality, handover. The record you built to win the job becomes the record you run it from.</a:t>
            </a:r>
          </a:p>
        </p:txBody>
      </p:sp>
      <p:sp>
        <p:nvSpPr>
          <p:cNvPr id="8" name="Rounded Rectangle 7"/>
          <p:cNvSpPr/>
          <p:nvPr/>
        </p:nvSpPr>
        <p:spPr>
          <a:xfrm>
            <a:off x="3409111" y="2199131"/>
            <a:ext cx="2622727" cy="251460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564559" y="2336291"/>
            <a:ext cx="2311831" cy="224028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HORIZON 2</a:t>
            </a:r>
          </a:p>
          <a:p>
            <a:pPr>
              <a:spcBef>
                <a:spcPts val="0"/>
              </a:spcBef>
              <a:spcAft>
                <a:spcPts val="500"/>
              </a:spcAft>
            </a:pPr>
            <a:r>
              <a:rPr sz="1250" b="1" i="0">
                <a:solidFill>
                  <a:srgbClr val="E9F2F4"/>
                </a:solidFill>
                <a:latin typeface="Segoe UI"/>
              </a:rPr>
              <a:t>Beyond one project</a:t>
            </a:r>
          </a:p>
          <a:p>
            <a:pPr>
              <a:lnSpc>
                <a:spcPct val="140000"/>
              </a:lnSpc>
              <a:spcBef>
                <a:spcPts val="0"/>
              </a:spcBef>
              <a:spcAft>
                <a:spcPts val="0"/>
              </a:spcAft>
            </a:pPr>
            <a:r>
              <a:rPr sz="1050" b="0" i="0">
                <a:solidFill>
                  <a:srgbClr val="A8C0C8"/>
                </a:solidFill>
                <a:latin typeface="Segoe UI"/>
              </a:rPr>
              <a:t>A typed graph across every project: rate history, productivity, which risks actually materialised. Your own portfolio becomes the benchmark you price against.</a:t>
            </a:r>
          </a:p>
        </p:txBody>
      </p:sp>
      <p:sp>
        <p:nvSpPr>
          <p:cNvPr id="10" name="Rounded Rectangle 9"/>
          <p:cNvSpPr/>
          <p:nvPr/>
        </p:nvSpPr>
        <p:spPr>
          <a:xfrm>
            <a:off x="6159855" y="2199131"/>
            <a:ext cx="2622727" cy="2514600"/>
          </a:xfrm>
          <a:prstGeom prst="roundRect">
            <a:avLst>
              <a:gd name="adj" fmla="val 4500"/>
            </a:avLst>
          </a:prstGeom>
          <a:solidFill>
            <a:srgbClr val="0C2F2D"/>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315303" y="2336291"/>
            <a:ext cx="2311831" cy="2240280"/>
          </a:xfrm>
          <a:prstGeom prst="rect">
            <a:avLst/>
          </a:prstGeom>
          <a:noFill/>
        </p:spPr>
        <p:txBody>
          <a:bodyPr wrap="square" anchor="t" lIns="0" rIns="0" tIns="0" bIns="0">
            <a:spAutoFit/>
          </a:bodyPr>
          <a:lstStyle/>
          <a:p>
            <a:pPr>
              <a:spcBef>
                <a:spcPts val="0"/>
              </a:spcBef>
              <a:spcAft>
                <a:spcPts val="600"/>
              </a:spcAft>
            </a:pPr>
            <a:r>
              <a:rPr sz="800" b="0" i="0" spc="130">
                <a:solidFill>
                  <a:srgbClr val="3EDCC2"/>
                </a:solidFill>
                <a:latin typeface="Consolas"/>
              </a:rPr>
              <a:t>HORIZON 3</a:t>
            </a:r>
          </a:p>
          <a:p>
            <a:pPr>
              <a:spcBef>
                <a:spcPts val="0"/>
              </a:spcBef>
              <a:spcAft>
                <a:spcPts val="500"/>
              </a:spcAft>
            </a:pPr>
            <a:r>
              <a:rPr sz="1250" b="1" i="0">
                <a:solidFill>
                  <a:srgbClr val="E9F2F4"/>
                </a:solidFill>
                <a:latin typeface="Segoe UI"/>
              </a:rPr>
              <a:t>Beyond construction</a:t>
            </a:r>
          </a:p>
          <a:p>
            <a:pPr>
              <a:lnSpc>
                <a:spcPct val="140000"/>
              </a:lnSpc>
              <a:spcBef>
                <a:spcPts val="0"/>
              </a:spcBef>
              <a:spcAft>
                <a:spcPts val="0"/>
              </a:spcAft>
            </a:pPr>
            <a:r>
              <a:rPr sz="1050" b="0" i="0">
                <a:solidFill>
                  <a:srgbClr val="A8C0C8"/>
                </a:solidFill>
                <a:latin typeface="Segoe UI"/>
              </a:rPr>
              <a:t>The kernel is domain-neutral. Construction is one pack; underwriting already runs on the same core. A vertical is data, not a rewrite.</a:t>
            </a:r>
          </a:p>
        </p:txBody>
      </p:sp>
      <p:sp>
        <p:nvSpPr>
          <p:cNvPr id="12" name="Rounded Rectangle 11"/>
          <p:cNvSpPr/>
          <p:nvPr/>
        </p:nvSpPr>
        <p:spPr>
          <a:xfrm>
            <a:off x="8910599" y="2199131"/>
            <a:ext cx="2622727" cy="251460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066047" y="2336291"/>
            <a:ext cx="2311831" cy="224028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HORIZON 4</a:t>
            </a:r>
          </a:p>
          <a:p>
            <a:pPr>
              <a:spcBef>
                <a:spcPts val="0"/>
              </a:spcBef>
              <a:spcAft>
                <a:spcPts val="500"/>
              </a:spcAft>
            </a:pPr>
            <a:r>
              <a:rPr sz="1250" b="1" i="0">
                <a:solidFill>
                  <a:srgbClr val="E9F2F4"/>
                </a:solidFill>
                <a:latin typeface="Segoe UI"/>
              </a:rPr>
              <a:t>Beyond one company</a:t>
            </a:r>
          </a:p>
          <a:p>
            <a:pPr>
              <a:lnSpc>
                <a:spcPct val="140000"/>
              </a:lnSpc>
              <a:spcBef>
                <a:spcPts val="0"/>
              </a:spcBef>
              <a:spcAft>
                <a:spcPts val="0"/>
              </a:spcAft>
            </a:pPr>
            <a:r>
              <a:rPr sz="1050" b="0" i="0">
                <a:solidFill>
                  <a:srgbClr val="A8C0C8"/>
                </a:solidFill>
                <a:latin typeface="Segoe UI"/>
              </a:rPr>
              <a:t>Open exchange stays permanent. Consultants, owners and subcontractors keep their own tools — the chain does not require everyone to adopt it.</a:t>
            </a:r>
          </a:p>
        </p:txBody>
      </p:sp>
      <p:sp>
        <p:nvSpPr>
          <p:cNvPr id="14" name="Rectangle 13"/>
          <p:cNvSpPr/>
          <p:nvPr/>
        </p:nvSpPr>
        <p:spPr>
          <a:xfrm>
            <a:off x="658368" y="5033772"/>
            <a:ext cx="22860" cy="566928"/>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033772"/>
            <a:ext cx="9912096" cy="914400"/>
          </a:xfrm>
          <a:prstGeom prst="rect">
            <a:avLst/>
          </a:prstGeom>
          <a:noFill/>
        </p:spPr>
        <p:txBody>
          <a:bodyPr wrap="square" anchor="t" lIns="0" rIns="0" tIns="0" bIns="0">
            <a:spAutoFit/>
          </a:bodyPr>
          <a:lstStyle/>
          <a:p>
            <a:pPr>
              <a:lnSpc>
                <a:spcPct val="140000"/>
              </a:lnSpc>
              <a:spcBef>
                <a:spcPts val="0"/>
              </a:spcBef>
              <a:spcAft>
                <a:spcPts val="0"/>
              </a:spcAft>
            </a:pPr>
            <a:r>
              <a:rPr sz="1600" b="0" i="1">
                <a:solidFill>
                  <a:srgbClr val="E9F2F4"/>
                </a:solidFill>
                <a:latin typeface="Georgia"/>
              </a:rPr>
              <a:t>The moat is not the construction pack. It is that the pack is data, sitting on a kernel that could carry another industry.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00"/>
                                        <p:tgtEl>
                                          <p:spTgt spid="13"/>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400"/>
                                        <p:tgtEl>
                                          <p:spTgt spid="1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4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WHERE THE BUILD ACTUALLY IS  </a:t>
            </a:r>
            <a:r>
              <a:rPr sz="900" b="1" i="0" spc="140">
                <a:solidFill>
                  <a:srgbClr val="3EDCC2"/>
                </a:solidFill>
                <a:latin typeface="Consolas"/>
              </a:rPr>
              <a:t>24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732788"/>
            <a:ext cx="109728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Segoe UI"/>
              </a:rPr>
              <a:t>DocLogix</a:t>
            </a:r>
          </a:p>
        </p:txBody>
      </p:sp>
      <p:sp>
        <p:nvSpPr>
          <p:cNvPr id="6" name="Rectangle 5"/>
          <p:cNvSpPr/>
          <p:nvPr/>
        </p:nvSpPr>
        <p:spPr>
          <a:xfrm>
            <a:off x="1847088" y="1769364"/>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1847088" y="1769364"/>
            <a:ext cx="3796451"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6025896" y="1732788"/>
            <a:ext cx="50292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Consolas"/>
              </a:rPr>
              <a:t>93%</a:t>
            </a:r>
          </a:p>
        </p:txBody>
      </p:sp>
      <p:sp>
        <p:nvSpPr>
          <p:cNvPr id="9" name="TextBox 8"/>
          <p:cNvSpPr txBox="1"/>
          <p:nvPr/>
        </p:nvSpPr>
        <p:spPr>
          <a:xfrm>
            <a:off x="658368" y="2116836"/>
            <a:ext cx="109728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Segoe UI"/>
              </a:rPr>
              <a:t>ProcureLogix</a:t>
            </a:r>
          </a:p>
        </p:txBody>
      </p:sp>
      <p:sp>
        <p:nvSpPr>
          <p:cNvPr id="10" name="Rectangle 9"/>
          <p:cNvSpPr/>
          <p:nvPr/>
        </p:nvSpPr>
        <p:spPr>
          <a:xfrm>
            <a:off x="1847088" y="2153412"/>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Rectangle 10"/>
          <p:cNvSpPr/>
          <p:nvPr/>
        </p:nvSpPr>
        <p:spPr>
          <a:xfrm>
            <a:off x="1847088" y="2153412"/>
            <a:ext cx="3731346"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6025896" y="2116836"/>
            <a:ext cx="50292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Consolas"/>
              </a:rPr>
              <a:t>92%</a:t>
            </a:r>
          </a:p>
        </p:txBody>
      </p:sp>
      <p:sp>
        <p:nvSpPr>
          <p:cNvPr id="13" name="TextBox 12"/>
          <p:cNvSpPr txBox="1"/>
          <p:nvPr/>
        </p:nvSpPr>
        <p:spPr>
          <a:xfrm>
            <a:off x="658368" y="2500884"/>
            <a:ext cx="109728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Segoe UI"/>
              </a:rPr>
              <a:t>CostLogix</a:t>
            </a:r>
          </a:p>
        </p:txBody>
      </p:sp>
      <p:sp>
        <p:nvSpPr>
          <p:cNvPr id="14" name="Rectangle 13"/>
          <p:cNvSpPr/>
          <p:nvPr/>
        </p:nvSpPr>
        <p:spPr>
          <a:xfrm>
            <a:off x="1847088" y="2537460"/>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1847088" y="2537460"/>
            <a:ext cx="3560445"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025896" y="2500884"/>
            <a:ext cx="50292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Consolas"/>
              </a:rPr>
              <a:t>88%</a:t>
            </a:r>
          </a:p>
        </p:txBody>
      </p:sp>
      <p:sp>
        <p:nvSpPr>
          <p:cNvPr id="17" name="TextBox 16"/>
          <p:cNvSpPr txBox="1"/>
          <p:nvPr/>
        </p:nvSpPr>
        <p:spPr>
          <a:xfrm>
            <a:off x="658368" y="2884932"/>
            <a:ext cx="109728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Segoe UI"/>
              </a:rPr>
              <a:t>NarrativeLogix</a:t>
            </a:r>
          </a:p>
        </p:txBody>
      </p:sp>
      <p:sp>
        <p:nvSpPr>
          <p:cNvPr id="18" name="Rectangle 17"/>
          <p:cNvSpPr/>
          <p:nvPr/>
        </p:nvSpPr>
        <p:spPr>
          <a:xfrm>
            <a:off x="1847088" y="2921508"/>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1847088" y="2921508"/>
            <a:ext cx="3389543"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025896" y="2884932"/>
            <a:ext cx="50292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Consolas"/>
              </a:rPr>
              <a:t>83%</a:t>
            </a:r>
          </a:p>
        </p:txBody>
      </p:sp>
      <p:sp>
        <p:nvSpPr>
          <p:cNvPr id="21" name="TextBox 20"/>
          <p:cNvSpPr txBox="1"/>
          <p:nvPr/>
        </p:nvSpPr>
        <p:spPr>
          <a:xfrm>
            <a:off x="658368" y="3268980"/>
            <a:ext cx="109728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Segoe UI"/>
              </a:rPr>
              <a:t>QuantLogix</a:t>
            </a:r>
          </a:p>
        </p:txBody>
      </p:sp>
      <p:sp>
        <p:nvSpPr>
          <p:cNvPr id="22" name="Rectangle 21"/>
          <p:cNvSpPr/>
          <p:nvPr/>
        </p:nvSpPr>
        <p:spPr>
          <a:xfrm>
            <a:off x="1847088" y="3305556"/>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Rectangle 22"/>
          <p:cNvSpPr/>
          <p:nvPr/>
        </p:nvSpPr>
        <p:spPr>
          <a:xfrm>
            <a:off x="1847088" y="3305556"/>
            <a:ext cx="3328507"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6025896" y="3268980"/>
            <a:ext cx="50292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Consolas"/>
              </a:rPr>
              <a:t>82%</a:t>
            </a:r>
          </a:p>
        </p:txBody>
      </p:sp>
      <p:sp>
        <p:nvSpPr>
          <p:cNvPr id="25" name="TextBox 24"/>
          <p:cNvSpPr txBox="1"/>
          <p:nvPr/>
        </p:nvSpPr>
        <p:spPr>
          <a:xfrm>
            <a:off x="658368" y="3653028"/>
            <a:ext cx="109728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Segoe UI"/>
              </a:rPr>
              <a:t>TenderLogix</a:t>
            </a:r>
          </a:p>
        </p:txBody>
      </p:sp>
      <p:sp>
        <p:nvSpPr>
          <p:cNvPr id="26" name="Rectangle 25"/>
          <p:cNvSpPr/>
          <p:nvPr/>
        </p:nvSpPr>
        <p:spPr>
          <a:xfrm>
            <a:off x="1847088" y="3689604"/>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Rectangle 26"/>
          <p:cNvSpPr/>
          <p:nvPr/>
        </p:nvSpPr>
        <p:spPr>
          <a:xfrm>
            <a:off x="1847088" y="3689604"/>
            <a:ext cx="3279678" cy="12801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6025896" y="3653028"/>
            <a:ext cx="50292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Consolas"/>
              </a:rPr>
              <a:t>81%</a:t>
            </a:r>
          </a:p>
        </p:txBody>
      </p:sp>
      <p:sp>
        <p:nvSpPr>
          <p:cNvPr id="29" name="TextBox 28"/>
          <p:cNvSpPr txBox="1"/>
          <p:nvPr/>
        </p:nvSpPr>
        <p:spPr>
          <a:xfrm>
            <a:off x="658368" y="4037076"/>
            <a:ext cx="109728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Segoe UI"/>
              </a:rPr>
              <a:t>ScheduleLogix</a:t>
            </a:r>
          </a:p>
        </p:txBody>
      </p:sp>
      <p:sp>
        <p:nvSpPr>
          <p:cNvPr id="30" name="Rectangle 29"/>
          <p:cNvSpPr/>
          <p:nvPr/>
        </p:nvSpPr>
        <p:spPr>
          <a:xfrm>
            <a:off x="1847088" y="4073652"/>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Rectangle 30"/>
          <p:cNvSpPr/>
          <p:nvPr/>
        </p:nvSpPr>
        <p:spPr>
          <a:xfrm>
            <a:off x="1847088" y="4073652"/>
            <a:ext cx="3120984" cy="128016"/>
          </a:xfrm>
          <a:prstGeom prst="rect">
            <a:avLst/>
          </a:prstGeom>
          <a:solidFill>
            <a:srgbClr val="E0A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025896" y="4037076"/>
            <a:ext cx="50292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Consolas"/>
              </a:rPr>
              <a:t>77%</a:t>
            </a:r>
          </a:p>
        </p:txBody>
      </p:sp>
      <p:sp>
        <p:nvSpPr>
          <p:cNvPr id="33" name="TextBox 32"/>
          <p:cNvSpPr txBox="1"/>
          <p:nvPr/>
        </p:nvSpPr>
        <p:spPr>
          <a:xfrm>
            <a:off x="658368" y="4421124"/>
            <a:ext cx="109728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Segoe UI"/>
              </a:rPr>
              <a:t>Platform / Core</a:t>
            </a:r>
          </a:p>
        </p:txBody>
      </p:sp>
      <p:sp>
        <p:nvSpPr>
          <p:cNvPr id="34" name="Rectangle 33"/>
          <p:cNvSpPr/>
          <p:nvPr/>
        </p:nvSpPr>
        <p:spPr>
          <a:xfrm>
            <a:off x="1847088" y="4457699"/>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1847088" y="4457699"/>
            <a:ext cx="2950083" cy="128016"/>
          </a:xfrm>
          <a:prstGeom prst="rect">
            <a:avLst/>
          </a:prstGeom>
          <a:solidFill>
            <a:srgbClr val="E0A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6025896" y="4421124"/>
            <a:ext cx="50292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Consolas"/>
              </a:rPr>
              <a:t>72%</a:t>
            </a:r>
          </a:p>
        </p:txBody>
      </p:sp>
      <p:sp>
        <p:nvSpPr>
          <p:cNvPr id="37" name="TextBox 36"/>
          <p:cNvSpPr txBox="1"/>
          <p:nvPr/>
        </p:nvSpPr>
        <p:spPr>
          <a:xfrm>
            <a:off x="658368" y="4805172"/>
            <a:ext cx="109728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Segoe UI"/>
              </a:rPr>
              <a:t>DrawLogix</a:t>
            </a:r>
          </a:p>
        </p:txBody>
      </p:sp>
      <p:sp>
        <p:nvSpPr>
          <p:cNvPr id="38" name="Rectangle 37"/>
          <p:cNvSpPr/>
          <p:nvPr/>
        </p:nvSpPr>
        <p:spPr>
          <a:xfrm>
            <a:off x="1847088" y="4841748"/>
            <a:ext cx="4069080" cy="12801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1847088" y="4841748"/>
            <a:ext cx="2925668" cy="128016"/>
          </a:xfrm>
          <a:prstGeom prst="rect">
            <a:avLst/>
          </a:prstGeom>
          <a:solidFill>
            <a:srgbClr val="E0A8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6025896" y="4805172"/>
            <a:ext cx="502920" cy="256032"/>
          </a:xfrm>
          <a:prstGeom prst="rect">
            <a:avLst/>
          </a:prstGeom>
          <a:noFill/>
        </p:spPr>
        <p:txBody>
          <a:bodyPr wrap="square" anchor="t" lIns="0" rIns="0" tIns="0" bIns="0">
            <a:spAutoFit/>
          </a:bodyPr>
          <a:lstStyle/>
          <a:p>
            <a:pPr algn="r">
              <a:spcBef>
                <a:spcPts val="0"/>
              </a:spcBef>
              <a:spcAft>
                <a:spcPts val="0"/>
              </a:spcAft>
            </a:pPr>
            <a:r>
              <a:rPr sz="1050" b="0" i="0">
                <a:solidFill>
                  <a:srgbClr val="A8C0C8"/>
                </a:solidFill>
                <a:latin typeface="Consolas"/>
              </a:rPr>
              <a:t>72%</a:t>
            </a:r>
          </a:p>
        </p:txBody>
      </p:sp>
      <p:sp>
        <p:nvSpPr>
          <p:cNvPr id="41" name="Rectangle 40"/>
          <p:cNvSpPr/>
          <p:nvPr/>
        </p:nvSpPr>
        <p:spPr>
          <a:xfrm>
            <a:off x="658368" y="5280660"/>
            <a:ext cx="5870448"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58368" y="5390387"/>
            <a:ext cx="1097280" cy="274320"/>
          </a:xfrm>
          <a:prstGeom prst="rect">
            <a:avLst/>
          </a:prstGeom>
          <a:noFill/>
        </p:spPr>
        <p:txBody>
          <a:bodyPr wrap="square" anchor="t" lIns="0" rIns="0" tIns="0" bIns="0">
            <a:spAutoFit/>
          </a:bodyPr>
          <a:lstStyle/>
          <a:p>
            <a:pPr algn="r">
              <a:spcBef>
                <a:spcPts val="0"/>
              </a:spcBef>
              <a:spcAft>
                <a:spcPts val="0"/>
              </a:spcAft>
            </a:pPr>
            <a:r>
              <a:rPr sz="1150" b="1" i="0">
                <a:solidFill>
                  <a:srgbClr val="E9F2F4"/>
                </a:solidFill>
                <a:latin typeface="Segoe UI"/>
              </a:rPr>
              <a:t>All modules</a:t>
            </a:r>
          </a:p>
        </p:txBody>
      </p:sp>
      <p:sp>
        <p:nvSpPr>
          <p:cNvPr id="43" name="Rectangle 42"/>
          <p:cNvSpPr/>
          <p:nvPr/>
        </p:nvSpPr>
        <p:spPr>
          <a:xfrm>
            <a:off x="1847088" y="5426963"/>
            <a:ext cx="4069080" cy="173736"/>
          </a:xfrm>
          <a:prstGeom prst="rect">
            <a:avLst/>
          </a:prstGeom>
          <a:solidFill>
            <a:srgbClr val="071319"/>
          </a:solidFill>
          <a:ln w="6350">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1847088" y="5426963"/>
            <a:ext cx="3222711" cy="173736"/>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6025896" y="5390387"/>
            <a:ext cx="502920" cy="274320"/>
          </a:xfrm>
          <a:prstGeom prst="rect">
            <a:avLst/>
          </a:prstGeom>
          <a:noFill/>
        </p:spPr>
        <p:txBody>
          <a:bodyPr wrap="square" anchor="t" lIns="0" rIns="0" tIns="0" bIns="0">
            <a:spAutoFit/>
          </a:bodyPr>
          <a:lstStyle/>
          <a:p>
            <a:pPr algn="r">
              <a:spcBef>
                <a:spcPts val="0"/>
              </a:spcBef>
              <a:spcAft>
                <a:spcPts val="0"/>
              </a:spcAft>
            </a:pPr>
            <a:r>
              <a:rPr sz="1150" b="1" i="0">
                <a:solidFill>
                  <a:srgbClr val="E9F2F4"/>
                </a:solidFill>
                <a:latin typeface="Consolas"/>
              </a:rPr>
              <a:t>79%</a:t>
            </a:r>
          </a:p>
        </p:txBody>
      </p:sp>
      <p:sp>
        <p:nvSpPr>
          <p:cNvPr id="46" name="TextBox 45"/>
          <p:cNvSpPr txBox="1"/>
          <p:nvPr/>
        </p:nvSpPr>
        <p:spPr>
          <a:xfrm>
            <a:off x="7086600" y="1705356"/>
            <a:ext cx="4443984" cy="1463040"/>
          </a:xfrm>
          <a:prstGeom prst="rect">
            <a:avLst/>
          </a:prstGeom>
          <a:noFill/>
        </p:spPr>
        <p:txBody>
          <a:bodyPr wrap="square" anchor="t" lIns="0" rIns="0" tIns="0" bIns="0">
            <a:spAutoFit/>
          </a:bodyPr>
          <a:lstStyle/>
          <a:p>
            <a:pPr>
              <a:lnSpc>
                <a:spcPct val="112000"/>
              </a:lnSpc>
              <a:spcBef>
                <a:spcPts val="0"/>
              </a:spcBef>
              <a:spcAft>
                <a:spcPts val="0"/>
              </a:spcAft>
            </a:pPr>
            <a:r>
              <a:rPr sz="2400" b="1" i="0">
                <a:solidFill>
                  <a:srgbClr val="E9F2F4"/>
                </a:solidFill>
                <a:latin typeface="Segoe UI"/>
              </a:rPr>
              <a:t>132 features. 97 done, 15 partial, 20 missing.</a:t>
            </a:r>
          </a:p>
        </p:txBody>
      </p:sp>
      <p:sp>
        <p:nvSpPr>
          <p:cNvPr id="47" name="TextBox 46"/>
          <p:cNvSpPr txBox="1"/>
          <p:nvPr/>
        </p:nvSpPr>
        <p:spPr>
          <a:xfrm>
            <a:off x="7086600" y="3058668"/>
            <a:ext cx="4443984" cy="914400"/>
          </a:xfrm>
          <a:prstGeom prst="rect">
            <a:avLst/>
          </a:prstGeom>
          <a:noFill/>
        </p:spPr>
        <p:txBody>
          <a:bodyPr wrap="square" anchor="t" lIns="0" rIns="0" tIns="0" bIns="0">
            <a:spAutoFit/>
          </a:bodyPr>
          <a:lstStyle/>
          <a:p>
            <a:pPr>
              <a:lnSpc>
                <a:spcPct val="145000"/>
              </a:lnSpc>
              <a:spcBef>
                <a:spcPts val="0"/>
              </a:spcBef>
              <a:spcAft>
                <a:spcPts val="800"/>
              </a:spcAft>
            </a:pPr>
            <a:r>
              <a:rPr sz="1100" b="0" i="0">
                <a:solidFill>
                  <a:srgbClr val="7A939E"/>
                </a:solidFill>
                <a:latin typeface="Segoe UI"/>
              </a:rPr>
              <a:t>Measured against the blueprints </a:t>
            </a:r>
            <a:r>
              <a:rPr sz="1100" b="0" i="1">
                <a:solidFill>
                  <a:srgbClr val="A8C0C8"/>
                </a:solidFill>
                <a:latin typeface="Segoe UI"/>
              </a:rPr>
              <a:t>as written</a:t>
            </a:r>
            <a:r>
              <a:rPr sz="1100" b="0" i="0">
                <a:solidFill>
                  <a:srgbClr val="7A939E"/>
                </a:solidFill>
                <a:latin typeface="Segoe UI"/>
              </a:rPr>
              <a:t> — 13,074 lines of specification across ten documents. Not against a roadmap we could move.</a:t>
            </a:r>
          </a:p>
        </p:txBody>
      </p:sp>
      <p:sp>
        <p:nvSpPr>
          <p:cNvPr id="48" name="Rounded Rectangle 47"/>
          <p:cNvSpPr/>
          <p:nvPr/>
        </p:nvSpPr>
        <p:spPr>
          <a:xfrm>
            <a:off x="7086600" y="4219956"/>
            <a:ext cx="4443984" cy="141732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9" name="TextBox 48"/>
          <p:cNvSpPr txBox="1"/>
          <p:nvPr/>
        </p:nvSpPr>
        <p:spPr>
          <a:xfrm>
            <a:off x="7242048" y="4357116"/>
            <a:ext cx="4133088" cy="114300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HOW IT IS COUNTED</a:t>
            </a:r>
          </a:p>
          <a:p>
            <a:pPr>
              <a:lnSpc>
                <a:spcPct val="140000"/>
              </a:lnSpc>
              <a:spcBef>
                <a:spcPts val="0"/>
              </a:spcBef>
              <a:spcAft>
                <a:spcPts val="0"/>
              </a:spcAft>
            </a:pPr>
            <a:r>
              <a:rPr sz="1100" b="0" i="0">
                <a:solidFill>
                  <a:srgbClr val="A8C0C8"/>
                </a:solidFill>
                <a:latin typeface="Segoe UI"/>
              </a:rPr>
              <a:t>Done means built, tested and deployed. Partial counts as a half. Missing counts as zero. Every row verified against the codebase and the deployed production database.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0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0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0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0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4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400"/>
                                        <p:tgtEl>
                                          <p:spTgt spid="22"/>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3"/>
                                        </p:tgtEl>
                                        <p:attrNameLst>
                                          <p:attrName>style.visibility</p:attrName>
                                        </p:attrNameLst>
                                      </p:cBhvr>
                                      <p:to>
                                        <p:strVal val="visible"/>
                                      </p:to>
                                    </p:set>
                                    <p:animEffect transition="in" filter="fade">
                                      <p:cBhvr>
                                        <p:cTn id="61" dur="400"/>
                                        <p:tgtEl>
                                          <p:spTgt spid="23"/>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4"/>
                                        </p:tgtEl>
                                        <p:attrNameLst>
                                          <p:attrName>style.visibility</p:attrName>
                                        </p:attrNameLst>
                                      </p:cBhvr>
                                      <p:to>
                                        <p:strVal val="visible"/>
                                      </p:to>
                                    </p:set>
                                    <p:animEffect transition="in" filter="fade">
                                      <p:cBhvr>
                                        <p:cTn id="64" dur="400"/>
                                        <p:tgtEl>
                                          <p:spTgt spid="24"/>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fade">
                                      <p:cBhvr>
                                        <p:cTn id="67" dur="400"/>
                                        <p:tgtEl>
                                          <p:spTgt spid="2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6"/>
                                        </p:tgtEl>
                                        <p:attrNameLst>
                                          <p:attrName>style.visibility</p:attrName>
                                        </p:attrNameLst>
                                      </p:cBhvr>
                                      <p:to>
                                        <p:strVal val="visible"/>
                                      </p:to>
                                    </p:set>
                                    <p:animEffect transition="in" filter="fade">
                                      <p:cBhvr>
                                        <p:cTn id="70" dur="400"/>
                                        <p:tgtEl>
                                          <p:spTgt spid="26"/>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fade">
                                      <p:cBhvr>
                                        <p:cTn id="73" dur="400"/>
                                        <p:tgtEl>
                                          <p:spTgt spid="27"/>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28"/>
                                        </p:tgtEl>
                                        <p:attrNameLst>
                                          <p:attrName>style.visibility</p:attrName>
                                        </p:attrNameLst>
                                      </p:cBhvr>
                                      <p:to>
                                        <p:strVal val="visible"/>
                                      </p:to>
                                    </p:set>
                                    <p:animEffect transition="in" filter="fade">
                                      <p:cBhvr>
                                        <p:cTn id="76" dur="400"/>
                                        <p:tgtEl>
                                          <p:spTgt spid="28"/>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40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400"/>
                                        <p:tgtEl>
                                          <p:spTgt spid="30"/>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1"/>
                                        </p:tgtEl>
                                        <p:attrNameLst>
                                          <p:attrName>style.visibility</p:attrName>
                                        </p:attrNameLst>
                                      </p:cBhvr>
                                      <p:to>
                                        <p:strVal val="visible"/>
                                      </p:to>
                                    </p:set>
                                    <p:animEffect transition="in" filter="fade">
                                      <p:cBhvr>
                                        <p:cTn id="85" dur="400"/>
                                        <p:tgtEl>
                                          <p:spTgt spid="31"/>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2"/>
                                        </p:tgtEl>
                                        <p:attrNameLst>
                                          <p:attrName>style.visibility</p:attrName>
                                        </p:attrNameLst>
                                      </p:cBhvr>
                                      <p:to>
                                        <p:strVal val="visible"/>
                                      </p:to>
                                    </p:set>
                                    <p:animEffect transition="in" filter="fade">
                                      <p:cBhvr>
                                        <p:cTn id="88" dur="400"/>
                                        <p:tgtEl>
                                          <p:spTgt spid="32"/>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3"/>
                                        </p:tgtEl>
                                        <p:attrNameLst>
                                          <p:attrName>style.visibility</p:attrName>
                                        </p:attrNameLst>
                                      </p:cBhvr>
                                      <p:to>
                                        <p:strVal val="visible"/>
                                      </p:to>
                                    </p:set>
                                    <p:animEffect transition="in" filter="fade">
                                      <p:cBhvr>
                                        <p:cTn id="91" dur="400"/>
                                        <p:tgtEl>
                                          <p:spTgt spid="33"/>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4"/>
                                        </p:tgtEl>
                                        <p:attrNameLst>
                                          <p:attrName>style.visibility</p:attrName>
                                        </p:attrNameLst>
                                      </p:cBhvr>
                                      <p:to>
                                        <p:strVal val="visible"/>
                                      </p:to>
                                    </p:set>
                                    <p:animEffect transition="in" filter="fade">
                                      <p:cBhvr>
                                        <p:cTn id="94" dur="400"/>
                                        <p:tgtEl>
                                          <p:spTgt spid="34"/>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5"/>
                                        </p:tgtEl>
                                        <p:attrNameLst>
                                          <p:attrName>style.visibility</p:attrName>
                                        </p:attrNameLst>
                                      </p:cBhvr>
                                      <p:to>
                                        <p:strVal val="visible"/>
                                      </p:to>
                                    </p:set>
                                    <p:animEffect transition="in" filter="fade">
                                      <p:cBhvr>
                                        <p:cTn id="97" dur="400"/>
                                        <p:tgtEl>
                                          <p:spTgt spid="35"/>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36"/>
                                        </p:tgtEl>
                                        <p:attrNameLst>
                                          <p:attrName>style.visibility</p:attrName>
                                        </p:attrNameLst>
                                      </p:cBhvr>
                                      <p:to>
                                        <p:strVal val="visible"/>
                                      </p:to>
                                    </p:set>
                                    <p:animEffect transition="in" filter="fade">
                                      <p:cBhvr>
                                        <p:cTn id="100" dur="400"/>
                                        <p:tgtEl>
                                          <p:spTgt spid="36"/>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37"/>
                                        </p:tgtEl>
                                        <p:attrNameLst>
                                          <p:attrName>style.visibility</p:attrName>
                                        </p:attrNameLst>
                                      </p:cBhvr>
                                      <p:to>
                                        <p:strVal val="visible"/>
                                      </p:to>
                                    </p:set>
                                    <p:animEffect transition="in" filter="fade">
                                      <p:cBhvr>
                                        <p:cTn id="103" dur="400"/>
                                        <p:tgtEl>
                                          <p:spTgt spid="37"/>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38"/>
                                        </p:tgtEl>
                                        <p:attrNameLst>
                                          <p:attrName>style.visibility</p:attrName>
                                        </p:attrNameLst>
                                      </p:cBhvr>
                                      <p:to>
                                        <p:strVal val="visible"/>
                                      </p:to>
                                    </p:set>
                                    <p:animEffect transition="in" filter="fade">
                                      <p:cBhvr>
                                        <p:cTn id="106" dur="400"/>
                                        <p:tgtEl>
                                          <p:spTgt spid="38"/>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9"/>
                                        </p:tgtEl>
                                        <p:attrNameLst>
                                          <p:attrName>style.visibility</p:attrName>
                                        </p:attrNameLst>
                                      </p:cBhvr>
                                      <p:to>
                                        <p:strVal val="visible"/>
                                      </p:to>
                                    </p:set>
                                    <p:animEffect transition="in" filter="fade">
                                      <p:cBhvr>
                                        <p:cTn id="109" dur="400"/>
                                        <p:tgtEl>
                                          <p:spTgt spid="39"/>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0"/>
                                        </p:tgtEl>
                                        <p:attrNameLst>
                                          <p:attrName>style.visibility</p:attrName>
                                        </p:attrNameLst>
                                      </p:cBhvr>
                                      <p:to>
                                        <p:strVal val="visible"/>
                                      </p:to>
                                    </p:set>
                                    <p:animEffect transition="in" filter="fade">
                                      <p:cBhvr>
                                        <p:cTn id="112" dur="400"/>
                                        <p:tgtEl>
                                          <p:spTgt spid="40"/>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2"/>
                                        </p:tgtEl>
                                        <p:attrNameLst>
                                          <p:attrName>style.visibility</p:attrName>
                                        </p:attrNameLst>
                                      </p:cBhvr>
                                      <p:to>
                                        <p:strVal val="visible"/>
                                      </p:to>
                                    </p:set>
                                    <p:animEffect transition="in" filter="fade">
                                      <p:cBhvr>
                                        <p:cTn id="115" dur="400"/>
                                        <p:tgtEl>
                                          <p:spTgt spid="42"/>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3"/>
                                        </p:tgtEl>
                                        <p:attrNameLst>
                                          <p:attrName>style.visibility</p:attrName>
                                        </p:attrNameLst>
                                      </p:cBhvr>
                                      <p:to>
                                        <p:strVal val="visible"/>
                                      </p:to>
                                    </p:set>
                                    <p:animEffect transition="in" filter="fade">
                                      <p:cBhvr>
                                        <p:cTn id="118" dur="400"/>
                                        <p:tgtEl>
                                          <p:spTgt spid="43"/>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4"/>
                                        </p:tgtEl>
                                        <p:attrNameLst>
                                          <p:attrName>style.visibility</p:attrName>
                                        </p:attrNameLst>
                                      </p:cBhvr>
                                      <p:to>
                                        <p:strVal val="visible"/>
                                      </p:to>
                                    </p:set>
                                    <p:animEffect transition="in" filter="fade">
                                      <p:cBhvr>
                                        <p:cTn id="121" dur="400"/>
                                        <p:tgtEl>
                                          <p:spTgt spid="44"/>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5"/>
                                        </p:tgtEl>
                                        <p:attrNameLst>
                                          <p:attrName>style.visibility</p:attrName>
                                        </p:attrNameLst>
                                      </p:cBhvr>
                                      <p:to>
                                        <p:strVal val="visible"/>
                                      </p:to>
                                    </p:set>
                                    <p:animEffect transition="in" filter="fade">
                                      <p:cBhvr>
                                        <p:cTn id="124" dur="400"/>
                                        <p:tgtEl>
                                          <p:spTgt spid="45"/>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47"/>
                                        </p:tgtEl>
                                        <p:attrNameLst>
                                          <p:attrName>style.visibility</p:attrName>
                                        </p:attrNameLst>
                                      </p:cBhvr>
                                      <p:to>
                                        <p:strVal val="visible"/>
                                      </p:to>
                                    </p:set>
                                    <p:animEffect transition="in" filter="fade">
                                      <p:cBhvr>
                                        <p:cTn id="129" dur="400"/>
                                        <p:tgtEl>
                                          <p:spTgt spid="47"/>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clickEffect">
                                  <p:stCondLst>
                                    <p:cond delay="0"/>
                                  </p:stCondLst>
                                  <p:childTnLst>
                                    <p:set>
                                      <p:cBhvr>
                                        <p:cTn id="133" dur="1" fill="hold">
                                          <p:stCondLst>
                                            <p:cond delay="0"/>
                                          </p:stCondLst>
                                        </p:cTn>
                                        <p:tgtEl>
                                          <p:spTgt spid="48"/>
                                        </p:tgtEl>
                                        <p:attrNameLst>
                                          <p:attrName>style.visibility</p:attrName>
                                        </p:attrNameLst>
                                      </p:cBhvr>
                                      <p:to>
                                        <p:strVal val="visible"/>
                                      </p:to>
                                    </p:set>
                                    <p:animEffect transition="in" filter="fade">
                                      <p:cBhvr>
                                        <p:cTn id="134" dur="4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EVIDENCE  </a:t>
            </a:r>
            <a:r>
              <a:rPr sz="900" b="1" i="0" spc="140">
                <a:solidFill>
                  <a:srgbClr val="3EDCC2"/>
                </a:solidFill>
                <a:latin typeface="Consolas"/>
              </a:rPr>
              <a:t>25  </a:t>
            </a:r>
            <a:r>
              <a:rPr sz="900" b="0" i="0" spc="140">
                <a:solidFill>
                  <a:srgbClr val="7A939E"/>
                </a:solidFill>
                <a:latin typeface="Consolas"/>
              </a:rPr>
              <a:t>COUNTED, NOT ASSERTED</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58368" y="1915668"/>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804672" y="2061972"/>
            <a:ext cx="1816547" cy="877824"/>
          </a:xfrm>
          <a:prstGeom prst="rect">
            <a:avLst/>
          </a:prstGeom>
          <a:noFill/>
        </p:spPr>
        <p:txBody>
          <a:bodyPr wrap="square" anchor="t" lIns="0" rIns="0" tIns="0" bIns="0">
            <a:spAutoFit/>
          </a:bodyPr>
          <a:lstStyle/>
          <a:p>
            <a:pPr>
              <a:spcBef>
                <a:spcPts val="0"/>
              </a:spcBef>
              <a:spcAft>
                <a:spcPts val="600"/>
              </a:spcAft>
            </a:pPr>
            <a:r>
              <a:rPr sz="2500" b="0" i="0">
                <a:solidFill>
                  <a:srgbClr val="E9F2F4"/>
                </a:solidFill>
                <a:latin typeface="Consolas"/>
              </a:rPr>
              <a:t>84</a:t>
            </a:r>
          </a:p>
          <a:p>
            <a:pPr>
              <a:lnSpc>
                <a:spcPct val="132000"/>
              </a:lnSpc>
              <a:spcBef>
                <a:spcPts val="0"/>
              </a:spcBef>
              <a:spcAft>
                <a:spcPts val="0"/>
              </a:spcAft>
            </a:pPr>
            <a:r>
              <a:rPr sz="1000" b="0" i="0">
                <a:solidFill>
                  <a:srgbClr val="7A939E"/>
                </a:solidFill>
                <a:latin typeface="Segoe UI"/>
              </a:rPr>
              <a:t>database tables, deployed</a:t>
            </a:r>
          </a:p>
        </p:txBody>
      </p:sp>
      <p:sp>
        <p:nvSpPr>
          <p:cNvPr id="7" name="Rounded Rectangle 6"/>
          <p:cNvSpPr/>
          <p:nvPr/>
        </p:nvSpPr>
        <p:spPr>
          <a:xfrm>
            <a:off x="2849819" y="1915668"/>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2996123" y="2061972"/>
            <a:ext cx="1816547" cy="877824"/>
          </a:xfrm>
          <a:prstGeom prst="rect">
            <a:avLst/>
          </a:prstGeom>
          <a:noFill/>
        </p:spPr>
        <p:txBody>
          <a:bodyPr wrap="square" anchor="t" lIns="0" rIns="0" tIns="0" bIns="0">
            <a:spAutoFit/>
          </a:bodyPr>
          <a:lstStyle/>
          <a:p>
            <a:pPr>
              <a:spcBef>
                <a:spcPts val="0"/>
              </a:spcBef>
              <a:spcAft>
                <a:spcPts val="600"/>
              </a:spcAft>
            </a:pPr>
            <a:r>
              <a:rPr sz="2500" b="0" i="0">
                <a:solidFill>
                  <a:srgbClr val="E9F2F4"/>
                </a:solidFill>
                <a:latin typeface="Consolas"/>
              </a:rPr>
              <a:t>90</a:t>
            </a:r>
          </a:p>
          <a:p>
            <a:pPr>
              <a:lnSpc>
                <a:spcPct val="132000"/>
              </a:lnSpc>
              <a:spcBef>
                <a:spcPts val="0"/>
              </a:spcBef>
              <a:spcAft>
                <a:spcPts val="0"/>
              </a:spcAft>
            </a:pPr>
            <a:r>
              <a:rPr sz="1000" b="0" i="0">
                <a:solidFill>
                  <a:srgbClr val="7A939E"/>
                </a:solidFill>
                <a:latin typeface="Segoe UI"/>
              </a:rPr>
              <a:t>API routes</a:t>
            </a:r>
          </a:p>
        </p:txBody>
      </p:sp>
      <p:sp>
        <p:nvSpPr>
          <p:cNvPr id="9" name="Rounded Rectangle 8"/>
          <p:cNvSpPr/>
          <p:nvPr/>
        </p:nvSpPr>
        <p:spPr>
          <a:xfrm>
            <a:off x="5041270" y="1915668"/>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187574" y="2061972"/>
            <a:ext cx="1816547" cy="877824"/>
          </a:xfrm>
          <a:prstGeom prst="rect">
            <a:avLst/>
          </a:prstGeom>
          <a:noFill/>
        </p:spPr>
        <p:txBody>
          <a:bodyPr wrap="square" anchor="t" lIns="0" rIns="0" tIns="0" bIns="0">
            <a:spAutoFit/>
          </a:bodyPr>
          <a:lstStyle/>
          <a:p>
            <a:pPr>
              <a:spcBef>
                <a:spcPts val="0"/>
              </a:spcBef>
              <a:spcAft>
                <a:spcPts val="600"/>
              </a:spcAft>
            </a:pPr>
            <a:r>
              <a:rPr sz="2500" b="0" i="0">
                <a:solidFill>
                  <a:srgbClr val="E9F2F4"/>
                </a:solidFill>
                <a:latin typeface="Consolas"/>
              </a:rPr>
              <a:t>982</a:t>
            </a:r>
          </a:p>
          <a:p>
            <a:pPr>
              <a:lnSpc>
                <a:spcPct val="132000"/>
              </a:lnSpc>
              <a:spcBef>
                <a:spcPts val="0"/>
              </a:spcBef>
              <a:spcAft>
                <a:spcPts val="0"/>
              </a:spcAft>
            </a:pPr>
            <a:r>
              <a:rPr sz="1000" b="0" i="0">
                <a:solidFill>
                  <a:srgbClr val="7A939E"/>
                </a:solidFill>
                <a:latin typeface="Segoe UI"/>
              </a:rPr>
              <a:t>tests passing, 46 files</a:t>
            </a:r>
          </a:p>
        </p:txBody>
      </p:sp>
      <p:sp>
        <p:nvSpPr>
          <p:cNvPr id="11" name="Rounded Rectangle 10"/>
          <p:cNvSpPr/>
          <p:nvPr/>
        </p:nvSpPr>
        <p:spPr>
          <a:xfrm>
            <a:off x="7232721" y="1915668"/>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379025" y="2061972"/>
            <a:ext cx="1816547" cy="877824"/>
          </a:xfrm>
          <a:prstGeom prst="rect">
            <a:avLst/>
          </a:prstGeom>
          <a:noFill/>
        </p:spPr>
        <p:txBody>
          <a:bodyPr wrap="square" anchor="t" lIns="0" rIns="0" tIns="0" bIns="0">
            <a:spAutoFit/>
          </a:bodyPr>
          <a:lstStyle/>
          <a:p>
            <a:pPr>
              <a:spcBef>
                <a:spcPts val="0"/>
              </a:spcBef>
              <a:spcAft>
                <a:spcPts val="600"/>
              </a:spcAft>
            </a:pPr>
            <a:r>
              <a:rPr sz="2500" b="0" i="0">
                <a:solidFill>
                  <a:srgbClr val="E9F2F4"/>
                </a:solidFill>
                <a:latin typeface="Consolas"/>
              </a:rPr>
              <a:t>34</a:t>
            </a:r>
          </a:p>
          <a:p>
            <a:pPr>
              <a:lnSpc>
                <a:spcPct val="132000"/>
              </a:lnSpc>
              <a:spcBef>
                <a:spcPts val="0"/>
              </a:spcBef>
              <a:spcAft>
                <a:spcPts val="0"/>
              </a:spcAft>
            </a:pPr>
            <a:r>
              <a:rPr sz="1000" b="0" i="0">
                <a:solidFill>
                  <a:srgbClr val="7A939E"/>
                </a:solidFill>
                <a:latin typeface="Segoe UI"/>
              </a:rPr>
              <a:t>deterministic engines</a:t>
            </a:r>
          </a:p>
        </p:txBody>
      </p:sp>
      <p:sp>
        <p:nvSpPr>
          <p:cNvPr id="13" name="Rounded Rectangle 12"/>
          <p:cNvSpPr/>
          <p:nvPr/>
        </p:nvSpPr>
        <p:spPr>
          <a:xfrm>
            <a:off x="9424172" y="1915668"/>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9570476" y="2061972"/>
            <a:ext cx="1816547" cy="877824"/>
          </a:xfrm>
          <a:prstGeom prst="rect">
            <a:avLst/>
          </a:prstGeom>
          <a:noFill/>
        </p:spPr>
        <p:txBody>
          <a:bodyPr wrap="square" anchor="t" lIns="0" rIns="0" tIns="0" bIns="0">
            <a:spAutoFit/>
          </a:bodyPr>
          <a:lstStyle/>
          <a:p>
            <a:pPr>
              <a:spcBef>
                <a:spcPts val="0"/>
              </a:spcBef>
              <a:spcAft>
                <a:spcPts val="600"/>
              </a:spcAft>
            </a:pPr>
            <a:r>
              <a:rPr sz="2500" b="0" i="0">
                <a:solidFill>
                  <a:srgbClr val="E9F2F4"/>
                </a:solidFill>
                <a:latin typeface="Consolas"/>
              </a:rPr>
              <a:t>24</a:t>
            </a:r>
          </a:p>
          <a:p>
            <a:pPr>
              <a:lnSpc>
                <a:spcPct val="132000"/>
              </a:lnSpc>
              <a:spcBef>
                <a:spcPts val="0"/>
              </a:spcBef>
              <a:spcAft>
                <a:spcPts val="0"/>
              </a:spcAft>
            </a:pPr>
            <a:r>
              <a:rPr sz="1000" b="0" i="0">
                <a:solidFill>
                  <a:srgbClr val="7A939E"/>
                </a:solidFill>
                <a:latin typeface="Segoe UI"/>
              </a:rPr>
              <a:t>schema migrations</a:t>
            </a:r>
          </a:p>
        </p:txBody>
      </p:sp>
      <p:sp>
        <p:nvSpPr>
          <p:cNvPr id="15" name="Rounded Rectangle 14"/>
          <p:cNvSpPr/>
          <p:nvPr/>
        </p:nvSpPr>
        <p:spPr>
          <a:xfrm>
            <a:off x="658368" y="3214116"/>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04672" y="3360420"/>
            <a:ext cx="1816547" cy="877824"/>
          </a:xfrm>
          <a:prstGeom prst="rect">
            <a:avLst/>
          </a:prstGeom>
          <a:noFill/>
        </p:spPr>
        <p:txBody>
          <a:bodyPr wrap="square" anchor="t" lIns="0" rIns="0" tIns="0" bIns="0">
            <a:spAutoFit/>
          </a:bodyPr>
          <a:lstStyle/>
          <a:p>
            <a:pPr>
              <a:spcBef>
                <a:spcPts val="0"/>
              </a:spcBef>
              <a:spcAft>
                <a:spcPts val="600"/>
              </a:spcAft>
            </a:pPr>
            <a:r>
              <a:rPr sz="2500" b="0" i="0">
                <a:solidFill>
                  <a:srgbClr val="E9F2F4"/>
                </a:solidFill>
                <a:latin typeface="Consolas"/>
              </a:rPr>
              <a:t>20</a:t>
            </a:r>
          </a:p>
          <a:p>
            <a:pPr>
              <a:lnSpc>
                <a:spcPct val="132000"/>
              </a:lnSpc>
              <a:spcBef>
                <a:spcPts val="0"/>
              </a:spcBef>
              <a:spcAft>
                <a:spcPts val="0"/>
              </a:spcAft>
            </a:pPr>
            <a:r>
              <a:rPr sz="1000" b="0" i="0">
                <a:solidFill>
                  <a:srgbClr val="7A939E"/>
                </a:solidFill>
                <a:latin typeface="Segoe UI"/>
              </a:rPr>
              <a:t>assistants, typed I/O</a:t>
            </a:r>
          </a:p>
        </p:txBody>
      </p:sp>
      <p:sp>
        <p:nvSpPr>
          <p:cNvPr id="17" name="Rounded Rectangle 16"/>
          <p:cNvSpPr/>
          <p:nvPr/>
        </p:nvSpPr>
        <p:spPr>
          <a:xfrm>
            <a:off x="2849819" y="3214116"/>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996123" y="3360420"/>
            <a:ext cx="1816547" cy="877824"/>
          </a:xfrm>
          <a:prstGeom prst="rect">
            <a:avLst/>
          </a:prstGeom>
          <a:noFill/>
        </p:spPr>
        <p:txBody>
          <a:bodyPr wrap="square" anchor="t" lIns="0" rIns="0" tIns="0" bIns="0">
            <a:spAutoFit/>
          </a:bodyPr>
          <a:lstStyle/>
          <a:p>
            <a:pPr>
              <a:spcBef>
                <a:spcPts val="0"/>
              </a:spcBef>
              <a:spcAft>
                <a:spcPts val="600"/>
              </a:spcAft>
            </a:pPr>
            <a:r>
              <a:rPr sz="2500" b="0" i="0">
                <a:solidFill>
                  <a:srgbClr val="E9F2F4"/>
                </a:solidFill>
                <a:latin typeface="Consolas"/>
              </a:rPr>
              <a:t>18</a:t>
            </a:r>
          </a:p>
          <a:p>
            <a:pPr>
              <a:lnSpc>
                <a:spcPct val="132000"/>
              </a:lnSpc>
              <a:spcBef>
                <a:spcPts val="0"/>
              </a:spcBef>
              <a:spcAft>
                <a:spcPts val="0"/>
              </a:spcAft>
            </a:pPr>
            <a:r>
              <a:rPr sz="1000" b="0" i="0">
                <a:solidFill>
                  <a:srgbClr val="7A939E"/>
                </a:solidFill>
                <a:latin typeface="Segoe UI"/>
              </a:rPr>
              <a:t>record types</a:t>
            </a:r>
          </a:p>
        </p:txBody>
      </p:sp>
      <p:sp>
        <p:nvSpPr>
          <p:cNvPr id="19" name="Rounded Rectangle 18"/>
          <p:cNvSpPr/>
          <p:nvPr/>
        </p:nvSpPr>
        <p:spPr>
          <a:xfrm>
            <a:off x="5041270" y="3214116"/>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187574" y="3360420"/>
            <a:ext cx="1816547" cy="877824"/>
          </a:xfrm>
          <a:prstGeom prst="rect">
            <a:avLst/>
          </a:prstGeom>
          <a:noFill/>
        </p:spPr>
        <p:txBody>
          <a:bodyPr wrap="square" anchor="t" lIns="0" rIns="0" tIns="0" bIns="0">
            <a:spAutoFit/>
          </a:bodyPr>
          <a:lstStyle/>
          <a:p>
            <a:pPr>
              <a:spcBef>
                <a:spcPts val="0"/>
              </a:spcBef>
              <a:spcAft>
                <a:spcPts val="600"/>
              </a:spcAft>
            </a:pPr>
            <a:r>
              <a:rPr sz="2500" b="0" i="0">
                <a:solidFill>
                  <a:srgbClr val="E9F2F4"/>
                </a:solidFill>
                <a:latin typeface="Consolas"/>
              </a:rPr>
              <a:t>14</a:t>
            </a:r>
          </a:p>
          <a:p>
            <a:pPr>
              <a:lnSpc>
                <a:spcPct val="132000"/>
              </a:lnSpc>
              <a:spcBef>
                <a:spcPts val="0"/>
              </a:spcBef>
              <a:spcAft>
                <a:spcPts val="0"/>
              </a:spcAft>
            </a:pPr>
            <a:r>
              <a:rPr sz="1000" b="0" i="0">
                <a:solidFill>
                  <a:srgbClr val="7A939E"/>
                </a:solidFill>
                <a:latin typeface="Segoe UI"/>
              </a:rPr>
              <a:t>workflows</a:t>
            </a:r>
          </a:p>
        </p:txBody>
      </p:sp>
      <p:sp>
        <p:nvSpPr>
          <p:cNvPr id="21" name="Rounded Rectangle 20"/>
          <p:cNvSpPr/>
          <p:nvPr/>
        </p:nvSpPr>
        <p:spPr>
          <a:xfrm>
            <a:off x="7232721" y="3214116"/>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7379025" y="3360420"/>
            <a:ext cx="1816547" cy="877824"/>
          </a:xfrm>
          <a:prstGeom prst="rect">
            <a:avLst/>
          </a:prstGeom>
          <a:noFill/>
        </p:spPr>
        <p:txBody>
          <a:bodyPr wrap="square" anchor="t" lIns="0" rIns="0" tIns="0" bIns="0">
            <a:spAutoFit/>
          </a:bodyPr>
          <a:lstStyle/>
          <a:p>
            <a:pPr>
              <a:spcBef>
                <a:spcPts val="0"/>
              </a:spcBef>
              <a:spcAft>
                <a:spcPts val="600"/>
              </a:spcAft>
            </a:pPr>
            <a:r>
              <a:rPr sz="2500" b="0" i="0">
                <a:solidFill>
                  <a:srgbClr val="E9F2F4"/>
                </a:solidFill>
                <a:latin typeface="Consolas"/>
              </a:rPr>
              <a:t>12</a:t>
            </a:r>
          </a:p>
          <a:p>
            <a:pPr>
              <a:lnSpc>
                <a:spcPct val="132000"/>
              </a:lnSpc>
              <a:spcBef>
                <a:spcPts val="0"/>
              </a:spcBef>
              <a:spcAft>
                <a:spcPts val="0"/>
              </a:spcAft>
            </a:pPr>
            <a:r>
              <a:rPr sz="1000" b="0" i="0">
                <a:solidFill>
                  <a:srgbClr val="7A939E"/>
                </a:solidFill>
                <a:latin typeface="Segoe UI"/>
              </a:rPr>
              <a:t>architecture decision records</a:t>
            </a:r>
          </a:p>
        </p:txBody>
      </p:sp>
      <p:sp>
        <p:nvSpPr>
          <p:cNvPr id="23" name="Rounded Rectangle 22"/>
          <p:cNvSpPr/>
          <p:nvPr/>
        </p:nvSpPr>
        <p:spPr>
          <a:xfrm>
            <a:off x="9424172" y="3214116"/>
            <a:ext cx="2109155" cy="1170432"/>
          </a:xfrm>
          <a:prstGeom prst="roundRect">
            <a:avLst>
              <a:gd name="adj" fmla="val 50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9570476" y="3360420"/>
            <a:ext cx="1816547" cy="877824"/>
          </a:xfrm>
          <a:prstGeom prst="rect">
            <a:avLst/>
          </a:prstGeom>
          <a:noFill/>
        </p:spPr>
        <p:txBody>
          <a:bodyPr wrap="square" anchor="t" lIns="0" rIns="0" tIns="0" bIns="0">
            <a:spAutoFit/>
          </a:bodyPr>
          <a:lstStyle/>
          <a:p>
            <a:pPr>
              <a:spcBef>
                <a:spcPts val="0"/>
              </a:spcBef>
              <a:spcAft>
                <a:spcPts val="600"/>
              </a:spcAft>
            </a:pPr>
            <a:r>
              <a:rPr sz="2500" b="0" i="0">
                <a:solidFill>
                  <a:srgbClr val="E9F2F4"/>
                </a:solidFill>
                <a:latin typeface="Consolas"/>
              </a:rPr>
              <a:t>31</a:t>
            </a:r>
          </a:p>
          <a:p>
            <a:pPr>
              <a:lnSpc>
                <a:spcPct val="132000"/>
              </a:lnSpc>
              <a:spcBef>
                <a:spcPts val="0"/>
              </a:spcBef>
              <a:spcAft>
                <a:spcPts val="0"/>
              </a:spcAft>
            </a:pPr>
            <a:r>
              <a:rPr sz="1000" b="0" i="0">
                <a:solidFill>
                  <a:srgbClr val="7A939E"/>
                </a:solidFill>
                <a:latin typeface="Segoe UI"/>
              </a:rPr>
              <a:t>live sheets in production</a:t>
            </a:r>
          </a:p>
        </p:txBody>
      </p:sp>
      <p:sp>
        <p:nvSpPr>
          <p:cNvPr id="25" name="TextBox 24"/>
          <p:cNvSpPr txBox="1"/>
          <p:nvPr/>
        </p:nvSpPr>
        <p:spPr>
          <a:xfrm>
            <a:off x="658368" y="4722876"/>
            <a:ext cx="9601200" cy="731520"/>
          </a:xfrm>
          <a:prstGeom prst="rect">
            <a:avLst/>
          </a:prstGeom>
          <a:noFill/>
        </p:spPr>
        <p:txBody>
          <a:bodyPr wrap="square" anchor="t" lIns="0" rIns="0" tIns="0" bIns="0">
            <a:spAutoFit/>
          </a:bodyPr>
          <a:lstStyle/>
          <a:p>
            <a:pPr>
              <a:lnSpc>
                <a:spcPct val="145000"/>
              </a:lnSpc>
              <a:spcBef>
                <a:spcPts val="0"/>
              </a:spcBef>
              <a:spcAft>
                <a:spcPts val="800"/>
              </a:spcAft>
            </a:pPr>
            <a:r>
              <a:rPr sz="1400" b="0" i="0">
                <a:solidFill>
                  <a:srgbClr val="A8C0C8"/>
                </a:solidFill>
                <a:latin typeface="Segoe UI"/>
              </a:rPr>
              <a:t>These were queried from the repository and the running production database on the morning of this briefing. Any of them can be re-run in front of you.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0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0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0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0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00"/>
                                        <p:tgtEl>
                                          <p:spTgt spid="1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0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00"/>
                                        <p:tgtEl>
                                          <p:spTgt spid="14"/>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0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0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0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00"/>
                                        <p:tgtEl>
                                          <p:spTgt spid="20"/>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400"/>
                                        <p:tgtEl>
                                          <p:spTgt spid="21"/>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0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0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00"/>
                                        <p:tgtEl>
                                          <p:spTgt spid="24"/>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animEffect transition="in" filter="fade">
                                      <p:cBhvr>
                                        <p:cTn id="71"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GAPS  </a:t>
            </a:r>
            <a:r>
              <a:rPr sz="900" b="1" i="0" spc="140">
                <a:solidFill>
                  <a:srgbClr val="3EDCC2"/>
                </a:solidFill>
                <a:latin typeface="Consolas"/>
              </a:rPr>
              <a:t>26  </a:t>
            </a:r>
            <a:r>
              <a:rPr sz="900" b="0" i="0" spc="140">
                <a:solidFill>
                  <a:srgbClr val="7A939E"/>
                </a:solidFill>
                <a:latin typeface="Consolas"/>
              </a:rPr>
              <a:t>TOLD TO YOU, NOT FOUND BY YOU</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485900"/>
            <a:ext cx="2606040" cy="219456"/>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ENTERPRISE REQUIREMENT</a:t>
            </a:r>
          </a:p>
        </p:txBody>
      </p:sp>
      <p:sp>
        <p:nvSpPr>
          <p:cNvPr id="6" name="TextBox 5"/>
          <p:cNvSpPr txBox="1"/>
          <p:nvPr/>
        </p:nvSpPr>
        <p:spPr>
          <a:xfrm>
            <a:off x="3355848" y="1485900"/>
            <a:ext cx="1234440" cy="219456"/>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STATE</a:t>
            </a:r>
          </a:p>
        </p:txBody>
      </p:sp>
      <p:sp>
        <p:nvSpPr>
          <p:cNvPr id="7" name="TextBox 6"/>
          <p:cNvSpPr txBox="1"/>
          <p:nvPr/>
        </p:nvSpPr>
        <p:spPr>
          <a:xfrm>
            <a:off x="4700016" y="1485900"/>
            <a:ext cx="2679192" cy="219456"/>
          </a:xfrm>
          <a:prstGeom prst="rect">
            <a:avLst/>
          </a:prstGeom>
          <a:noFill/>
        </p:spPr>
        <p:txBody>
          <a:bodyPr wrap="square" anchor="t" lIns="0" rIns="0" tIns="0" bIns="0">
            <a:spAutoFit/>
          </a:bodyPr>
          <a:lstStyle/>
          <a:p>
            <a:pPr>
              <a:spcBef>
                <a:spcPts val="0"/>
              </a:spcBef>
              <a:spcAft>
                <a:spcPts val="0"/>
              </a:spcAft>
            </a:pPr>
            <a:r>
              <a:rPr sz="850" b="0" i="0" spc="120">
                <a:solidFill>
                  <a:srgbClr val="7A939E"/>
                </a:solidFill>
                <a:latin typeface="Consolas"/>
              </a:rPr>
              <a:t>NOTE</a:t>
            </a:r>
          </a:p>
        </p:txBody>
      </p:sp>
      <p:sp>
        <p:nvSpPr>
          <p:cNvPr id="8" name="Rectangle 7"/>
          <p:cNvSpPr/>
          <p:nvPr/>
        </p:nvSpPr>
        <p:spPr>
          <a:xfrm>
            <a:off x="658368" y="1723644"/>
            <a:ext cx="6720840" cy="9525"/>
          </a:xfrm>
          <a:prstGeom prst="rect">
            <a:avLst/>
          </a:prstGeom>
          <a:solidFill>
            <a:srgbClr val="2A4C5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8368" y="1888236"/>
            <a:ext cx="2606040" cy="365760"/>
          </a:xfrm>
          <a:prstGeom prst="rect">
            <a:avLst/>
          </a:prstGeom>
          <a:noFill/>
        </p:spPr>
        <p:txBody>
          <a:bodyPr wrap="square" anchor="t" lIns="0" rIns="0" tIns="0" bIns="0">
            <a:spAutoFit/>
          </a:bodyPr>
          <a:lstStyle/>
          <a:p>
            <a:pPr>
              <a:spcBef>
                <a:spcPts val="0"/>
              </a:spcBef>
              <a:spcAft>
                <a:spcPts val="0"/>
              </a:spcAft>
            </a:pPr>
            <a:r>
              <a:rPr sz="1100" b="0" i="0">
                <a:solidFill>
                  <a:srgbClr val="E9F2F4"/>
                </a:solidFill>
                <a:latin typeface="Segoe UI"/>
              </a:rPr>
              <a:t>SSO — SAML / OIDC</a:t>
            </a:r>
          </a:p>
        </p:txBody>
      </p:sp>
      <p:sp>
        <p:nvSpPr>
          <p:cNvPr id="10" name="Rounded Rectangle 9"/>
          <p:cNvSpPr/>
          <p:nvPr/>
        </p:nvSpPr>
        <p:spPr>
          <a:xfrm>
            <a:off x="3355848" y="1879092"/>
            <a:ext cx="1024128" cy="237744"/>
          </a:xfrm>
          <a:prstGeom prst="roundRect">
            <a:avLst>
              <a:gd name="adj" fmla="val 14000"/>
            </a:avLst>
          </a:prstGeom>
          <a:solidFill>
            <a:srgbClr val="2C1715"/>
          </a:solidFill>
          <a:ln w="9525">
            <a:solidFill>
              <a:srgbClr val="2C17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3355848" y="1924812"/>
            <a:ext cx="1024128" cy="201168"/>
          </a:xfrm>
          <a:prstGeom prst="rect">
            <a:avLst/>
          </a:prstGeom>
          <a:noFill/>
        </p:spPr>
        <p:txBody>
          <a:bodyPr wrap="square" anchor="t" lIns="0" rIns="0" tIns="0" bIns="0">
            <a:spAutoFit/>
          </a:bodyPr>
          <a:lstStyle/>
          <a:p>
            <a:pPr algn="ctr">
              <a:spcBef>
                <a:spcPts val="0"/>
              </a:spcBef>
              <a:spcAft>
                <a:spcPts val="0"/>
              </a:spcAft>
            </a:pPr>
            <a:r>
              <a:rPr sz="750" b="0" i="0" spc="70">
                <a:solidFill>
                  <a:srgbClr val="F0837B"/>
                </a:solidFill>
                <a:latin typeface="Consolas"/>
              </a:rPr>
              <a:t>NOT BUILT</a:t>
            </a:r>
          </a:p>
        </p:txBody>
      </p:sp>
      <p:sp>
        <p:nvSpPr>
          <p:cNvPr id="12" name="TextBox 11"/>
          <p:cNvSpPr txBox="1"/>
          <p:nvPr/>
        </p:nvSpPr>
        <p:spPr>
          <a:xfrm>
            <a:off x="4700016" y="1879092"/>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Deal blocker. Named in the platform spec.</a:t>
            </a:r>
          </a:p>
        </p:txBody>
      </p:sp>
      <p:sp>
        <p:nvSpPr>
          <p:cNvPr id="13" name="Rectangle 12"/>
          <p:cNvSpPr/>
          <p:nvPr/>
        </p:nvSpPr>
        <p:spPr>
          <a:xfrm>
            <a:off x="658368" y="2253996"/>
            <a:ext cx="6720840"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2350008"/>
            <a:ext cx="2606040" cy="365760"/>
          </a:xfrm>
          <a:prstGeom prst="rect">
            <a:avLst/>
          </a:prstGeom>
          <a:noFill/>
        </p:spPr>
        <p:txBody>
          <a:bodyPr wrap="square" anchor="t" lIns="0" rIns="0" tIns="0" bIns="0">
            <a:spAutoFit/>
          </a:bodyPr>
          <a:lstStyle/>
          <a:p>
            <a:pPr>
              <a:spcBef>
                <a:spcPts val="0"/>
              </a:spcBef>
              <a:spcAft>
                <a:spcPts val="0"/>
              </a:spcAft>
            </a:pPr>
            <a:r>
              <a:rPr sz="1100" b="0" i="0">
                <a:solidFill>
                  <a:srgbClr val="E9F2F4"/>
                </a:solidFill>
                <a:latin typeface="Segoe UI"/>
              </a:rPr>
              <a:t>MFA</a:t>
            </a:r>
          </a:p>
        </p:txBody>
      </p:sp>
      <p:sp>
        <p:nvSpPr>
          <p:cNvPr id="15" name="Rounded Rectangle 14"/>
          <p:cNvSpPr/>
          <p:nvPr/>
        </p:nvSpPr>
        <p:spPr>
          <a:xfrm>
            <a:off x="3355848" y="2340864"/>
            <a:ext cx="1024128" cy="237744"/>
          </a:xfrm>
          <a:prstGeom prst="roundRect">
            <a:avLst>
              <a:gd name="adj" fmla="val 14000"/>
            </a:avLst>
          </a:prstGeom>
          <a:solidFill>
            <a:srgbClr val="2C1715"/>
          </a:solidFill>
          <a:ln w="9525">
            <a:solidFill>
              <a:srgbClr val="2C17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355848" y="2386584"/>
            <a:ext cx="1024128" cy="201168"/>
          </a:xfrm>
          <a:prstGeom prst="rect">
            <a:avLst/>
          </a:prstGeom>
          <a:noFill/>
        </p:spPr>
        <p:txBody>
          <a:bodyPr wrap="square" anchor="t" lIns="0" rIns="0" tIns="0" bIns="0">
            <a:spAutoFit/>
          </a:bodyPr>
          <a:lstStyle/>
          <a:p>
            <a:pPr algn="ctr">
              <a:spcBef>
                <a:spcPts val="0"/>
              </a:spcBef>
              <a:spcAft>
                <a:spcPts val="0"/>
              </a:spcAft>
            </a:pPr>
            <a:r>
              <a:rPr sz="750" b="0" i="0" spc="70">
                <a:solidFill>
                  <a:srgbClr val="F0837B"/>
                </a:solidFill>
                <a:latin typeface="Consolas"/>
              </a:rPr>
              <a:t>NOT BUILT</a:t>
            </a:r>
          </a:p>
        </p:txBody>
      </p:sp>
      <p:sp>
        <p:nvSpPr>
          <p:cNvPr id="17" name="TextBox 16"/>
          <p:cNvSpPr txBox="1"/>
          <p:nvPr/>
        </p:nvSpPr>
        <p:spPr>
          <a:xfrm>
            <a:off x="4700016" y="2340864"/>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Deal blocker.</a:t>
            </a:r>
          </a:p>
        </p:txBody>
      </p:sp>
      <p:sp>
        <p:nvSpPr>
          <p:cNvPr id="18" name="Rectangle 17"/>
          <p:cNvSpPr/>
          <p:nvPr/>
        </p:nvSpPr>
        <p:spPr>
          <a:xfrm>
            <a:off x="658368" y="2715768"/>
            <a:ext cx="6720840"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8368" y="2811780"/>
            <a:ext cx="2606040" cy="365760"/>
          </a:xfrm>
          <a:prstGeom prst="rect">
            <a:avLst/>
          </a:prstGeom>
          <a:noFill/>
        </p:spPr>
        <p:txBody>
          <a:bodyPr wrap="square" anchor="t" lIns="0" rIns="0" tIns="0" bIns="0">
            <a:spAutoFit/>
          </a:bodyPr>
          <a:lstStyle/>
          <a:p>
            <a:pPr>
              <a:spcBef>
                <a:spcPts val="0"/>
              </a:spcBef>
              <a:spcAft>
                <a:spcPts val="0"/>
              </a:spcAft>
            </a:pPr>
            <a:r>
              <a:rPr sz="1100" b="0" i="0">
                <a:solidFill>
                  <a:srgbClr val="E9F2F4"/>
                </a:solidFill>
                <a:latin typeface="Segoe UI"/>
              </a:rPr>
              <a:t>Encryption at rest + KMS</a:t>
            </a:r>
          </a:p>
        </p:txBody>
      </p:sp>
      <p:sp>
        <p:nvSpPr>
          <p:cNvPr id="20" name="Rounded Rectangle 19"/>
          <p:cNvSpPr/>
          <p:nvPr/>
        </p:nvSpPr>
        <p:spPr>
          <a:xfrm>
            <a:off x="3355848" y="2802636"/>
            <a:ext cx="1024128" cy="237744"/>
          </a:xfrm>
          <a:prstGeom prst="roundRect">
            <a:avLst>
              <a:gd name="adj" fmla="val 14000"/>
            </a:avLst>
          </a:prstGeom>
          <a:solidFill>
            <a:srgbClr val="2C1715"/>
          </a:solidFill>
          <a:ln w="9525">
            <a:solidFill>
              <a:srgbClr val="2C17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355848" y="2848356"/>
            <a:ext cx="1024128" cy="201168"/>
          </a:xfrm>
          <a:prstGeom prst="rect">
            <a:avLst/>
          </a:prstGeom>
          <a:noFill/>
        </p:spPr>
        <p:txBody>
          <a:bodyPr wrap="square" anchor="t" lIns="0" rIns="0" tIns="0" bIns="0">
            <a:spAutoFit/>
          </a:bodyPr>
          <a:lstStyle/>
          <a:p>
            <a:pPr algn="ctr">
              <a:spcBef>
                <a:spcPts val="0"/>
              </a:spcBef>
              <a:spcAft>
                <a:spcPts val="0"/>
              </a:spcAft>
            </a:pPr>
            <a:r>
              <a:rPr sz="750" b="0" i="0" spc="70">
                <a:solidFill>
                  <a:srgbClr val="F0837B"/>
                </a:solidFill>
                <a:latin typeface="Consolas"/>
              </a:rPr>
              <a:t>NOT BUILT</a:t>
            </a:r>
          </a:p>
        </p:txBody>
      </p:sp>
      <p:sp>
        <p:nvSpPr>
          <p:cNvPr id="22" name="TextBox 21"/>
          <p:cNvSpPr txBox="1"/>
          <p:nvPr/>
        </p:nvSpPr>
        <p:spPr>
          <a:xfrm>
            <a:off x="4700016" y="2802636"/>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Specified, not yet implemented.</a:t>
            </a:r>
          </a:p>
        </p:txBody>
      </p:sp>
      <p:sp>
        <p:nvSpPr>
          <p:cNvPr id="23" name="Rectangle 22"/>
          <p:cNvSpPr/>
          <p:nvPr/>
        </p:nvSpPr>
        <p:spPr>
          <a:xfrm>
            <a:off x="658368" y="3177540"/>
            <a:ext cx="6720840"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 y="3273552"/>
            <a:ext cx="2606040" cy="365760"/>
          </a:xfrm>
          <a:prstGeom prst="rect">
            <a:avLst/>
          </a:prstGeom>
          <a:noFill/>
        </p:spPr>
        <p:txBody>
          <a:bodyPr wrap="square" anchor="t" lIns="0" rIns="0" tIns="0" bIns="0">
            <a:spAutoFit/>
          </a:bodyPr>
          <a:lstStyle/>
          <a:p>
            <a:pPr>
              <a:spcBef>
                <a:spcPts val="0"/>
              </a:spcBef>
              <a:spcAft>
                <a:spcPts val="0"/>
              </a:spcAft>
            </a:pPr>
            <a:r>
              <a:rPr sz="1100" b="0" i="0">
                <a:solidFill>
                  <a:srgbClr val="E9F2F4"/>
                </a:solidFill>
                <a:latin typeface="Segoe UI"/>
              </a:rPr>
              <a:t>CI running the suite</a:t>
            </a:r>
          </a:p>
        </p:txBody>
      </p:sp>
      <p:sp>
        <p:nvSpPr>
          <p:cNvPr id="25" name="Rounded Rectangle 24"/>
          <p:cNvSpPr/>
          <p:nvPr/>
        </p:nvSpPr>
        <p:spPr>
          <a:xfrm>
            <a:off x="3355848" y="3264407"/>
            <a:ext cx="1024128" cy="237744"/>
          </a:xfrm>
          <a:prstGeom prst="roundRect">
            <a:avLst>
              <a:gd name="adj" fmla="val 14000"/>
            </a:avLst>
          </a:prstGeom>
          <a:solidFill>
            <a:srgbClr val="2C1715"/>
          </a:solidFill>
          <a:ln w="9525">
            <a:solidFill>
              <a:srgbClr val="2C17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355848" y="3310128"/>
            <a:ext cx="1024128" cy="201168"/>
          </a:xfrm>
          <a:prstGeom prst="rect">
            <a:avLst/>
          </a:prstGeom>
          <a:noFill/>
        </p:spPr>
        <p:txBody>
          <a:bodyPr wrap="square" anchor="t" lIns="0" rIns="0" tIns="0" bIns="0">
            <a:spAutoFit/>
          </a:bodyPr>
          <a:lstStyle/>
          <a:p>
            <a:pPr algn="ctr">
              <a:spcBef>
                <a:spcPts val="0"/>
              </a:spcBef>
              <a:spcAft>
                <a:spcPts val="0"/>
              </a:spcAft>
            </a:pPr>
            <a:r>
              <a:rPr sz="750" b="0" i="0" spc="70">
                <a:solidFill>
                  <a:srgbClr val="F0837B"/>
                </a:solidFill>
                <a:latin typeface="Consolas"/>
              </a:rPr>
              <a:t>0 RUNS</a:t>
            </a:r>
          </a:p>
        </p:txBody>
      </p:sp>
      <p:sp>
        <p:nvSpPr>
          <p:cNvPr id="27" name="TextBox 26"/>
          <p:cNvSpPr txBox="1"/>
          <p:nvPr/>
        </p:nvSpPr>
        <p:spPr>
          <a:xfrm>
            <a:off x="4700016" y="3264407"/>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Six workflow files exist; none has executed.</a:t>
            </a:r>
          </a:p>
        </p:txBody>
      </p:sp>
      <p:sp>
        <p:nvSpPr>
          <p:cNvPr id="28" name="Rectangle 27"/>
          <p:cNvSpPr/>
          <p:nvPr/>
        </p:nvSpPr>
        <p:spPr>
          <a:xfrm>
            <a:off x="658368" y="3639312"/>
            <a:ext cx="6720840"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3735324"/>
            <a:ext cx="2606040" cy="365760"/>
          </a:xfrm>
          <a:prstGeom prst="rect">
            <a:avLst/>
          </a:prstGeom>
          <a:noFill/>
        </p:spPr>
        <p:txBody>
          <a:bodyPr wrap="square" anchor="t" lIns="0" rIns="0" tIns="0" bIns="0">
            <a:spAutoFit/>
          </a:bodyPr>
          <a:lstStyle/>
          <a:p>
            <a:pPr>
              <a:spcBef>
                <a:spcPts val="0"/>
              </a:spcBef>
              <a:spcAft>
                <a:spcPts val="0"/>
              </a:spcAft>
            </a:pPr>
            <a:r>
              <a:rPr sz="1100" b="0" i="0">
                <a:solidFill>
                  <a:srgbClr val="E9F2F4"/>
                </a:solidFill>
                <a:latin typeface="Segoe UI"/>
              </a:rPr>
              <a:t>Staging environment</a:t>
            </a:r>
          </a:p>
        </p:txBody>
      </p:sp>
      <p:sp>
        <p:nvSpPr>
          <p:cNvPr id="30" name="Rounded Rectangle 29"/>
          <p:cNvSpPr/>
          <p:nvPr/>
        </p:nvSpPr>
        <p:spPr>
          <a:xfrm>
            <a:off x="3355848" y="3726179"/>
            <a:ext cx="1024128" cy="237744"/>
          </a:xfrm>
          <a:prstGeom prst="roundRect">
            <a:avLst>
              <a:gd name="adj" fmla="val 14000"/>
            </a:avLst>
          </a:prstGeom>
          <a:solidFill>
            <a:srgbClr val="2C1715"/>
          </a:solidFill>
          <a:ln w="9525">
            <a:solidFill>
              <a:srgbClr val="2C17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355848" y="3771900"/>
            <a:ext cx="1024128" cy="201168"/>
          </a:xfrm>
          <a:prstGeom prst="rect">
            <a:avLst/>
          </a:prstGeom>
          <a:noFill/>
        </p:spPr>
        <p:txBody>
          <a:bodyPr wrap="square" anchor="t" lIns="0" rIns="0" tIns="0" bIns="0">
            <a:spAutoFit/>
          </a:bodyPr>
          <a:lstStyle/>
          <a:p>
            <a:pPr algn="ctr">
              <a:spcBef>
                <a:spcPts val="0"/>
              </a:spcBef>
              <a:spcAft>
                <a:spcPts val="0"/>
              </a:spcAft>
            </a:pPr>
            <a:r>
              <a:rPr sz="750" b="0" i="0" spc="70">
                <a:solidFill>
                  <a:srgbClr val="F0837B"/>
                </a:solidFill>
                <a:latin typeface="Consolas"/>
              </a:rPr>
              <a:t>NONE</a:t>
            </a:r>
          </a:p>
        </p:txBody>
      </p:sp>
      <p:sp>
        <p:nvSpPr>
          <p:cNvPr id="32" name="TextBox 31"/>
          <p:cNvSpPr txBox="1"/>
          <p:nvPr/>
        </p:nvSpPr>
        <p:spPr>
          <a:xfrm>
            <a:off x="4700016" y="3726179"/>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Changes are validated in production.</a:t>
            </a:r>
          </a:p>
        </p:txBody>
      </p:sp>
      <p:sp>
        <p:nvSpPr>
          <p:cNvPr id="33" name="Rectangle 32"/>
          <p:cNvSpPr/>
          <p:nvPr/>
        </p:nvSpPr>
        <p:spPr>
          <a:xfrm>
            <a:off x="658368" y="4101083"/>
            <a:ext cx="6720840"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8368" y="4197095"/>
            <a:ext cx="2606040" cy="365760"/>
          </a:xfrm>
          <a:prstGeom prst="rect">
            <a:avLst/>
          </a:prstGeom>
          <a:noFill/>
        </p:spPr>
        <p:txBody>
          <a:bodyPr wrap="square" anchor="t" lIns="0" rIns="0" tIns="0" bIns="0">
            <a:spAutoFit/>
          </a:bodyPr>
          <a:lstStyle/>
          <a:p>
            <a:pPr>
              <a:spcBef>
                <a:spcPts val="0"/>
              </a:spcBef>
              <a:spcAft>
                <a:spcPts val="0"/>
              </a:spcAft>
            </a:pPr>
            <a:r>
              <a:rPr sz="1100" b="0" i="0">
                <a:solidFill>
                  <a:srgbClr val="E9F2F4"/>
                </a:solidFill>
                <a:latin typeface="Segoe UI"/>
              </a:rPr>
              <a:t>Backup with tested restore</a:t>
            </a:r>
          </a:p>
        </p:txBody>
      </p:sp>
      <p:sp>
        <p:nvSpPr>
          <p:cNvPr id="35" name="Rounded Rectangle 34"/>
          <p:cNvSpPr/>
          <p:nvPr/>
        </p:nvSpPr>
        <p:spPr>
          <a:xfrm>
            <a:off x="3355848" y="4187951"/>
            <a:ext cx="1024128" cy="237744"/>
          </a:xfrm>
          <a:prstGeom prst="roundRect">
            <a:avLst>
              <a:gd name="adj" fmla="val 14000"/>
            </a:avLst>
          </a:prstGeom>
          <a:solidFill>
            <a:srgbClr val="2C1715"/>
          </a:solidFill>
          <a:ln w="9525">
            <a:solidFill>
              <a:srgbClr val="2C171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355848" y="4233671"/>
            <a:ext cx="1024128" cy="201168"/>
          </a:xfrm>
          <a:prstGeom prst="rect">
            <a:avLst/>
          </a:prstGeom>
          <a:noFill/>
        </p:spPr>
        <p:txBody>
          <a:bodyPr wrap="square" anchor="t" lIns="0" rIns="0" tIns="0" bIns="0">
            <a:spAutoFit/>
          </a:bodyPr>
          <a:lstStyle/>
          <a:p>
            <a:pPr algn="ctr">
              <a:spcBef>
                <a:spcPts val="0"/>
              </a:spcBef>
              <a:spcAft>
                <a:spcPts val="0"/>
              </a:spcAft>
            </a:pPr>
            <a:r>
              <a:rPr sz="750" b="0" i="0" spc="70">
                <a:solidFill>
                  <a:srgbClr val="F0837B"/>
                </a:solidFill>
                <a:latin typeface="Consolas"/>
              </a:rPr>
              <a:t>NONE</a:t>
            </a:r>
          </a:p>
        </p:txBody>
      </p:sp>
      <p:sp>
        <p:nvSpPr>
          <p:cNvPr id="37" name="TextBox 36"/>
          <p:cNvSpPr txBox="1"/>
          <p:nvPr/>
        </p:nvSpPr>
        <p:spPr>
          <a:xfrm>
            <a:off x="4700016" y="4187951"/>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An untested restore is not a backup.</a:t>
            </a:r>
          </a:p>
        </p:txBody>
      </p:sp>
      <p:sp>
        <p:nvSpPr>
          <p:cNvPr id="38" name="Rectangle 37"/>
          <p:cNvSpPr/>
          <p:nvPr/>
        </p:nvSpPr>
        <p:spPr>
          <a:xfrm>
            <a:off x="658368" y="4562856"/>
            <a:ext cx="6720840"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58368" y="4658868"/>
            <a:ext cx="2606040" cy="365760"/>
          </a:xfrm>
          <a:prstGeom prst="rect">
            <a:avLst/>
          </a:prstGeom>
          <a:noFill/>
        </p:spPr>
        <p:txBody>
          <a:bodyPr wrap="square" anchor="t" lIns="0" rIns="0" tIns="0" bIns="0">
            <a:spAutoFit/>
          </a:bodyPr>
          <a:lstStyle/>
          <a:p>
            <a:pPr>
              <a:spcBef>
                <a:spcPts val="0"/>
              </a:spcBef>
              <a:spcAft>
                <a:spcPts val="0"/>
              </a:spcAft>
            </a:pPr>
            <a:r>
              <a:rPr sz="1100" b="0" i="0">
                <a:solidFill>
                  <a:srgbClr val="E9F2F4"/>
                </a:solidFill>
                <a:latin typeface="Segoe UI"/>
              </a:rPr>
              <a:t>Retrieval / RAG</a:t>
            </a:r>
          </a:p>
        </p:txBody>
      </p:sp>
      <p:sp>
        <p:nvSpPr>
          <p:cNvPr id="40" name="Rounded Rectangle 39"/>
          <p:cNvSpPr/>
          <p:nvPr/>
        </p:nvSpPr>
        <p:spPr>
          <a:xfrm>
            <a:off x="3355848" y="4649724"/>
            <a:ext cx="1024128" cy="237744"/>
          </a:xfrm>
          <a:prstGeom prst="roundRect">
            <a:avLst>
              <a:gd name="adj" fmla="val 14000"/>
            </a:avLst>
          </a:prstGeom>
          <a:solidFill>
            <a:srgbClr val="2A2110"/>
          </a:solidFill>
          <a:ln w="9525">
            <a:solidFill>
              <a:srgbClr val="2A211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3355848" y="4695444"/>
            <a:ext cx="1024128" cy="201168"/>
          </a:xfrm>
          <a:prstGeom prst="rect">
            <a:avLst/>
          </a:prstGeom>
          <a:noFill/>
        </p:spPr>
        <p:txBody>
          <a:bodyPr wrap="square" anchor="t" lIns="0" rIns="0" tIns="0" bIns="0">
            <a:spAutoFit/>
          </a:bodyPr>
          <a:lstStyle/>
          <a:p>
            <a:pPr algn="ctr">
              <a:spcBef>
                <a:spcPts val="0"/>
              </a:spcBef>
              <a:spcAft>
                <a:spcPts val="0"/>
              </a:spcAft>
            </a:pPr>
            <a:r>
              <a:rPr sz="750" b="0" i="0" spc="70">
                <a:solidFill>
                  <a:srgbClr val="E0A85A"/>
                </a:solidFill>
                <a:latin typeface="Consolas"/>
              </a:rPr>
              <a:t>PARTIAL</a:t>
            </a:r>
          </a:p>
        </p:txBody>
      </p:sp>
      <p:sp>
        <p:nvSpPr>
          <p:cNvPr id="42" name="TextBox 41"/>
          <p:cNvSpPr txBox="1"/>
          <p:nvPr/>
        </p:nvSpPr>
        <p:spPr>
          <a:xfrm>
            <a:off x="4700016" y="4649724"/>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Wired for DocLogix; no embeddings yet.</a:t>
            </a:r>
          </a:p>
        </p:txBody>
      </p:sp>
      <p:sp>
        <p:nvSpPr>
          <p:cNvPr id="43" name="Rectangle 42"/>
          <p:cNvSpPr/>
          <p:nvPr/>
        </p:nvSpPr>
        <p:spPr>
          <a:xfrm>
            <a:off x="658368" y="5024628"/>
            <a:ext cx="6720840"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8368" y="5120640"/>
            <a:ext cx="2606040" cy="365760"/>
          </a:xfrm>
          <a:prstGeom prst="rect">
            <a:avLst/>
          </a:prstGeom>
          <a:noFill/>
        </p:spPr>
        <p:txBody>
          <a:bodyPr wrap="square" anchor="t" lIns="0" rIns="0" tIns="0" bIns="0">
            <a:spAutoFit/>
          </a:bodyPr>
          <a:lstStyle/>
          <a:p>
            <a:pPr>
              <a:spcBef>
                <a:spcPts val="0"/>
              </a:spcBef>
              <a:spcAft>
                <a:spcPts val="0"/>
              </a:spcAft>
            </a:pPr>
            <a:r>
              <a:rPr sz="1100" b="0" i="0">
                <a:solidFill>
                  <a:srgbClr val="E9F2F4"/>
                </a:solidFill>
                <a:latin typeface="Segoe UI"/>
              </a:rPr>
              <a:t>AI policy enforcement</a:t>
            </a:r>
          </a:p>
        </p:txBody>
      </p:sp>
      <p:sp>
        <p:nvSpPr>
          <p:cNvPr id="45" name="Rounded Rectangle 44"/>
          <p:cNvSpPr/>
          <p:nvPr/>
        </p:nvSpPr>
        <p:spPr>
          <a:xfrm>
            <a:off x="3355848" y="5111496"/>
            <a:ext cx="1024128" cy="237744"/>
          </a:xfrm>
          <a:prstGeom prst="roundRect">
            <a:avLst>
              <a:gd name="adj" fmla="val 14000"/>
            </a:avLst>
          </a:prstGeom>
          <a:solidFill>
            <a:srgbClr val="2A2110"/>
          </a:solidFill>
          <a:ln w="9525">
            <a:solidFill>
              <a:srgbClr val="2A211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3355848" y="5157216"/>
            <a:ext cx="1024128" cy="201168"/>
          </a:xfrm>
          <a:prstGeom prst="rect">
            <a:avLst/>
          </a:prstGeom>
          <a:noFill/>
        </p:spPr>
        <p:txBody>
          <a:bodyPr wrap="square" anchor="t" lIns="0" rIns="0" tIns="0" bIns="0">
            <a:spAutoFit/>
          </a:bodyPr>
          <a:lstStyle/>
          <a:p>
            <a:pPr algn="ctr">
              <a:spcBef>
                <a:spcPts val="0"/>
              </a:spcBef>
              <a:spcAft>
                <a:spcPts val="0"/>
              </a:spcAft>
            </a:pPr>
            <a:r>
              <a:rPr sz="750" b="0" i="0" spc="70">
                <a:solidFill>
                  <a:srgbClr val="E0A85A"/>
                </a:solidFill>
                <a:latin typeface="Consolas"/>
              </a:rPr>
              <a:t>REPORT-ONLY</a:t>
            </a:r>
          </a:p>
        </p:txBody>
      </p:sp>
      <p:sp>
        <p:nvSpPr>
          <p:cNvPr id="47" name="TextBox 46"/>
          <p:cNvSpPr txBox="1"/>
          <p:nvPr/>
        </p:nvSpPr>
        <p:spPr>
          <a:xfrm>
            <a:off x="4700016" y="5111496"/>
            <a:ext cx="2679192" cy="411480"/>
          </a:xfrm>
          <a:prstGeom prst="rect">
            <a:avLst/>
          </a:prstGeom>
          <a:noFill/>
        </p:spPr>
        <p:txBody>
          <a:bodyPr wrap="square" anchor="t" lIns="0" rIns="0" tIns="0" bIns="0">
            <a:spAutoFit/>
          </a:bodyPr>
          <a:lstStyle/>
          <a:p>
            <a:pPr>
              <a:lnSpc>
                <a:spcPct val="130000"/>
              </a:lnSpc>
              <a:spcBef>
                <a:spcPts val="0"/>
              </a:spcBef>
              <a:spcAft>
                <a:spcPts val="0"/>
              </a:spcAft>
            </a:pPr>
            <a:r>
              <a:rPr sz="950" b="0" i="0">
                <a:solidFill>
                  <a:srgbClr val="A8C0C8"/>
                </a:solidFill>
                <a:latin typeface="Segoe UI"/>
              </a:rPr>
              <a:t>Recording on every call; enforcement behind a flag.</a:t>
            </a:r>
          </a:p>
        </p:txBody>
      </p:sp>
      <p:sp>
        <p:nvSpPr>
          <p:cNvPr id="48" name="Rectangle 47"/>
          <p:cNvSpPr/>
          <p:nvPr/>
        </p:nvSpPr>
        <p:spPr>
          <a:xfrm>
            <a:off x="658368" y="5486400"/>
            <a:ext cx="6720840"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360920" y="1467612"/>
            <a:ext cx="4169663" cy="1463040"/>
          </a:xfrm>
          <a:prstGeom prst="rect">
            <a:avLst/>
          </a:prstGeom>
          <a:noFill/>
        </p:spPr>
        <p:txBody>
          <a:bodyPr wrap="square" anchor="t" lIns="0" rIns="0" tIns="0" bIns="0">
            <a:spAutoFit/>
          </a:bodyPr>
          <a:lstStyle/>
          <a:p>
            <a:pPr>
              <a:lnSpc>
                <a:spcPct val="112000"/>
              </a:lnSpc>
              <a:spcBef>
                <a:spcPts val="0"/>
              </a:spcBef>
              <a:spcAft>
                <a:spcPts val="0"/>
              </a:spcAft>
            </a:pPr>
            <a:r>
              <a:rPr sz="2200" b="1" i="0">
                <a:solidFill>
                  <a:srgbClr val="E9F2F4"/>
                </a:solidFill>
                <a:latin typeface="Segoe UI"/>
              </a:rPr>
              <a:t>Sixteen open P0s. These are the eight you would have found.</a:t>
            </a:r>
          </a:p>
        </p:txBody>
      </p:sp>
      <p:sp>
        <p:nvSpPr>
          <p:cNvPr id="50" name="Rounded Rectangle 49"/>
          <p:cNvSpPr/>
          <p:nvPr/>
        </p:nvSpPr>
        <p:spPr>
          <a:xfrm>
            <a:off x="7360920" y="3296412"/>
            <a:ext cx="4169663" cy="1234440"/>
          </a:xfrm>
          <a:prstGeom prst="roundRect">
            <a:avLst>
              <a:gd name="adj" fmla="val 4500"/>
            </a:avLst>
          </a:prstGeom>
          <a:solidFill>
            <a:srgbClr val="0C2F2D"/>
          </a:solidFill>
          <a:ln w="9525">
            <a:solidFill>
              <a:srgbClr val="3EDC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1" name="TextBox 50"/>
          <p:cNvSpPr txBox="1"/>
          <p:nvPr/>
        </p:nvSpPr>
        <p:spPr>
          <a:xfrm>
            <a:off x="7516368" y="3433571"/>
            <a:ext cx="3858768" cy="960120"/>
          </a:xfrm>
          <a:prstGeom prst="rect">
            <a:avLst/>
          </a:prstGeom>
          <a:noFill/>
        </p:spPr>
        <p:txBody>
          <a:bodyPr wrap="square" anchor="t" lIns="0" rIns="0" tIns="0" bIns="0">
            <a:spAutoFit/>
          </a:bodyPr>
          <a:lstStyle/>
          <a:p>
            <a:pPr>
              <a:lnSpc>
                <a:spcPct val="140000"/>
              </a:lnSpc>
              <a:spcBef>
                <a:spcPts val="0"/>
              </a:spcBef>
              <a:spcAft>
                <a:spcPts val="0"/>
              </a:spcAft>
            </a:pPr>
            <a:r>
              <a:rPr sz="1200" b="0" i="0">
                <a:solidFill>
                  <a:srgbClr val="E9F2F4"/>
                </a:solidFill>
                <a:latin typeface="Segoe UI"/>
              </a:rPr>
              <a:t>You will find every one of these in a diligence pass. We would rather you heard them from us, in the room, than from a consultant in week six.</a:t>
            </a:r>
          </a:p>
        </p:txBody>
      </p:sp>
      <p:sp>
        <p:nvSpPr>
          <p:cNvPr id="52" name="TextBox 51"/>
          <p:cNvSpPr txBox="1"/>
          <p:nvPr/>
        </p:nvSpPr>
        <p:spPr>
          <a:xfrm>
            <a:off x="7360920" y="4713732"/>
            <a:ext cx="4169663" cy="1188720"/>
          </a:xfrm>
          <a:prstGeom prst="rect">
            <a:avLst/>
          </a:prstGeom>
          <a:noFill/>
        </p:spPr>
        <p:txBody>
          <a:bodyPr wrap="square" anchor="t" lIns="0" rIns="0" tIns="0" bIns="0">
            <a:spAutoFit/>
          </a:bodyPr>
          <a:lstStyle/>
          <a:p>
            <a:pPr>
              <a:lnSpc>
                <a:spcPct val="145000"/>
              </a:lnSpc>
              <a:spcBef>
                <a:spcPts val="0"/>
              </a:spcBef>
              <a:spcAft>
                <a:spcPts val="800"/>
              </a:spcAft>
            </a:pPr>
            <a:r>
              <a:rPr sz="1100" b="0" i="0">
                <a:solidFill>
                  <a:srgbClr val="7A939E"/>
                </a:solidFill>
                <a:latin typeface="Segoe UI"/>
              </a:rPr>
              <a:t>The trust foundations underneath — audit chain, tenant isolation, provenance, durable jobs — are built and tested. What is missing is the enterprise </a:t>
            </a:r>
            <a:r>
              <a:rPr sz="1100" b="0" i="1">
                <a:solidFill>
                  <a:srgbClr val="A8C0C8"/>
                </a:solidFill>
                <a:latin typeface="Segoe UI"/>
              </a:rPr>
              <a:t>operations</a:t>
            </a:r>
            <a:r>
              <a:rPr sz="1100" b="0" i="0">
                <a:solidFill>
                  <a:srgbClr val="7A939E"/>
                </a:solidFill>
                <a:latin typeface="Segoe UI"/>
              </a:rPr>
              <a:t> layer around them. A known, bounded, unglamorous list.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400"/>
                                        <p:tgtEl>
                                          <p:spTgt spid="1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400"/>
                                        <p:tgtEl>
                                          <p:spTgt spid="1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2"/>
                                        </p:tgtEl>
                                        <p:attrNameLst>
                                          <p:attrName>style.visibility</p:attrName>
                                        </p:attrNameLst>
                                      </p:cBhvr>
                                      <p:to>
                                        <p:strVal val="visible"/>
                                      </p:to>
                                    </p:set>
                                    <p:animEffect transition="in" filter="fade">
                                      <p:cBhvr>
                                        <p:cTn id="16" dur="400"/>
                                        <p:tgtEl>
                                          <p:spTgt spid="12"/>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fade">
                                      <p:cBhvr>
                                        <p:cTn id="22" dur="400"/>
                                        <p:tgtEl>
                                          <p:spTgt spid="14"/>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400"/>
                                        <p:tgtEl>
                                          <p:spTgt spid="15"/>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6"/>
                                        </p:tgtEl>
                                        <p:attrNameLst>
                                          <p:attrName>style.visibility</p:attrName>
                                        </p:attrNameLst>
                                      </p:cBhvr>
                                      <p:to>
                                        <p:strVal val="visible"/>
                                      </p:to>
                                    </p:set>
                                    <p:animEffect transition="in" filter="fade">
                                      <p:cBhvr>
                                        <p:cTn id="28" dur="400"/>
                                        <p:tgtEl>
                                          <p:spTgt spid="16"/>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400"/>
                                        <p:tgtEl>
                                          <p:spTgt spid="17"/>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4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9"/>
                                        </p:tgtEl>
                                        <p:attrNameLst>
                                          <p:attrName>style.visibility</p:attrName>
                                        </p:attrNameLst>
                                      </p:cBhvr>
                                      <p:to>
                                        <p:strVal val="visible"/>
                                      </p:to>
                                    </p:set>
                                    <p:animEffect transition="in" filter="fade">
                                      <p:cBhvr>
                                        <p:cTn id="37" dur="400"/>
                                        <p:tgtEl>
                                          <p:spTgt spid="19"/>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fade">
                                      <p:cBhvr>
                                        <p:cTn id="40" dur="400"/>
                                        <p:tgtEl>
                                          <p:spTgt spid="20"/>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animEffect transition="in" filter="fade">
                                      <p:cBhvr>
                                        <p:cTn id="43" dur="400"/>
                                        <p:tgtEl>
                                          <p:spTgt spid="21"/>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2"/>
                                        </p:tgtEl>
                                        <p:attrNameLst>
                                          <p:attrName>style.visibility</p:attrName>
                                        </p:attrNameLst>
                                      </p:cBhvr>
                                      <p:to>
                                        <p:strVal val="visible"/>
                                      </p:to>
                                    </p:set>
                                    <p:animEffect transition="in" filter="fade">
                                      <p:cBhvr>
                                        <p:cTn id="46" dur="400"/>
                                        <p:tgtEl>
                                          <p:spTgt spid="22"/>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400"/>
                                        <p:tgtEl>
                                          <p:spTgt spid="2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400"/>
                                        <p:tgtEl>
                                          <p:spTgt spid="2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400"/>
                                        <p:tgtEl>
                                          <p:spTgt spid="2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400"/>
                                        <p:tgtEl>
                                          <p:spTgt spid="26"/>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400"/>
                                        <p:tgtEl>
                                          <p:spTgt spid="27"/>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8"/>
                                        </p:tgtEl>
                                        <p:attrNameLst>
                                          <p:attrName>style.visibility</p:attrName>
                                        </p:attrNameLst>
                                      </p:cBhvr>
                                      <p:to>
                                        <p:strVal val="visible"/>
                                      </p:to>
                                    </p:set>
                                    <p:animEffect transition="in" filter="fade">
                                      <p:cBhvr>
                                        <p:cTn id="64" dur="400"/>
                                        <p:tgtEl>
                                          <p:spTgt spid="28"/>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9"/>
                                        </p:tgtEl>
                                        <p:attrNameLst>
                                          <p:attrName>style.visibility</p:attrName>
                                        </p:attrNameLst>
                                      </p:cBhvr>
                                      <p:to>
                                        <p:strVal val="visible"/>
                                      </p:to>
                                    </p:set>
                                    <p:animEffect transition="in" filter="fade">
                                      <p:cBhvr>
                                        <p:cTn id="67" dur="400"/>
                                        <p:tgtEl>
                                          <p:spTgt spid="29"/>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30"/>
                                        </p:tgtEl>
                                        <p:attrNameLst>
                                          <p:attrName>style.visibility</p:attrName>
                                        </p:attrNameLst>
                                      </p:cBhvr>
                                      <p:to>
                                        <p:strVal val="visible"/>
                                      </p:to>
                                    </p:set>
                                    <p:animEffect transition="in" filter="fade">
                                      <p:cBhvr>
                                        <p:cTn id="70" dur="400"/>
                                        <p:tgtEl>
                                          <p:spTgt spid="30"/>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31"/>
                                        </p:tgtEl>
                                        <p:attrNameLst>
                                          <p:attrName>style.visibility</p:attrName>
                                        </p:attrNameLst>
                                      </p:cBhvr>
                                      <p:to>
                                        <p:strVal val="visible"/>
                                      </p:to>
                                    </p:set>
                                    <p:animEffect transition="in" filter="fade">
                                      <p:cBhvr>
                                        <p:cTn id="73" dur="400"/>
                                        <p:tgtEl>
                                          <p:spTgt spid="31"/>
                                        </p:tgtEl>
                                      </p:cBhvr>
                                    </p:animEffect>
                                  </p:childTnLst>
                                </p:cTn>
                              </p:par>
                              <p:par>
                                <p:cTn id="74" presetID="10" presetClass="entr" presetSubtype="0" fill="hold" grpId="0" nodeType="withEffect">
                                  <p:stCondLst>
                                    <p:cond delay="0"/>
                                  </p:stCondLst>
                                  <p:childTnLst>
                                    <p:set>
                                      <p:cBhvr>
                                        <p:cTn id="75" dur="1" fill="hold">
                                          <p:stCondLst>
                                            <p:cond delay="0"/>
                                          </p:stCondLst>
                                        </p:cTn>
                                        <p:tgtEl>
                                          <p:spTgt spid="32"/>
                                        </p:tgtEl>
                                        <p:attrNameLst>
                                          <p:attrName>style.visibility</p:attrName>
                                        </p:attrNameLst>
                                      </p:cBhvr>
                                      <p:to>
                                        <p:strVal val="visible"/>
                                      </p:to>
                                    </p:set>
                                    <p:animEffect transition="in" filter="fade">
                                      <p:cBhvr>
                                        <p:cTn id="76" dur="400"/>
                                        <p:tgtEl>
                                          <p:spTgt spid="32"/>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33"/>
                                        </p:tgtEl>
                                        <p:attrNameLst>
                                          <p:attrName>style.visibility</p:attrName>
                                        </p:attrNameLst>
                                      </p:cBhvr>
                                      <p:to>
                                        <p:strVal val="visible"/>
                                      </p:to>
                                    </p:set>
                                    <p:animEffect transition="in" filter="fade">
                                      <p:cBhvr>
                                        <p:cTn id="79" dur="400"/>
                                        <p:tgtEl>
                                          <p:spTgt spid="33"/>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4"/>
                                        </p:tgtEl>
                                        <p:attrNameLst>
                                          <p:attrName>style.visibility</p:attrName>
                                        </p:attrNameLst>
                                      </p:cBhvr>
                                      <p:to>
                                        <p:strVal val="visible"/>
                                      </p:to>
                                    </p:set>
                                    <p:animEffect transition="in" filter="fade">
                                      <p:cBhvr>
                                        <p:cTn id="82" dur="400"/>
                                        <p:tgtEl>
                                          <p:spTgt spid="34"/>
                                        </p:tgtEl>
                                      </p:cBhvr>
                                    </p:animEffect>
                                  </p:childTnLst>
                                </p:cTn>
                              </p:par>
                              <p:par>
                                <p:cTn id="83" presetID="10" presetClass="entr" presetSubtype="0" fill="hold" grpId="0" nodeType="withEffect">
                                  <p:stCondLst>
                                    <p:cond delay="0"/>
                                  </p:stCondLst>
                                  <p:childTnLst>
                                    <p:set>
                                      <p:cBhvr>
                                        <p:cTn id="84" dur="1" fill="hold">
                                          <p:stCondLst>
                                            <p:cond delay="0"/>
                                          </p:stCondLst>
                                        </p:cTn>
                                        <p:tgtEl>
                                          <p:spTgt spid="35"/>
                                        </p:tgtEl>
                                        <p:attrNameLst>
                                          <p:attrName>style.visibility</p:attrName>
                                        </p:attrNameLst>
                                      </p:cBhvr>
                                      <p:to>
                                        <p:strVal val="visible"/>
                                      </p:to>
                                    </p:set>
                                    <p:animEffect transition="in" filter="fade">
                                      <p:cBhvr>
                                        <p:cTn id="85" dur="400"/>
                                        <p:tgtEl>
                                          <p:spTgt spid="35"/>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6"/>
                                        </p:tgtEl>
                                        <p:attrNameLst>
                                          <p:attrName>style.visibility</p:attrName>
                                        </p:attrNameLst>
                                      </p:cBhvr>
                                      <p:to>
                                        <p:strVal val="visible"/>
                                      </p:to>
                                    </p:set>
                                    <p:animEffect transition="in" filter="fade">
                                      <p:cBhvr>
                                        <p:cTn id="88" dur="400"/>
                                        <p:tgtEl>
                                          <p:spTgt spid="36"/>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7"/>
                                        </p:tgtEl>
                                        <p:attrNameLst>
                                          <p:attrName>style.visibility</p:attrName>
                                        </p:attrNameLst>
                                      </p:cBhvr>
                                      <p:to>
                                        <p:strVal val="visible"/>
                                      </p:to>
                                    </p:set>
                                    <p:animEffect transition="in" filter="fade">
                                      <p:cBhvr>
                                        <p:cTn id="91" dur="400"/>
                                        <p:tgtEl>
                                          <p:spTgt spid="37"/>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8"/>
                                        </p:tgtEl>
                                        <p:attrNameLst>
                                          <p:attrName>style.visibility</p:attrName>
                                        </p:attrNameLst>
                                      </p:cBhvr>
                                      <p:to>
                                        <p:strVal val="visible"/>
                                      </p:to>
                                    </p:set>
                                    <p:animEffect transition="in" filter="fade">
                                      <p:cBhvr>
                                        <p:cTn id="94" dur="400"/>
                                        <p:tgtEl>
                                          <p:spTgt spid="38"/>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39"/>
                                        </p:tgtEl>
                                        <p:attrNameLst>
                                          <p:attrName>style.visibility</p:attrName>
                                        </p:attrNameLst>
                                      </p:cBhvr>
                                      <p:to>
                                        <p:strVal val="visible"/>
                                      </p:to>
                                    </p:set>
                                    <p:animEffect transition="in" filter="fade">
                                      <p:cBhvr>
                                        <p:cTn id="97" dur="400"/>
                                        <p:tgtEl>
                                          <p:spTgt spid="39"/>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0"/>
                                        </p:tgtEl>
                                        <p:attrNameLst>
                                          <p:attrName>style.visibility</p:attrName>
                                        </p:attrNameLst>
                                      </p:cBhvr>
                                      <p:to>
                                        <p:strVal val="visible"/>
                                      </p:to>
                                    </p:set>
                                    <p:animEffect transition="in" filter="fade">
                                      <p:cBhvr>
                                        <p:cTn id="100" dur="400"/>
                                        <p:tgtEl>
                                          <p:spTgt spid="40"/>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1"/>
                                        </p:tgtEl>
                                        <p:attrNameLst>
                                          <p:attrName>style.visibility</p:attrName>
                                        </p:attrNameLst>
                                      </p:cBhvr>
                                      <p:to>
                                        <p:strVal val="visible"/>
                                      </p:to>
                                    </p:set>
                                    <p:animEffect transition="in" filter="fade">
                                      <p:cBhvr>
                                        <p:cTn id="103" dur="400"/>
                                        <p:tgtEl>
                                          <p:spTgt spid="41"/>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2"/>
                                        </p:tgtEl>
                                        <p:attrNameLst>
                                          <p:attrName>style.visibility</p:attrName>
                                        </p:attrNameLst>
                                      </p:cBhvr>
                                      <p:to>
                                        <p:strVal val="visible"/>
                                      </p:to>
                                    </p:set>
                                    <p:animEffect transition="in" filter="fade">
                                      <p:cBhvr>
                                        <p:cTn id="106" dur="400"/>
                                        <p:tgtEl>
                                          <p:spTgt spid="42"/>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43"/>
                                        </p:tgtEl>
                                        <p:attrNameLst>
                                          <p:attrName>style.visibility</p:attrName>
                                        </p:attrNameLst>
                                      </p:cBhvr>
                                      <p:to>
                                        <p:strVal val="visible"/>
                                      </p:to>
                                    </p:set>
                                    <p:animEffect transition="in" filter="fade">
                                      <p:cBhvr>
                                        <p:cTn id="109" dur="400"/>
                                        <p:tgtEl>
                                          <p:spTgt spid="43"/>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44"/>
                                        </p:tgtEl>
                                        <p:attrNameLst>
                                          <p:attrName>style.visibility</p:attrName>
                                        </p:attrNameLst>
                                      </p:cBhvr>
                                      <p:to>
                                        <p:strVal val="visible"/>
                                      </p:to>
                                    </p:set>
                                    <p:animEffect transition="in" filter="fade">
                                      <p:cBhvr>
                                        <p:cTn id="112" dur="400"/>
                                        <p:tgtEl>
                                          <p:spTgt spid="44"/>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5"/>
                                        </p:tgtEl>
                                        <p:attrNameLst>
                                          <p:attrName>style.visibility</p:attrName>
                                        </p:attrNameLst>
                                      </p:cBhvr>
                                      <p:to>
                                        <p:strVal val="visible"/>
                                      </p:to>
                                    </p:set>
                                    <p:animEffect transition="in" filter="fade">
                                      <p:cBhvr>
                                        <p:cTn id="115" dur="400"/>
                                        <p:tgtEl>
                                          <p:spTgt spid="45"/>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6"/>
                                        </p:tgtEl>
                                        <p:attrNameLst>
                                          <p:attrName>style.visibility</p:attrName>
                                        </p:attrNameLst>
                                      </p:cBhvr>
                                      <p:to>
                                        <p:strVal val="visible"/>
                                      </p:to>
                                    </p:set>
                                    <p:animEffect transition="in" filter="fade">
                                      <p:cBhvr>
                                        <p:cTn id="118" dur="400"/>
                                        <p:tgtEl>
                                          <p:spTgt spid="46"/>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7"/>
                                        </p:tgtEl>
                                        <p:attrNameLst>
                                          <p:attrName>style.visibility</p:attrName>
                                        </p:attrNameLst>
                                      </p:cBhvr>
                                      <p:to>
                                        <p:strVal val="visible"/>
                                      </p:to>
                                    </p:set>
                                    <p:animEffect transition="in" filter="fade">
                                      <p:cBhvr>
                                        <p:cTn id="121" dur="400"/>
                                        <p:tgtEl>
                                          <p:spTgt spid="47"/>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8"/>
                                        </p:tgtEl>
                                        <p:attrNameLst>
                                          <p:attrName>style.visibility</p:attrName>
                                        </p:attrNameLst>
                                      </p:cBhvr>
                                      <p:to>
                                        <p:strVal val="visible"/>
                                      </p:to>
                                    </p:set>
                                    <p:animEffect transition="in" filter="fade">
                                      <p:cBhvr>
                                        <p:cTn id="124" dur="400"/>
                                        <p:tgtEl>
                                          <p:spTgt spid="48"/>
                                        </p:tgtEl>
                                      </p:cBhvr>
                                    </p:animEffect>
                                  </p:childTnLst>
                                </p:cTn>
                              </p:par>
                            </p:childTnLst>
                          </p:cTn>
                        </p:par>
                      </p:childTnLst>
                    </p:cTn>
                  </p:par>
                  <p:par>
                    <p:cTn id="125" fill="hold">
                      <p:stCondLst>
                        <p:cond delay="indefinite"/>
                      </p:stCondLst>
                      <p:childTnLst>
                        <p:par>
                          <p:cTn id="126" fill="hold">
                            <p:stCondLst>
                              <p:cond delay="0"/>
                            </p:stCondLst>
                            <p:childTnLst>
                              <p:par>
                                <p:cTn id="127" presetID="10" presetClass="entr" presetSubtype="0" fill="hold" grpId="0" nodeType="clickEffect">
                                  <p:stCondLst>
                                    <p:cond delay="0"/>
                                  </p:stCondLst>
                                  <p:childTnLst>
                                    <p:set>
                                      <p:cBhvr>
                                        <p:cTn id="128" dur="1" fill="hold">
                                          <p:stCondLst>
                                            <p:cond delay="0"/>
                                          </p:stCondLst>
                                        </p:cTn>
                                        <p:tgtEl>
                                          <p:spTgt spid="50"/>
                                        </p:tgtEl>
                                        <p:attrNameLst>
                                          <p:attrName>style.visibility</p:attrName>
                                        </p:attrNameLst>
                                      </p:cBhvr>
                                      <p:to>
                                        <p:strVal val="visible"/>
                                      </p:to>
                                    </p:set>
                                    <p:animEffect transition="in" filter="fade">
                                      <p:cBhvr>
                                        <p:cTn id="129" dur="400"/>
                                        <p:tgtEl>
                                          <p:spTgt spid="50"/>
                                        </p:tgtEl>
                                      </p:cBhvr>
                                    </p:animEffect>
                                  </p:childTnLst>
                                </p:cTn>
                              </p:par>
                            </p:childTnLst>
                          </p:cTn>
                        </p:par>
                      </p:childTnLst>
                    </p:cTn>
                  </p:par>
                  <p:par>
                    <p:cTn id="130" fill="hold">
                      <p:stCondLst>
                        <p:cond delay="indefinite"/>
                      </p:stCondLst>
                      <p:childTnLst>
                        <p:par>
                          <p:cTn id="131" fill="hold">
                            <p:stCondLst>
                              <p:cond delay="0"/>
                            </p:stCondLst>
                            <p:childTnLst>
                              <p:par>
                                <p:cTn id="132" presetID="10" presetClass="entr" presetSubtype="0" fill="hold" grpId="0" nodeType="clickEffect">
                                  <p:stCondLst>
                                    <p:cond delay="0"/>
                                  </p:stCondLst>
                                  <p:childTnLst>
                                    <p:set>
                                      <p:cBhvr>
                                        <p:cTn id="133" dur="1" fill="hold">
                                          <p:stCondLst>
                                            <p:cond delay="0"/>
                                          </p:stCondLst>
                                        </p:cTn>
                                        <p:tgtEl>
                                          <p:spTgt spid="52"/>
                                        </p:tgtEl>
                                        <p:attrNameLst>
                                          <p:attrName>style.visibility</p:attrName>
                                        </p:attrNameLst>
                                      </p:cBhvr>
                                      <p:to>
                                        <p:strVal val="visible"/>
                                      </p:to>
                                    </p:set>
                                    <p:animEffect transition="in" filter="fade">
                                      <p:cBhvr>
                                        <p:cTn id="134"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THE ASK  </a:t>
            </a:r>
            <a:r>
              <a:rPr sz="900" b="1" i="0" spc="140">
                <a:solidFill>
                  <a:srgbClr val="3EDCC2"/>
                </a:solidFill>
                <a:latin typeface="Consolas"/>
              </a:rPr>
              <a:t>27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385316"/>
            <a:ext cx="8686800" cy="1463040"/>
          </a:xfrm>
          <a:prstGeom prst="rect">
            <a:avLst/>
          </a:prstGeom>
          <a:noFill/>
        </p:spPr>
        <p:txBody>
          <a:bodyPr wrap="square" anchor="t" lIns="0" rIns="0" tIns="0" bIns="0">
            <a:spAutoFit/>
          </a:bodyPr>
          <a:lstStyle/>
          <a:p>
            <a:pPr>
              <a:lnSpc>
                <a:spcPct val="112000"/>
              </a:lnSpc>
              <a:spcBef>
                <a:spcPts val="0"/>
              </a:spcBef>
              <a:spcAft>
                <a:spcPts val="0"/>
              </a:spcAft>
            </a:pPr>
            <a:r>
              <a:rPr sz="3000" b="1" i="0">
                <a:solidFill>
                  <a:srgbClr val="E9F2F4"/>
                </a:solidFill>
                <a:latin typeface="Segoe UI"/>
              </a:rPr>
              <a:t>Three things, six weeks, one live tender.</a:t>
            </a:r>
          </a:p>
        </p:txBody>
      </p:sp>
      <p:sp>
        <p:nvSpPr>
          <p:cNvPr id="6" name="TextBox 5"/>
          <p:cNvSpPr txBox="1"/>
          <p:nvPr/>
        </p:nvSpPr>
        <p:spPr>
          <a:xfrm>
            <a:off x="658368" y="2418588"/>
            <a:ext cx="365760" cy="274320"/>
          </a:xfrm>
          <a:prstGeom prst="rect">
            <a:avLst/>
          </a:prstGeom>
          <a:noFill/>
        </p:spPr>
        <p:txBody>
          <a:bodyPr wrap="square" anchor="t" lIns="0" rIns="0" tIns="0" bIns="0">
            <a:spAutoFit/>
          </a:bodyPr>
          <a:lstStyle/>
          <a:p>
            <a:pPr>
              <a:spcBef>
                <a:spcPts val="0"/>
              </a:spcBef>
              <a:spcAft>
                <a:spcPts val="0"/>
              </a:spcAft>
            </a:pPr>
            <a:r>
              <a:rPr sz="900" b="1" i="0" spc="100">
                <a:solidFill>
                  <a:srgbClr val="3EDCC2"/>
                </a:solidFill>
                <a:latin typeface="Consolas"/>
              </a:rPr>
              <a:t>01</a:t>
            </a:r>
          </a:p>
        </p:txBody>
      </p:sp>
      <p:sp>
        <p:nvSpPr>
          <p:cNvPr id="7" name="TextBox 6"/>
          <p:cNvSpPr txBox="1"/>
          <p:nvPr/>
        </p:nvSpPr>
        <p:spPr>
          <a:xfrm>
            <a:off x="1078992" y="2382012"/>
            <a:ext cx="7863840" cy="777240"/>
          </a:xfrm>
          <a:prstGeom prst="rect">
            <a:avLst/>
          </a:prstGeom>
          <a:noFill/>
        </p:spPr>
        <p:txBody>
          <a:bodyPr wrap="square" anchor="t" lIns="0" rIns="0" tIns="0" bIns="0">
            <a:spAutoFit/>
          </a:bodyPr>
          <a:lstStyle/>
          <a:p>
            <a:pPr>
              <a:lnSpc>
                <a:spcPct val="145000"/>
              </a:lnSpc>
              <a:spcBef>
                <a:spcPts val="0"/>
              </a:spcBef>
              <a:spcAft>
                <a:spcPts val="0"/>
              </a:spcAft>
            </a:pPr>
            <a:r>
              <a:rPr sz="1350" b="1" i="0">
                <a:solidFill>
                  <a:srgbClr val="E9F2F4"/>
                </a:solidFill>
                <a:latin typeface="Segoe UI"/>
              </a:rPr>
              <a:t>One real bid, end to end.</a:t>
            </a:r>
            <a:r>
              <a:rPr sz="1350" b="0" i="0">
                <a:solidFill>
                  <a:srgbClr val="A8C0C8"/>
                </a:solidFill>
                <a:latin typeface="Segoe UI"/>
              </a:rPr>
              <a:t> One project, one estimating team, six weeks — measured against a bid you have already priced, so the comparison is yours and not ours.</a:t>
            </a:r>
          </a:p>
        </p:txBody>
      </p:sp>
      <p:sp>
        <p:nvSpPr>
          <p:cNvPr id="8" name="TextBox 7"/>
          <p:cNvSpPr txBox="1"/>
          <p:nvPr/>
        </p:nvSpPr>
        <p:spPr>
          <a:xfrm>
            <a:off x="658368" y="3259836"/>
            <a:ext cx="365760" cy="274320"/>
          </a:xfrm>
          <a:prstGeom prst="rect">
            <a:avLst/>
          </a:prstGeom>
          <a:noFill/>
        </p:spPr>
        <p:txBody>
          <a:bodyPr wrap="square" anchor="t" lIns="0" rIns="0" tIns="0" bIns="0">
            <a:spAutoFit/>
          </a:bodyPr>
          <a:lstStyle/>
          <a:p>
            <a:pPr>
              <a:spcBef>
                <a:spcPts val="0"/>
              </a:spcBef>
              <a:spcAft>
                <a:spcPts val="0"/>
              </a:spcAft>
            </a:pPr>
            <a:r>
              <a:rPr sz="900" b="1" i="0" spc="100">
                <a:solidFill>
                  <a:srgbClr val="3EDCC2"/>
                </a:solidFill>
                <a:latin typeface="Consolas"/>
              </a:rPr>
              <a:t>02</a:t>
            </a:r>
          </a:p>
        </p:txBody>
      </p:sp>
      <p:sp>
        <p:nvSpPr>
          <p:cNvPr id="9" name="TextBox 8"/>
          <p:cNvSpPr txBox="1"/>
          <p:nvPr/>
        </p:nvSpPr>
        <p:spPr>
          <a:xfrm>
            <a:off x="1078992" y="3223260"/>
            <a:ext cx="7863840" cy="777240"/>
          </a:xfrm>
          <a:prstGeom prst="rect">
            <a:avLst/>
          </a:prstGeom>
          <a:noFill/>
        </p:spPr>
        <p:txBody>
          <a:bodyPr wrap="square" anchor="t" lIns="0" rIns="0" tIns="0" bIns="0">
            <a:spAutoFit/>
          </a:bodyPr>
          <a:lstStyle/>
          <a:p>
            <a:pPr>
              <a:lnSpc>
                <a:spcPct val="145000"/>
              </a:lnSpc>
              <a:spcBef>
                <a:spcPts val="0"/>
              </a:spcBef>
              <a:spcAft>
                <a:spcPts val="0"/>
              </a:spcAft>
            </a:pPr>
            <a:r>
              <a:rPr sz="1350" b="1" i="0">
                <a:solidFill>
                  <a:srgbClr val="E9F2F4"/>
                </a:solidFill>
                <a:latin typeface="Segoe UI"/>
              </a:rPr>
              <a:t>A golden set.</a:t>
            </a:r>
            <a:r>
              <a:rPr sz="1350" b="0" i="0">
                <a:solidFill>
                  <a:srgbClr val="A8C0C8"/>
                </a:solidFill>
                <a:latin typeface="Segoe UI"/>
              </a:rPr>
              <a:t> One design set paired with its final priced bill, which we hold as a regression fixture. Accuracy stops being a claim the moment it has a fixture behind it.</a:t>
            </a:r>
          </a:p>
        </p:txBody>
      </p:sp>
      <p:sp>
        <p:nvSpPr>
          <p:cNvPr id="10" name="TextBox 9"/>
          <p:cNvSpPr txBox="1"/>
          <p:nvPr/>
        </p:nvSpPr>
        <p:spPr>
          <a:xfrm>
            <a:off x="658368" y="4101084"/>
            <a:ext cx="365760" cy="274320"/>
          </a:xfrm>
          <a:prstGeom prst="rect">
            <a:avLst/>
          </a:prstGeom>
          <a:noFill/>
        </p:spPr>
        <p:txBody>
          <a:bodyPr wrap="square" anchor="t" lIns="0" rIns="0" tIns="0" bIns="0">
            <a:spAutoFit/>
          </a:bodyPr>
          <a:lstStyle/>
          <a:p>
            <a:pPr>
              <a:spcBef>
                <a:spcPts val="0"/>
              </a:spcBef>
              <a:spcAft>
                <a:spcPts val="0"/>
              </a:spcAft>
            </a:pPr>
            <a:r>
              <a:rPr sz="900" b="1" i="0" spc="100">
                <a:solidFill>
                  <a:srgbClr val="3EDCC2"/>
                </a:solidFill>
                <a:latin typeface="Consolas"/>
              </a:rPr>
              <a:t>03</a:t>
            </a:r>
          </a:p>
        </p:txBody>
      </p:sp>
      <p:sp>
        <p:nvSpPr>
          <p:cNvPr id="11" name="TextBox 10"/>
          <p:cNvSpPr txBox="1"/>
          <p:nvPr/>
        </p:nvSpPr>
        <p:spPr>
          <a:xfrm>
            <a:off x="1078992" y="4064508"/>
            <a:ext cx="7863840" cy="777240"/>
          </a:xfrm>
          <a:prstGeom prst="rect">
            <a:avLst/>
          </a:prstGeom>
          <a:noFill/>
        </p:spPr>
        <p:txBody>
          <a:bodyPr wrap="square" anchor="t" lIns="0" rIns="0" tIns="0" bIns="0">
            <a:spAutoFit/>
          </a:bodyPr>
          <a:lstStyle/>
          <a:p>
            <a:pPr>
              <a:lnSpc>
                <a:spcPct val="145000"/>
              </a:lnSpc>
              <a:spcBef>
                <a:spcPts val="0"/>
              </a:spcBef>
              <a:spcAft>
                <a:spcPts val="0"/>
              </a:spcAft>
            </a:pPr>
            <a:r>
              <a:rPr sz="1350" b="1" i="0">
                <a:solidFill>
                  <a:srgbClr val="E9F2F4"/>
                </a:solidFill>
                <a:latin typeface="Segoe UI"/>
              </a:rPr>
              <a:t>A named security counterpart.</a:t>
            </a:r>
            <a:r>
              <a:rPr sz="1350" b="0" i="0">
                <a:solidFill>
                  <a:srgbClr val="A8C0C8"/>
                </a:solidFill>
                <a:latin typeface="Segoe UI"/>
              </a:rPr>
              <a:t> Someone on your side who closes that P0 list with us inside the same six weeks — SSO, MFA, CI, staging, backups.</a:t>
            </a:r>
          </a:p>
        </p:txBody>
      </p:sp>
      <p:sp>
        <p:nvSpPr>
          <p:cNvPr id="12" name="Rounded Rectangle 11"/>
          <p:cNvSpPr/>
          <p:nvPr/>
        </p:nvSpPr>
        <p:spPr>
          <a:xfrm>
            <a:off x="658368" y="5070348"/>
            <a:ext cx="8284464" cy="914400"/>
          </a:xfrm>
          <a:prstGeom prst="roundRect">
            <a:avLst>
              <a:gd name="adj" fmla="val 4500"/>
            </a:avLst>
          </a:prstGeom>
          <a:solidFill>
            <a:srgbClr val="0B1D25"/>
          </a:solidFill>
          <a:ln w="9525">
            <a:solidFill>
              <a:srgbClr val="1B333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13816" y="5207508"/>
            <a:ext cx="7973568" cy="640080"/>
          </a:xfrm>
          <a:prstGeom prst="rect">
            <a:avLst/>
          </a:prstGeom>
          <a:noFill/>
        </p:spPr>
        <p:txBody>
          <a:bodyPr wrap="square" anchor="t" lIns="0" rIns="0" tIns="0" bIns="0">
            <a:spAutoFit/>
          </a:bodyPr>
          <a:lstStyle/>
          <a:p>
            <a:pPr>
              <a:spcBef>
                <a:spcPts val="0"/>
              </a:spcBef>
              <a:spcAft>
                <a:spcPts val="600"/>
              </a:spcAft>
            </a:pPr>
            <a:r>
              <a:rPr sz="800" b="0" i="0" spc="130">
                <a:solidFill>
                  <a:srgbClr val="7A939E"/>
                </a:solidFill>
                <a:latin typeface="Consolas"/>
              </a:rPr>
              <a:t>WHAT WE ARE NOT ASKING FOR</a:t>
            </a:r>
          </a:p>
          <a:p>
            <a:pPr>
              <a:lnSpc>
                <a:spcPct val="140000"/>
              </a:lnSpc>
              <a:spcBef>
                <a:spcPts val="0"/>
              </a:spcBef>
              <a:spcAft>
                <a:spcPts val="0"/>
              </a:spcAft>
            </a:pPr>
            <a:r>
              <a:rPr sz="1250" b="0" i="0">
                <a:solidFill>
                  <a:srgbClr val="E9F2F4"/>
                </a:solidFill>
                <a:latin typeface="Segoe UI"/>
              </a:rPr>
              <a:t>A migration. A system to be switched off. A commitment beyond the pilot. Or a decision today.</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4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4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0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00"/>
                                        <p:tgtEl>
                                          <p:spTgt spid="9"/>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7131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58368" y="457200"/>
            <a:ext cx="10874959" cy="219456"/>
          </a:xfrm>
          <a:prstGeom prst="rect">
            <a:avLst/>
          </a:prstGeom>
          <a:noFill/>
        </p:spPr>
        <p:txBody>
          <a:bodyPr wrap="square" anchor="t" lIns="0" rIns="0" tIns="0" bIns="0">
            <a:spAutoFit/>
          </a:bodyPr>
          <a:lstStyle/>
          <a:p>
            <a:pPr>
              <a:spcBef>
                <a:spcPts val="0"/>
              </a:spcBef>
              <a:spcAft>
                <a:spcPts val="0"/>
              </a:spcAft>
            </a:pPr>
            <a:r>
              <a:rPr sz="900" b="0" i="0" spc="140">
                <a:solidFill>
                  <a:srgbClr val="7A939E"/>
                </a:solidFill>
                <a:latin typeface="Consolas"/>
              </a:rPr>
              <a:t>CLOSE  </a:t>
            </a:r>
            <a:r>
              <a:rPr sz="900" b="1" i="0" spc="140">
                <a:solidFill>
                  <a:srgbClr val="3EDCC2"/>
                </a:solidFill>
                <a:latin typeface="Consolas"/>
              </a:rPr>
              <a:t>28  </a:t>
            </a:r>
          </a:p>
        </p:txBody>
      </p:sp>
      <p:sp>
        <p:nvSpPr>
          <p:cNvPr id="4" name="Rectangle 3"/>
          <p:cNvSpPr/>
          <p:nvPr/>
        </p:nvSpPr>
        <p:spPr>
          <a:xfrm>
            <a:off x="658368" y="640080"/>
            <a:ext cx="10874959" cy="9525"/>
          </a:xfrm>
          <a:prstGeom prst="rect">
            <a:avLst/>
          </a:prstGeom>
          <a:solidFill>
            <a:srgbClr val="1B33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 y="1536192"/>
            <a:ext cx="8046720" cy="822960"/>
          </a:xfrm>
          <a:prstGeom prst="rect">
            <a:avLst/>
          </a:prstGeom>
          <a:noFill/>
        </p:spPr>
        <p:txBody>
          <a:bodyPr wrap="square" anchor="t" lIns="0" rIns="0" tIns="0" bIns="0">
            <a:spAutoFit/>
          </a:bodyPr>
          <a:lstStyle/>
          <a:p>
            <a:pPr>
              <a:lnSpc>
                <a:spcPct val="145000"/>
              </a:lnSpc>
              <a:spcBef>
                <a:spcPts val="0"/>
              </a:spcBef>
              <a:spcAft>
                <a:spcPts val="800"/>
              </a:spcAft>
            </a:pPr>
            <a:r>
              <a:rPr sz="1700" b="0" i="0">
                <a:solidFill>
                  <a:srgbClr val="A8C0C8"/>
                </a:solidFill>
                <a:latin typeface="Segoe UI"/>
              </a:rPr>
              <a:t>Twenty minutes. From an empty project to a priced bill, a programme, a technical submission and a register of what is still outstanding.</a:t>
            </a:r>
          </a:p>
        </p:txBody>
      </p:sp>
      <p:sp>
        <p:nvSpPr>
          <p:cNvPr id="6" name="TextBox 5"/>
          <p:cNvSpPr txBox="1"/>
          <p:nvPr/>
        </p:nvSpPr>
        <p:spPr>
          <a:xfrm>
            <a:off x="658368" y="2633472"/>
            <a:ext cx="8595360" cy="1463040"/>
          </a:xfrm>
          <a:prstGeom prst="rect">
            <a:avLst/>
          </a:prstGeom>
          <a:noFill/>
        </p:spPr>
        <p:txBody>
          <a:bodyPr wrap="square" anchor="t" lIns="0" rIns="0" tIns="0" bIns="0">
            <a:spAutoFit/>
          </a:bodyPr>
          <a:lstStyle/>
          <a:p>
            <a:pPr>
              <a:lnSpc>
                <a:spcPct val="112000"/>
              </a:lnSpc>
              <a:spcBef>
                <a:spcPts val="0"/>
              </a:spcBef>
              <a:spcAft>
                <a:spcPts val="0"/>
              </a:spcAft>
            </a:pPr>
            <a:r>
              <a:rPr sz="3000" b="1" i="0">
                <a:solidFill>
                  <a:srgbClr val="E9F2F4"/>
                </a:solidFill>
                <a:latin typeface="Segoe UI"/>
              </a:rPr>
              <a:t>But the number of minutes was never the argument.</a:t>
            </a:r>
          </a:p>
        </p:txBody>
      </p:sp>
      <p:sp>
        <p:nvSpPr>
          <p:cNvPr id="7" name="Rectangle 6"/>
          <p:cNvSpPr/>
          <p:nvPr/>
        </p:nvSpPr>
        <p:spPr>
          <a:xfrm>
            <a:off x="658368" y="4005072"/>
            <a:ext cx="22860" cy="566928"/>
          </a:xfrm>
          <a:prstGeom prst="rect">
            <a:avLst/>
          </a:prstGeom>
          <a:solidFill>
            <a:srgbClr val="3EDCC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4005072"/>
            <a:ext cx="9180576" cy="914400"/>
          </a:xfrm>
          <a:prstGeom prst="rect">
            <a:avLst/>
          </a:prstGeom>
          <a:noFill/>
        </p:spPr>
        <p:txBody>
          <a:bodyPr wrap="square" anchor="t" lIns="0" rIns="0" tIns="0" bIns="0">
            <a:spAutoFit/>
          </a:bodyPr>
          <a:lstStyle/>
          <a:p>
            <a:pPr>
              <a:lnSpc>
                <a:spcPct val="140000"/>
              </a:lnSpc>
              <a:spcBef>
                <a:spcPts val="0"/>
              </a:spcBef>
              <a:spcAft>
                <a:spcPts val="0"/>
              </a:spcAft>
            </a:pPr>
            <a:r>
              <a:rPr sz="1900" b="0" i="1">
                <a:solidFill>
                  <a:srgbClr val="E9F2F4"/>
                </a:solidFill>
                <a:latin typeface="Georgia"/>
              </a:rPr>
              <a:t>Every number you saw today can name where it came from. A page of a tender, a layer of a drawing, or a person who typed it and signed for it.</a:t>
            </a:r>
          </a:p>
        </p:txBody>
      </p:sp>
      <p:sp>
        <p:nvSpPr>
          <p:cNvPr id="9" name="TextBox 8"/>
          <p:cNvSpPr txBox="1"/>
          <p:nvPr/>
        </p:nvSpPr>
        <p:spPr>
          <a:xfrm>
            <a:off x="804672" y="5285232"/>
            <a:ext cx="9326880" cy="548640"/>
          </a:xfrm>
          <a:prstGeom prst="rect">
            <a:avLst/>
          </a:prstGeom>
          <a:noFill/>
        </p:spPr>
        <p:txBody>
          <a:bodyPr wrap="square" anchor="t" lIns="0" rIns="0" tIns="0" bIns="0">
            <a:spAutoFit/>
          </a:bodyPr>
          <a:lstStyle/>
          <a:p>
            <a:pPr>
              <a:lnSpc>
                <a:spcPct val="140000"/>
              </a:lnSpc>
              <a:spcBef>
                <a:spcPts val="0"/>
              </a:spcBef>
              <a:spcAft>
                <a:spcPts val="0"/>
              </a:spcAft>
            </a:pPr>
            <a:r>
              <a:rPr sz="1900" b="0" i="1">
                <a:solidFill>
                  <a:srgbClr val="E9F2F4"/>
                </a:solidFill>
                <a:latin typeface="Georgia"/>
              </a:rPr>
              <a:t>That is the whole product. The rest is speed.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